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8" r:id="rId2"/>
    <p:sldId id="259" r:id="rId3"/>
    <p:sldId id="263" r:id="rId4"/>
    <p:sldId id="316" r:id="rId5"/>
    <p:sldId id="317" r:id="rId6"/>
    <p:sldId id="262" r:id="rId7"/>
    <p:sldId id="264" r:id="rId8"/>
    <p:sldId id="265" r:id="rId9"/>
    <p:sldId id="266" r:id="rId10"/>
    <p:sldId id="267" r:id="rId11"/>
    <p:sldId id="268" r:id="rId12"/>
    <p:sldId id="269" r:id="rId13"/>
    <p:sldId id="270" r:id="rId14"/>
    <p:sldId id="271" r:id="rId15"/>
    <p:sldId id="272" r:id="rId16"/>
    <p:sldId id="274" r:id="rId17"/>
    <p:sldId id="275"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3" r:id="rId32"/>
    <p:sldId id="294" r:id="rId33"/>
    <p:sldId id="295" r:id="rId34"/>
    <p:sldId id="296" r:id="rId35"/>
    <p:sldId id="297" r:id="rId36"/>
    <p:sldId id="298"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256" r:id="rId51"/>
    <p:sldId id="260" r:id="rId52"/>
    <p:sldId id="313" r:id="rId53"/>
    <p:sldId id="314" r:id="rId54"/>
    <p:sldId id="315" r:id="rId55"/>
    <p:sldId id="318"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Final</a:t>
            </a:r>
            <a:r>
              <a:rPr lang="en-US" baseline="0"/>
              <a:t> Cluster Centre</a:t>
            </a:r>
            <a:endParaRPr lang="en-US"/>
          </a:p>
        </c:rich>
      </c:tx>
      <c:layout/>
      <c:overlay val="0"/>
      <c:spPr>
        <a:noFill/>
        <a:ln>
          <a:noFill/>
        </a:ln>
        <a:effectLst/>
      </c:spPr>
    </c:title>
    <c:autoTitleDeleted val="0"/>
    <c:plotArea>
      <c:layout/>
      <c:barChart>
        <c:barDir val="col"/>
        <c:grouping val="clustered"/>
        <c:varyColors val="0"/>
        <c:ser>
          <c:idx val="0"/>
          <c:order val="0"/>
          <c:tx>
            <c:v>Cluster 1</c:v>
          </c:tx>
          <c:spPr>
            <a:solidFill>
              <a:schemeClr val="accent1"/>
            </a:solidFill>
            <a:ln>
              <a:noFill/>
            </a:ln>
            <a:effectLst/>
          </c:spPr>
          <c:invertIfNegative val="0"/>
          <c:cat>
            <c:strRef>
              <c:f>Sheet1!$A$4:$A$41</c:f>
              <c:strCache>
                <c:ptCount val="38"/>
                <c:pt idx="0">
                  <c:v>Alternatives Provided in Case of Flight Delay</c:v>
                </c:pt>
                <c:pt idx="1">
                  <c:v>Boarding Announcement and Procedure</c:v>
                </c:pt>
                <c:pt idx="2">
                  <c:v>Ease of Finding check-in Counter</c:v>
                </c:pt>
                <c:pt idx="3">
                  <c:v>Ease of Getting Ticket</c:v>
                </c:pt>
                <c:pt idx="4">
                  <c:v>Ease of Website Navigation at the time of Booking</c:v>
                </c:pt>
                <c:pt idx="5">
                  <c:v>Waiting times during Check-In</c:v>
                </c:pt>
                <c:pt idx="6">
                  <c:v>Cabin Crew Announcements</c:v>
                </c:pt>
                <c:pt idx="7">
                  <c:v>Cleanliness of Cabin</c:v>
                </c:pt>
                <c:pt idx="8">
                  <c:v>In-flight Entertainment</c:v>
                </c:pt>
                <c:pt idx="9">
                  <c:v>Leg room available on Seat</c:v>
                </c:pt>
                <c:pt idx="10">
                  <c:v>Food Serving Experience</c:v>
                </c:pt>
                <c:pt idx="11">
                  <c:v>Quantity of Food Given</c:v>
                </c:pt>
                <c:pt idx="12">
                  <c:v>Food and beverage Choices</c:v>
                </c:pt>
                <c:pt idx="13">
                  <c:v>Efficiency of Check in Staff</c:v>
                </c:pt>
                <c:pt idx="14">
                  <c:v>Friendliness of Staff</c:v>
                </c:pt>
                <c:pt idx="15">
                  <c:v>Grooming and Appearance of Staff</c:v>
                </c:pt>
                <c:pt idx="16">
                  <c:v>Network of destinations/Connectivity</c:v>
                </c:pt>
                <c:pt idx="17">
                  <c:v>Innovative marketing schemes like special pricing, holiday packages etc.</c:v>
                </c:pt>
                <c:pt idx="18">
                  <c:v>Seating Comfort</c:v>
                </c:pt>
                <c:pt idx="19">
                  <c:v>Smooth Takeoff/Landing</c:v>
                </c:pt>
                <c:pt idx="20">
                  <c:v>Special facilities of the Airlines for Children, the Elderly and the Handicapped</c:v>
                </c:pt>
                <c:pt idx="21">
                  <c:v>Staff Assistance at the time of Arrival</c:v>
                </c:pt>
                <c:pt idx="22">
                  <c:v>Staff Attitudes at the time of Check-In</c:v>
                </c:pt>
                <c:pt idx="23">
                  <c:v>Cleanliness of Check-in Counter</c:v>
                </c:pt>
                <c:pt idx="24">
                  <c:v>Cleanliness of Lounge</c:v>
                </c:pt>
                <c:pt idx="25">
                  <c:v>Cleanliness of Washrooms</c:v>
                </c:pt>
                <c:pt idx="26">
                  <c:v>Conditions of Aircraft Carrier</c:v>
                </c:pt>
                <c:pt idx="27">
                  <c:v>Internet / WIFI / Sky phone options during Flight </c:v>
                </c:pt>
                <c:pt idx="28">
                  <c:v>Lounge Comfort and Space</c:v>
                </c:pt>
                <c:pt idx="29">
                  <c:v>Luggage delivery times</c:v>
                </c:pt>
                <c:pt idx="30">
                  <c:v>Medical Facility available during Flight</c:v>
                </c:pt>
                <c:pt idx="31">
                  <c:v>Newspaper and Magazines service during Flight</c:v>
                </c:pt>
                <c:pt idx="32">
                  <c:v>Communication skills of Staff </c:v>
                </c:pt>
                <c:pt idx="33">
                  <c:v>Dissemination of Information in case of Delay of Flight</c:v>
                </c:pt>
                <c:pt idx="34">
                  <c:v>On-time Flights departure and arrivals</c:v>
                </c:pt>
                <c:pt idx="35">
                  <c:v>Personalized attention given to you</c:v>
                </c:pt>
                <c:pt idx="36">
                  <c:v>Post-service Relationship </c:v>
                </c:pt>
                <c:pt idx="37">
                  <c:v>Security of the Luggage</c:v>
                </c:pt>
              </c:strCache>
            </c:strRef>
          </c:cat>
          <c:val>
            <c:numRef>
              <c:f>Sheet1!$B$4:$B$41</c:f>
              <c:numCache>
                <c:formatCode>General</c:formatCode>
                <c:ptCount val="38"/>
                <c:pt idx="0">
                  <c:v>2.4278</c:v>
                </c:pt>
                <c:pt idx="1">
                  <c:v>2.5240999999999998</c:v>
                </c:pt>
                <c:pt idx="2">
                  <c:v>2.6577999999999999</c:v>
                </c:pt>
                <c:pt idx="3">
                  <c:v>2.5455000000000001</c:v>
                </c:pt>
                <c:pt idx="4">
                  <c:v>2.5293999999999999</c:v>
                </c:pt>
                <c:pt idx="5">
                  <c:v>5.2245999999999997</c:v>
                </c:pt>
                <c:pt idx="6">
                  <c:v>2.508</c:v>
                </c:pt>
                <c:pt idx="7">
                  <c:v>2.4544999999999999</c:v>
                </c:pt>
                <c:pt idx="8">
                  <c:v>2.1337000000000002</c:v>
                </c:pt>
                <c:pt idx="9">
                  <c:v>2.1871999999999998</c:v>
                </c:pt>
                <c:pt idx="10">
                  <c:v>2.2139000000000002</c:v>
                </c:pt>
                <c:pt idx="11">
                  <c:v>2.1070000000000002</c:v>
                </c:pt>
                <c:pt idx="12">
                  <c:v>2.0855999999999999</c:v>
                </c:pt>
                <c:pt idx="13">
                  <c:v>2.4384999999999999</c:v>
                </c:pt>
                <c:pt idx="14">
                  <c:v>2.4706000000000001</c:v>
                </c:pt>
                <c:pt idx="15">
                  <c:v>2.6631</c:v>
                </c:pt>
                <c:pt idx="16">
                  <c:v>2.6150000000000002</c:v>
                </c:pt>
                <c:pt idx="17">
                  <c:v>2.3369</c:v>
                </c:pt>
                <c:pt idx="18">
                  <c:v>2.3582999999999998</c:v>
                </c:pt>
                <c:pt idx="19">
                  <c:v>2.738</c:v>
                </c:pt>
                <c:pt idx="20">
                  <c:v>2.2353000000000001</c:v>
                </c:pt>
                <c:pt idx="21">
                  <c:v>2.2673999999999999</c:v>
                </c:pt>
                <c:pt idx="22">
                  <c:v>2.2940999999999998</c:v>
                </c:pt>
                <c:pt idx="23">
                  <c:v>2.4117999999999999</c:v>
                </c:pt>
                <c:pt idx="24">
                  <c:v>2.3048000000000002</c:v>
                </c:pt>
                <c:pt idx="25">
                  <c:v>2.3635999999999999</c:v>
                </c:pt>
                <c:pt idx="26">
                  <c:v>2.508</c:v>
                </c:pt>
                <c:pt idx="27">
                  <c:v>2.0588000000000002</c:v>
                </c:pt>
                <c:pt idx="28">
                  <c:v>2.2995000000000001</c:v>
                </c:pt>
                <c:pt idx="29">
                  <c:v>2.4064000000000001</c:v>
                </c:pt>
                <c:pt idx="30">
                  <c:v>2.4439000000000002</c:v>
                </c:pt>
                <c:pt idx="31">
                  <c:v>2.1711</c:v>
                </c:pt>
                <c:pt idx="32">
                  <c:v>2.5186999999999999</c:v>
                </c:pt>
                <c:pt idx="33">
                  <c:v>2.3102</c:v>
                </c:pt>
                <c:pt idx="34">
                  <c:v>2.2139000000000002</c:v>
                </c:pt>
                <c:pt idx="35">
                  <c:v>2.1282999999999999</c:v>
                </c:pt>
                <c:pt idx="36">
                  <c:v>2.2193000000000001</c:v>
                </c:pt>
                <c:pt idx="37">
                  <c:v>2.5775000000000001</c:v>
                </c:pt>
              </c:numCache>
            </c:numRef>
          </c:val>
          <c:extLst xmlns:c16r2="http://schemas.microsoft.com/office/drawing/2015/06/chart">
            <c:ext xmlns:c16="http://schemas.microsoft.com/office/drawing/2014/chart" uri="{C3380CC4-5D6E-409C-BE32-E72D297353CC}">
              <c16:uniqueId val="{00000000-57CA-48B8-824D-238B982E22FC}"/>
            </c:ext>
          </c:extLst>
        </c:ser>
        <c:ser>
          <c:idx val="1"/>
          <c:order val="1"/>
          <c:tx>
            <c:v>Cluster 2</c:v>
          </c:tx>
          <c:spPr>
            <a:solidFill>
              <a:schemeClr val="accent2"/>
            </a:solidFill>
            <a:ln>
              <a:noFill/>
            </a:ln>
            <a:effectLst/>
          </c:spPr>
          <c:invertIfNegative val="0"/>
          <c:cat>
            <c:strRef>
              <c:f>Sheet1!$A$4:$A$41</c:f>
              <c:strCache>
                <c:ptCount val="38"/>
                <c:pt idx="0">
                  <c:v>Alternatives Provided in Case of Flight Delay</c:v>
                </c:pt>
                <c:pt idx="1">
                  <c:v>Boarding Announcement and Procedure</c:v>
                </c:pt>
                <c:pt idx="2">
                  <c:v>Ease of Finding check-in Counter</c:v>
                </c:pt>
                <c:pt idx="3">
                  <c:v>Ease of Getting Ticket</c:v>
                </c:pt>
                <c:pt idx="4">
                  <c:v>Ease of Website Navigation at the time of Booking</c:v>
                </c:pt>
                <c:pt idx="5">
                  <c:v>Waiting times during Check-In</c:v>
                </c:pt>
                <c:pt idx="6">
                  <c:v>Cabin Crew Announcements</c:v>
                </c:pt>
                <c:pt idx="7">
                  <c:v>Cleanliness of Cabin</c:v>
                </c:pt>
                <c:pt idx="8">
                  <c:v>In-flight Entertainment</c:v>
                </c:pt>
                <c:pt idx="9">
                  <c:v>Leg room available on Seat</c:v>
                </c:pt>
                <c:pt idx="10">
                  <c:v>Food Serving Experience</c:v>
                </c:pt>
                <c:pt idx="11">
                  <c:v>Quantity of Food Given</c:v>
                </c:pt>
                <c:pt idx="12">
                  <c:v>Food and beverage Choices</c:v>
                </c:pt>
                <c:pt idx="13">
                  <c:v>Efficiency of Check in Staff</c:v>
                </c:pt>
                <c:pt idx="14">
                  <c:v>Friendliness of Staff</c:v>
                </c:pt>
                <c:pt idx="15">
                  <c:v>Grooming and Appearance of Staff</c:v>
                </c:pt>
                <c:pt idx="16">
                  <c:v>Network of destinations/Connectivity</c:v>
                </c:pt>
                <c:pt idx="17">
                  <c:v>Innovative marketing schemes like special pricing, holiday packages etc.</c:v>
                </c:pt>
                <c:pt idx="18">
                  <c:v>Seating Comfort</c:v>
                </c:pt>
                <c:pt idx="19">
                  <c:v>Smooth Takeoff/Landing</c:v>
                </c:pt>
                <c:pt idx="20">
                  <c:v>Special facilities of the Airlines for Children, the Elderly and the Handicapped</c:v>
                </c:pt>
                <c:pt idx="21">
                  <c:v>Staff Assistance at the time of Arrival</c:v>
                </c:pt>
                <c:pt idx="22">
                  <c:v>Staff Attitudes at the time of Check-In</c:v>
                </c:pt>
                <c:pt idx="23">
                  <c:v>Cleanliness of Check-in Counter</c:v>
                </c:pt>
                <c:pt idx="24">
                  <c:v>Cleanliness of Lounge</c:v>
                </c:pt>
                <c:pt idx="25">
                  <c:v>Cleanliness of Washrooms</c:v>
                </c:pt>
                <c:pt idx="26">
                  <c:v>Conditions of Aircraft Carrier</c:v>
                </c:pt>
                <c:pt idx="27">
                  <c:v>Internet / WIFI / Sky phone options during Flight </c:v>
                </c:pt>
                <c:pt idx="28">
                  <c:v>Lounge Comfort and Space</c:v>
                </c:pt>
                <c:pt idx="29">
                  <c:v>Luggage delivery times</c:v>
                </c:pt>
                <c:pt idx="30">
                  <c:v>Medical Facility available during Flight</c:v>
                </c:pt>
                <c:pt idx="31">
                  <c:v>Newspaper and Magazines service during Flight</c:v>
                </c:pt>
                <c:pt idx="32">
                  <c:v>Communication skills of Staff </c:v>
                </c:pt>
                <c:pt idx="33">
                  <c:v>Dissemination of Information in case of Delay of Flight</c:v>
                </c:pt>
                <c:pt idx="34">
                  <c:v>On-time Flights departure and arrivals</c:v>
                </c:pt>
                <c:pt idx="35">
                  <c:v>Personalized attention given to you</c:v>
                </c:pt>
                <c:pt idx="36">
                  <c:v>Post-service Relationship </c:v>
                </c:pt>
                <c:pt idx="37">
                  <c:v>Security of the Luggage</c:v>
                </c:pt>
              </c:strCache>
            </c:strRef>
          </c:cat>
          <c:val>
            <c:numRef>
              <c:f>Sheet1!$C$4:$C$41</c:f>
              <c:numCache>
                <c:formatCode>General</c:formatCode>
                <c:ptCount val="38"/>
                <c:pt idx="0">
                  <c:v>4.8845999999999998</c:v>
                </c:pt>
                <c:pt idx="1">
                  <c:v>5.8333000000000004</c:v>
                </c:pt>
                <c:pt idx="2">
                  <c:v>5.859</c:v>
                </c:pt>
                <c:pt idx="3">
                  <c:v>5.9679000000000002</c:v>
                </c:pt>
                <c:pt idx="4">
                  <c:v>5.8333000000000004</c:v>
                </c:pt>
                <c:pt idx="5">
                  <c:v>4.5896999999999997</c:v>
                </c:pt>
                <c:pt idx="6">
                  <c:v>6.0896999999999997</c:v>
                </c:pt>
                <c:pt idx="7">
                  <c:v>6.3269000000000002</c:v>
                </c:pt>
                <c:pt idx="8">
                  <c:v>5.3781999999999996</c:v>
                </c:pt>
                <c:pt idx="9">
                  <c:v>5.3654000000000002</c:v>
                </c:pt>
                <c:pt idx="10">
                  <c:v>5.7691999999999997</c:v>
                </c:pt>
                <c:pt idx="11">
                  <c:v>5.4230999999999998</c:v>
                </c:pt>
                <c:pt idx="12">
                  <c:v>4.9935999999999998</c:v>
                </c:pt>
                <c:pt idx="13">
                  <c:v>5.2371999999999996</c:v>
                </c:pt>
                <c:pt idx="14">
                  <c:v>5.0961999999999996</c:v>
                </c:pt>
                <c:pt idx="15">
                  <c:v>5.1730999999999998</c:v>
                </c:pt>
                <c:pt idx="16">
                  <c:v>5.3718000000000004</c:v>
                </c:pt>
                <c:pt idx="17">
                  <c:v>4.9295</c:v>
                </c:pt>
                <c:pt idx="18">
                  <c:v>5.7820999999999998</c:v>
                </c:pt>
                <c:pt idx="19">
                  <c:v>6.1666999999999996</c:v>
                </c:pt>
                <c:pt idx="20">
                  <c:v>5.9744000000000002</c:v>
                </c:pt>
                <c:pt idx="21">
                  <c:v>6.0513000000000003</c:v>
                </c:pt>
                <c:pt idx="22">
                  <c:v>6.0896999999999997</c:v>
                </c:pt>
                <c:pt idx="23">
                  <c:v>6.3269000000000002</c:v>
                </c:pt>
                <c:pt idx="24">
                  <c:v>6.4295</c:v>
                </c:pt>
                <c:pt idx="25">
                  <c:v>6.3013000000000003</c:v>
                </c:pt>
                <c:pt idx="26">
                  <c:v>6.2949000000000002</c:v>
                </c:pt>
                <c:pt idx="27">
                  <c:v>5.6154000000000002</c:v>
                </c:pt>
                <c:pt idx="28">
                  <c:v>6.1859000000000002</c:v>
                </c:pt>
                <c:pt idx="29">
                  <c:v>6.0128000000000004</c:v>
                </c:pt>
                <c:pt idx="30">
                  <c:v>6.1666999999999996</c:v>
                </c:pt>
                <c:pt idx="31">
                  <c:v>6.0385</c:v>
                </c:pt>
                <c:pt idx="32">
                  <c:v>6.3333000000000004</c:v>
                </c:pt>
                <c:pt idx="33">
                  <c:v>5.9744000000000002</c:v>
                </c:pt>
                <c:pt idx="34">
                  <c:v>6.3076999999999996</c:v>
                </c:pt>
                <c:pt idx="35">
                  <c:v>6.0769000000000002</c:v>
                </c:pt>
                <c:pt idx="36">
                  <c:v>6</c:v>
                </c:pt>
                <c:pt idx="37">
                  <c:v>6.1666999999999996</c:v>
                </c:pt>
              </c:numCache>
            </c:numRef>
          </c:val>
          <c:extLst xmlns:c16r2="http://schemas.microsoft.com/office/drawing/2015/06/chart">
            <c:ext xmlns:c16="http://schemas.microsoft.com/office/drawing/2014/chart" uri="{C3380CC4-5D6E-409C-BE32-E72D297353CC}">
              <c16:uniqueId val="{00000001-57CA-48B8-824D-238B982E22FC}"/>
            </c:ext>
          </c:extLst>
        </c:ser>
        <c:ser>
          <c:idx val="2"/>
          <c:order val="2"/>
          <c:tx>
            <c:v>Cluster 3</c:v>
          </c:tx>
          <c:spPr>
            <a:solidFill>
              <a:schemeClr val="accent3"/>
            </a:solidFill>
            <a:ln>
              <a:noFill/>
            </a:ln>
            <a:effectLst/>
          </c:spPr>
          <c:invertIfNegative val="0"/>
          <c:cat>
            <c:strRef>
              <c:f>Sheet1!$A$4:$A$41</c:f>
              <c:strCache>
                <c:ptCount val="38"/>
                <c:pt idx="0">
                  <c:v>Alternatives Provided in Case of Flight Delay</c:v>
                </c:pt>
                <c:pt idx="1">
                  <c:v>Boarding Announcement and Procedure</c:v>
                </c:pt>
                <c:pt idx="2">
                  <c:v>Ease of Finding check-in Counter</c:v>
                </c:pt>
                <c:pt idx="3">
                  <c:v>Ease of Getting Ticket</c:v>
                </c:pt>
                <c:pt idx="4">
                  <c:v>Ease of Website Navigation at the time of Booking</c:v>
                </c:pt>
                <c:pt idx="5">
                  <c:v>Waiting times during Check-In</c:v>
                </c:pt>
                <c:pt idx="6">
                  <c:v>Cabin Crew Announcements</c:v>
                </c:pt>
                <c:pt idx="7">
                  <c:v>Cleanliness of Cabin</c:v>
                </c:pt>
                <c:pt idx="8">
                  <c:v>In-flight Entertainment</c:v>
                </c:pt>
                <c:pt idx="9">
                  <c:v>Leg room available on Seat</c:v>
                </c:pt>
                <c:pt idx="10">
                  <c:v>Food Serving Experience</c:v>
                </c:pt>
                <c:pt idx="11">
                  <c:v>Quantity of Food Given</c:v>
                </c:pt>
                <c:pt idx="12">
                  <c:v>Food and beverage Choices</c:v>
                </c:pt>
                <c:pt idx="13">
                  <c:v>Efficiency of Check in Staff</c:v>
                </c:pt>
                <c:pt idx="14">
                  <c:v>Friendliness of Staff</c:v>
                </c:pt>
                <c:pt idx="15">
                  <c:v>Grooming and Appearance of Staff</c:v>
                </c:pt>
                <c:pt idx="16">
                  <c:v>Network of destinations/Connectivity</c:v>
                </c:pt>
                <c:pt idx="17">
                  <c:v>Innovative marketing schemes like special pricing, holiday packages etc.</c:v>
                </c:pt>
                <c:pt idx="18">
                  <c:v>Seating Comfort</c:v>
                </c:pt>
                <c:pt idx="19">
                  <c:v>Smooth Takeoff/Landing</c:v>
                </c:pt>
                <c:pt idx="20">
                  <c:v>Special facilities of the Airlines for Children, the Elderly and the Handicapped</c:v>
                </c:pt>
                <c:pt idx="21">
                  <c:v>Staff Assistance at the time of Arrival</c:v>
                </c:pt>
                <c:pt idx="22">
                  <c:v>Staff Attitudes at the time of Check-In</c:v>
                </c:pt>
                <c:pt idx="23">
                  <c:v>Cleanliness of Check-in Counter</c:v>
                </c:pt>
                <c:pt idx="24">
                  <c:v>Cleanliness of Lounge</c:v>
                </c:pt>
                <c:pt idx="25">
                  <c:v>Cleanliness of Washrooms</c:v>
                </c:pt>
                <c:pt idx="26">
                  <c:v>Conditions of Aircraft Carrier</c:v>
                </c:pt>
                <c:pt idx="27">
                  <c:v>Internet / WIFI / Sky phone options during Flight </c:v>
                </c:pt>
                <c:pt idx="28">
                  <c:v>Lounge Comfort and Space</c:v>
                </c:pt>
                <c:pt idx="29">
                  <c:v>Luggage delivery times</c:v>
                </c:pt>
                <c:pt idx="30">
                  <c:v>Medical Facility available during Flight</c:v>
                </c:pt>
                <c:pt idx="31">
                  <c:v>Newspaper and Magazines service during Flight</c:v>
                </c:pt>
                <c:pt idx="32">
                  <c:v>Communication skills of Staff </c:v>
                </c:pt>
                <c:pt idx="33">
                  <c:v>Dissemination of Information in case of Delay of Flight</c:v>
                </c:pt>
                <c:pt idx="34">
                  <c:v>On-time Flights departure and arrivals</c:v>
                </c:pt>
                <c:pt idx="35">
                  <c:v>Personalized attention given to you</c:v>
                </c:pt>
                <c:pt idx="36">
                  <c:v>Post-service Relationship </c:v>
                </c:pt>
                <c:pt idx="37">
                  <c:v>Security of the Luggage</c:v>
                </c:pt>
              </c:strCache>
            </c:strRef>
          </c:cat>
          <c:val>
            <c:numRef>
              <c:f>Sheet1!$D$4:$D$41</c:f>
              <c:numCache>
                <c:formatCode>General</c:formatCode>
                <c:ptCount val="38"/>
                <c:pt idx="0">
                  <c:v>3.5</c:v>
                </c:pt>
                <c:pt idx="1">
                  <c:v>4.5625</c:v>
                </c:pt>
                <c:pt idx="2">
                  <c:v>4.5312999999999999</c:v>
                </c:pt>
                <c:pt idx="3">
                  <c:v>4.8437999999999999</c:v>
                </c:pt>
                <c:pt idx="4">
                  <c:v>4.6875</c:v>
                </c:pt>
                <c:pt idx="5">
                  <c:v>4.1353999999999997</c:v>
                </c:pt>
                <c:pt idx="6">
                  <c:v>4.7812999999999999</c:v>
                </c:pt>
                <c:pt idx="7">
                  <c:v>4.9687999999999999</c:v>
                </c:pt>
                <c:pt idx="8">
                  <c:v>3.6457999999999999</c:v>
                </c:pt>
                <c:pt idx="9">
                  <c:v>3.5625</c:v>
                </c:pt>
                <c:pt idx="10">
                  <c:v>4.0416999999999996</c:v>
                </c:pt>
                <c:pt idx="11">
                  <c:v>3.8542000000000001</c:v>
                </c:pt>
                <c:pt idx="12">
                  <c:v>4.1146000000000003</c:v>
                </c:pt>
                <c:pt idx="13">
                  <c:v>4.3228999999999997</c:v>
                </c:pt>
                <c:pt idx="14">
                  <c:v>4.625</c:v>
                </c:pt>
                <c:pt idx="15">
                  <c:v>4.75</c:v>
                </c:pt>
                <c:pt idx="16">
                  <c:v>4.25</c:v>
                </c:pt>
                <c:pt idx="17">
                  <c:v>4.6458000000000004</c:v>
                </c:pt>
                <c:pt idx="18">
                  <c:v>4.1875</c:v>
                </c:pt>
                <c:pt idx="19">
                  <c:v>4.9166999999999996</c:v>
                </c:pt>
                <c:pt idx="20">
                  <c:v>4.3021000000000003</c:v>
                </c:pt>
                <c:pt idx="21">
                  <c:v>4.3437999999999999</c:v>
                </c:pt>
                <c:pt idx="22">
                  <c:v>4.7083000000000004</c:v>
                </c:pt>
                <c:pt idx="23">
                  <c:v>4.3437999999999999</c:v>
                </c:pt>
                <c:pt idx="24">
                  <c:v>4.4583000000000004</c:v>
                </c:pt>
                <c:pt idx="25">
                  <c:v>4.4375</c:v>
                </c:pt>
                <c:pt idx="26">
                  <c:v>4.3333000000000004</c:v>
                </c:pt>
                <c:pt idx="27">
                  <c:v>3.3332999999999999</c:v>
                </c:pt>
                <c:pt idx="28">
                  <c:v>4.125</c:v>
                </c:pt>
                <c:pt idx="29">
                  <c:v>3.8854000000000002</c:v>
                </c:pt>
                <c:pt idx="30">
                  <c:v>3.9895999999999998</c:v>
                </c:pt>
                <c:pt idx="31">
                  <c:v>3.8332999999999999</c:v>
                </c:pt>
                <c:pt idx="32">
                  <c:v>4.6146000000000003</c:v>
                </c:pt>
                <c:pt idx="33">
                  <c:v>4.3228999999999997</c:v>
                </c:pt>
                <c:pt idx="34">
                  <c:v>4.4791999999999996</c:v>
                </c:pt>
                <c:pt idx="35">
                  <c:v>4.0728999999999997</c:v>
                </c:pt>
                <c:pt idx="36">
                  <c:v>4.1041999999999996</c:v>
                </c:pt>
                <c:pt idx="37">
                  <c:v>4.4896000000000003</c:v>
                </c:pt>
              </c:numCache>
            </c:numRef>
          </c:val>
          <c:extLst xmlns:c16r2="http://schemas.microsoft.com/office/drawing/2015/06/chart">
            <c:ext xmlns:c16="http://schemas.microsoft.com/office/drawing/2014/chart" uri="{C3380CC4-5D6E-409C-BE32-E72D297353CC}">
              <c16:uniqueId val="{00000002-57CA-48B8-824D-238B982E22FC}"/>
            </c:ext>
          </c:extLst>
        </c:ser>
        <c:dLbls>
          <c:showLegendKey val="0"/>
          <c:showVal val="0"/>
          <c:showCatName val="0"/>
          <c:showSerName val="0"/>
          <c:showPercent val="0"/>
          <c:showBubbleSize val="0"/>
        </c:dLbls>
        <c:gapWidth val="219"/>
        <c:overlap val="-27"/>
        <c:axId val="-642545648"/>
        <c:axId val="-642545104"/>
      </c:barChart>
      <c:catAx>
        <c:axId val="-642545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2545104"/>
        <c:crosses val="autoZero"/>
        <c:auto val="1"/>
        <c:lblAlgn val="ctr"/>
        <c:lblOffset val="100"/>
        <c:noMultiLvlLbl val="0"/>
      </c:catAx>
      <c:valAx>
        <c:axId val="-642545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254564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4C0D4E-C2FF-47EA-8D68-93252E3AF8DC}" type="doc">
      <dgm:prSet loTypeId="urn:microsoft.com/office/officeart/2005/8/layout/vList3" loCatId="list" qsTypeId="urn:microsoft.com/office/officeart/2005/8/quickstyle/simple1" qsCatId="simple" csTypeId="urn:microsoft.com/office/officeart/2005/8/colors/accent0_1" csCatId="mainScheme" phldr="1"/>
      <dgm:spPr/>
      <dgm:t>
        <a:bodyPr/>
        <a:lstStyle/>
        <a:p>
          <a:endParaRPr lang="en-IN"/>
        </a:p>
      </dgm:t>
    </dgm:pt>
    <dgm:pt modelId="{65F7E236-CB33-4619-B76F-5BDC05947045}">
      <dgm:prSet/>
      <dgm:spPr/>
      <dgm:t>
        <a:bodyPr/>
        <a:lstStyle/>
        <a:p>
          <a:pPr rtl="0"/>
          <a:r>
            <a:rPr lang="en-US" b="1" smtClean="0"/>
            <a:t>RECOMMENDATIONS</a:t>
          </a:r>
          <a:endParaRPr lang="en-IN"/>
        </a:p>
      </dgm:t>
    </dgm:pt>
    <dgm:pt modelId="{20AD65B3-B748-4029-8CBA-A69383CC835E}" type="parTrans" cxnId="{020C2E9F-9DEF-4F7B-9D33-4BEEA721A159}">
      <dgm:prSet/>
      <dgm:spPr/>
      <dgm:t>
        <a:bodyPr/>
        <a:lstStyle/>
        <a:p>
          <a:endParaRPr lang="en-IN"/>
        </a:p>
      </dgm:t>
    </dgm:pt>
    <dgm:pt modelId="{DF11BA8D-9714-4599-87FC-C72E340B6C9A}" type="sibTrans" cxnId="{020C2E9F-9DEF-4F7B-9D33-4BEEA721A159}">
      <dgm:prSet/>
      <dgm:spPr/>
      <dgm:t>
        <a:bodyPr/>
        <a:lstStyle/>
        <a:p>
          <a:endParaRPr lang="en-IN"/>
        </a:p>
      </dgm:t>
    </dgm:pt>
    <dgm:pt modelId="{8DC167AE-583C-40EC-9CBD-9E02A4FC7216}">
      <dgm:prSet/>
      <dgm:spPr/>
      <dgm:t>
        <a:bodyPr/>
        <a:lstStyle/>
        <a:p>
          <a:pPr rtl="0"/>
          <a:r>
            <a:rPr lang="en-US" smtClean="0"/>
            <a:t>- Tailoring marketing strategies and service offerings to different customer segments.</a:t>
          </a:r>
          <a:endParaRPr lang="en-IN"/>
        </a:p>
      </dgm:t>
    </dgm:pt>
    <dgm:pt modelId="{E1393FD1-6FAA-432F-81B6-04E422B94704}" type="parTrans" cxnId="{CD6A7370-A73A-4460-B38D-0CCC75B287FC}">
      <dgm:prSet/>
      <dgm:spPr/>
      <dgm:t>
        <a:bodyPr/>
        <a:lstStyle/>
        <a:p>
          <a:endParaRPr lang="en-IN"/>
        </a:p>
      </dgm:t>
    </dgm:pt>
    <dgm:pt modelId="{5E783DEE-7AC7-45BA-B0E3-A3207037C501}" type="sibTrans" cxnId="{CD6A7370-A73A-4460-B38D-0CCC75B287FC}">
      <dgm:prSet/>
      <dgm:spPr/>
      <dgm:t>
        <a:bodyPr/>
        <a:lstStyle/>
        <a:p>
          <a:endParaRPr lang="en-IN"/>
        </a:p>
      </dgm:t>
    </dgm:pt>
    <dgm:pt modelId="{07418DBB-1D96-46DA-907B-27ADB4820F0B}">
      <dgm:prSet/>
      <dgm:spPr/>
      <dgm:t>
        <a:bodyPr/>
        <a:lstStyle/>
        <a:p>
          <a:pPr rtl="0"/>
          <a:r>
            <a:rPr lang="en-US" smtClean="0"/>
            <a:t>- Addressing key factors influencing passenger satisfaction and loyalty, such as flight smoothness, cleanliness, and staff friendliness.</a:t>
          </a:r>
          <a:endParaRPr lang="en-IN"/>
        </a:p>
      </dgm:t>
    </dgm:pt>
    <dgm:pt modelId="{EF399759-D5B7-4B0C-9D87-454ABDDEFDBE}" type="parTrans" cxnId="{C469E81B-7442-4C2F-BC6C-83528CB164A3}">
      <dgm:prSet/>
      <dgm:spPr/>
      <dgm:t>
        <a:bodyPr/>
        <a:lstStyle/>
        <a:p>
          <a:endParaRPr lang="en-IN"/>
        </a:p>
      </dgm:t>
    </dgm:pt>
    <dgm:pt modelId="{FF5F1345-AC97-4266-AD12-D7DF48F261FB}" type="sibTrans" cxnId="{C469E81B-7442-4C2F-BC6C-83528CB164A3}">
      <dgm:prSet/>
      <dgm:spPr/>
      <dgm:t>
        <a:bodyPr/>
        <a:lstStyle/>
        <a:p>
          <a:endParaRPr lang="en-IN"/>
        </a:p>
      </dgm:t>
    </dgm:pt>
    <dgm:pt modelId="{FAD73A1A-93C4-4EC0-9A5C-21D87BFC5A9A}">
      <dgm:prSet/>
      <dgm:spPr/>
      <dgm:t>
        <a:bodyPr/>
        <a:lstStyle/>
        <a:p>
          <a:pPr rtl="0"/>
          <a:r>
            <a:rPr lang="en-US" smtClean="0"/>
            <a:t>- Monitoring passenger feedback continuously and implementing timely improvements to enhance overall service quality.</a:t>
          </a:r>
          <a:endParaRPr lang="en-IN"/>
        </a:p>
      </dgm:t>
    </dgm:pt>
    <dgm:pt modelId="{6C6996D2-80E3-41DC-9349-823805DBE34C}" type="parTrans" cxnId="{92E5A575-E008-4BBC-9A62-157BBD1415E5}">
      <dgm:prSet/>
      <dgm:spPr/>
      <dgm:t>
        <a:bodyPr/>
        <a:lstStyle/>
        <a:p>
          <a:endParaRPr lang="en-IN"/>
        </a:p>
      </dgm:t>
    </dgm:pt>
    <dgm:pt modelId="{10D08797-755B-44D5-BD7E-93EB1D97C740}" type="sibTrans" cxnId="{92E5A575-E008-4BBC-9A62-157BBD1415E5}">
      <dgm:prSet/>
      <dgm:spPr/>
      <dgm:t>
        <a:bodyPr/>
        <a:lstStyle/>
        <a:p>
          <a:endParaRPr lang="en-IN"/>
        </a:p>
      </dgm:t>
    </dgm:pt>
    <dgm:pt modelId="{287DE8E7-B97B-40D9-B0C4-9D4CA664FB97}">
      <dgm:prSet/>
      <dgm:spPr/>
      <dgm:t>
        <a:bodyPr/>
        <a:lstStyle/>
        <a:p>
          <a:pPr rtl="0"/>
          <a:r>
            <a:rPr lang="en-US" dirty="0" smtClean="0"/>
            <a:t>- Investing in staff training programs to ensure consistent delivery of exceptional customer experiences.</a:t>
          </a:r>
          <a:endParaRPr lang="en-IN" dirty="0"/>
        </a:p>
      </dgm:t>
    </dgm:pt>
    <dgm:pt modelId="{74663FA5-5F49-48E0-B149-028CE1A37548}" type="parTrans" cxnId="{C6142AF3-9F5E-4FA7-B14F-327E0D08EAEA}">
      <dgm:prSet/>
      <dgm:spPr/>
      <dgm:t>
        <a:bodyPr/>
        <a:lstStyle/>
        <a:p>
          <a:endParaRPr lang="en-IN"/>
        </a:p>
      </dgm:t>
    </dgm:pt>
    <dgm:pt modelId="{78CE1616-6BA8-4DAB-920A-E95773CCA84D}" type="sibTrans" cxnId="{C6142AF3-9F5E-4FA7-B14F-327E0D08EAEA}">
      <dgm:prSet/>
      <dgm:spPr/>
      <dgm:t>
        <a:bodyPr/>
        <a:lstStyle/>
        <a:p>
          <a:endParaRPr lang="en-IN"/>
        </a:p>
      </dgm:t>
    </dgm:pt>
    <dgm:pt modelId="{916D055A-36C6-4FAF-8A3B-160F0B8A688F}" type="pres">
      <dgm:prSet presAssocID="{AD4C0D4E-C2FF-47EA-8D68-93252E3AF8DC}" presName="linearFlow" presStyleCnt="0">
        <dgm:presLayoutVars>
          <dgm:dir/>
          <dgm:resizeHandles val="exact"/>
        </dgm:presLayoutVars>
      </dgm:prSet>
      <dgm:spPr/>
    </dgm:pt>
    <dgm:pt modelId="{21AE60B3-CF34-4CC3-90A0-279A73F72335}" type="pres">
      <dgm:prSet presAssocID="{65F7E236-CB33-4619-B76F-5BDC05947045}" presName="composite" presStyleCnt="0"/>
      <dgm:spPr/>
    </dgm:pt>
    <dgm:pt modelId="{DAC2FFEF-096A-4116-A03A-2EA03B61BA33}" type="pres">
      <dgm:prSet presAssocID="{65F7E236-CB33-4619-B76F-5BDC05947045}" presName="imgShp" presStyleLbl="fgImgPlace1" presStyleIdx="0" presStyleCnt="5"/>
      <dgm:spPr/>
    </dgm:pt>
    <dgm:pt modelId="{81FC55F7-F0DC-422C-89A1-10A1358C4AA7}" type="pres">
      <dgm:prSet presAssocID="{65F7E236-CB33-4619-B76F-5BDC05947045}" presName="txShp" presStyleLbl="node1" presStyleIdx="0" presStyleCnt="5">
        <dgm:presLayoutVars>
          <dgm:bulletEnabled val="1"/>
        </dgm:presLayoutVars>
      </dgm:prSet>
      <dgm:spPr/>
    </dgm:pt>
    <dgm:pt modelId="{FBD4A942-7845-4B07-A76E-C29898B88E0B}" type="pres">
      <dgm:prSet presAssocID="{DF11BA8D-9714-4599-87FC-C72E340B6C9A}" presName="spacing" presStyleCnt="0"/>
      <dgm:spPr/>
    </dgm:pt>
    <dgm:pt modelId="{A205BFA6-5F76-4F34-B70B-2E1C83E67475}" type="pres">
      <dgm:prSet presAssocID="{8DC167AE-583C-40EC-9CBD-9E02A4FC7216}" presName="composite" presStyleCnt="0"/>
      <dgm:spPr/>
    </dgm:pt>
    <dgm:pt modelId="{CAF6B04A-39A4-4C1B-9F45-71F6CFC846F1}" type="pres">
      <dgm:prSet presAssocID="{8DC167AE-583C-40EC-9CBD-9E02A4FC7216}" presName="imgShp" presStyleLbl="fgImgPlace1" presStyleIdx="1" presStyleCnt="5"/>
      <dgm:spPr/>
    </dgm:pt>
    <dgm:pt modelId="{7497E145-B88A-4862-93BF-7BFBB1623811}" type="pres">
      <dgm:prSet presAssocID="{8DC167AE-583C-40EC-9CBD-9E02A4FC7216}" presName="txShp" presStyleLbl="node1" presStyleIdx="1" presStyleCnt="5">
        <dgm:presLayoutVars>
          <dgm:bulletEnabled val="1"/>
        </dgm:presLayoutVars>
      </dgm:prSet>
      <dgm:spPr/>
    </dgm:pt>
    <dgm:pt modelId="{790A7D3D-5B41-48B5-B42A-001E3B225C88}" type="pres">
      <dgm:prSet presAssocID="{5E783DEE-7AC7-45BA-B0E3-A3207037C501}" presName="spacing" presStyleCnt="0"/>
      <dgm:spPr/>
    </dgm:pt>
    <dgm:pt modelId="{609762B7-8F70-4E4E-BB11-D2D6D4959FE2}" type="pres">
      <dgm:prSet presAssocID="{07418DBB-1D96-46DA-907B-27ADB4820F0B}" presName="composite" presStyleCnt="0"/>
      <dgm:spPr/>
    </dgm:pt>
    <dgm:pt modelId="{D7A46535-106E-4BFD-88D0-2E1C94C235BE}" type="pres">
      <dgm:prSet presAssocID="{07418DBB-1D96-46DA-907B-27ADB4820F0B}" presName="imgShp" presStyleLbl="fgImgPlace1" presStyleIdx="2" presStyleCnt="5"/>
      <dgm:spPr/>
    </dgm:pt>
    <dgm:pt modelId="{6E73D359-4AA7-4617-A55A-408FFF3B2D5E}" type="pres">
      <dgm:prSet presAssocID="{07418DBB-1D96-46DA-907B-27ADB4820F0B}" presName="txShp" presStyleLbl="node1" presStyleIdx="2" presStyleCnt="5">
        <dgm:presLayoutVars>
          <dgm:bulletEnabled val="1"/>
        </dgm:presLayoutVars>
      </dgm:prSet>
      <dgm:spPr/>
    </dgm:pt>
    <dgm:pt modelId="{3984268A-A6FE-4803-A632-FAC73BABA89B}" type="pres">
      <dgm:prSet presAssocID="{FF5F1345-AC97-4266-AD12-D7DF48F261FB}" presName="spacing" presStyleCnt="0"/>
      <dgm:spPr/>
    </dgm:pt>
    <dgm:pt modelId="{647CD288-C130-4255-870D-23357EEE045B}" type="pres">
      <dgm:prSet presAssocID="{FAD73A1A-93C4-4EC0-9A5C-21D87BFC5A9A}" presName="composite" presStyleCnt="0"/>
      <dgm:spPr/>
    </dgm:pt>
    <dgm:pt modelId="{38C0991D-FD6A-482E-9A24-800F1FFB827D}" type="pres">
      <dgm:prSet presAssocID="{FAD73A1A-93C4-4EC0-9A5C-21D87BFC5A9A}" presName="imgShp" presStyleLbl="fgImgPlace1" presStyleIdx="3" presStyleCnt="5"/>
      <dgm:spPr/>
    </dgm:pt>
    <dgm:pt modelId="{E6754F90-CBE5-4B63-910A-40319993C7ED}" type="pres">
      <dgm:prSet presAssocID="{FAD73A1A-93C4-4EC0-9A5C-21D87BFC5A9A}" presName="txShp" presStyleLbl="node1" presStyleIdx="3" presStyleCnt="5">
        <dgm:presLayoutVars>
          <dgm:bulletEnabled val="1"/>
        </dgm:presLayoutVars>
      </dgm:prSet>
      <dgm:spPr/>
    </dgm:pt>
    <dgm:pt modelId="{048AA467-B6C5-41D3-A7FB-45F87FB81D29}" type="pres">
      <dgm:prSet presAssocID="{10D08797-755B-44D5-BD7E-93EB1D97C740}" presName="spacing" presStyleCnt="0"/>
      <dgm:spPr/>
    </dgm:pt>
    <dgm:pt modelId="{3D49A459-6897-4782-BD79-64EB221C6FBB}" type="pres">
      <dgm:prSet presAssocID="{287DE8E7-B97B-40D9-B0C4-9D4CA664FB97}" presName="composite" presStyleCnt="0"/>
      <dgm:spPr/>
    </dgm:pt>
    <dgm:pt modelId="{04939DA2-6779-47DB-8971-09DACB0AA908}" type="pres">
      <dgm:prSet presAssocID="{287DE8E7-B97B-40D9-B0C4-9D4CA664FB97}" presName="imgShp" presStyleLbl="fgImgPlace1" presStyleIdx="4" presStyleCnt="5"/>
      <dgm:spPr/>
    </dgm:pt>
    <dgm:pt modelId="{0563DA9A-7023-41EA-A773-B20CC7049DF0}" type="pres">
      <dgm:prSet presAssocID="{287DE8E7-B97B-40D9-B0C4-9D4CA664FB97}" presName="txShp" presStyleLbl="node1" presStyleIdx="4" presStyleCnt="5">
        <dgm:presLayoutVars>
          <dgm:bulletEnabled val="1"/>
        </dgm:presLayoutVars>
      </dgm:prSet>
      <dgm:spPr/>
    </dgm:pt>
  </dgm:ptLst>
  <dgm:cxnLst>
    <dgm:cxn modelId="{C469E81B-7442-4C2F-BC6C-83528CB164A3}" srcId="{AD4C0D4E-C2FF-47EA-8D68-93252E3AF8DC}" destId="{07418DBB-1D96-46DA-907B-27ADB4820F0B}" srcOrd="2" destOrd="0" parTransId="{EF399759-D5B7-4B0C-9D87-454ABDDEFDBE}" sibTransId="{FF5F1345-AC97-4266-AD12-D7DF48F261FB}"/>
    <dgm:cxn modelId="{D6DDA537-3625-4904-B200-B3EDAD5344F0}" type="presOf" srcId="{65F7E236-CB33-4619-B76F-5BDC05947045}" destId="{81FC55F7-F0DC-422C-89A1-10A1358C4AA7}" srcOrd="0" destOrd="0" presId="urn:microsoft.com/office/officeart/2005/8/layout/vList3"/>
    <dgm:cxn modelId="{2625552C-B1FF-4391-85A8-507C2955DFA2}" type="presOf" srcId="{AD4C0D4E-C2FF-47EA-8D68-93252E3AF8DC}" destId="{916D055A-36C6-4FAF-8A3B-160F0B8A688F}" srcOrd="0" destOrd="0" presId="urn:microsoft.com/office/officeart/2005/8/layout/vList3"/>
    <dgm:cxn modelId="{7E380AE7-CED7-4A7B-8F7C-4EB724B6F063}" type="presOf" srcId="{287DE8E7-B97B-40D9-B0C4-9D4CA664FB97}" destId="{0563DA9A-7023-41EA-A773-B20CC7049DF0}" srcOrd="0" destOrd="0" presId="urn:microsoft.com/office/officeart/2005/8/layout/vList3"/>
    <dgm:cxn modelId="{C6142AF3-9F5E-4FA7-B14F-327E0D08EAEA}" srcId="{AD4C0D4E-C2FF-47EA-8D68-93252E3AF8DC}" destId="{287DE8E7-B97B-40D9-B0C4-9D4CA664FB97}" srcOrd="4" destOrd="0" parTransId="{74663FA5-5F49-48E0-B149-028CE1A37548}" sibTransId="{78CE1616-6BA8-4DAB-920A-E95773CCA84D}"/>
    <dgm:cxn modelId="{952BE394-0FEF-48CC-B467-CF0F8E46E0C9}" type="presOf" srcId="{FAD73A1A-93C4-4EC0-9A5C-21D87BFC5A9A}" destId="{E6754F90-CBE5-4B63-910A-40319993C7ED}" srcOrd="0" destOrd="0" presId="urn:microsoft.com/office/officeart/2005/8/layout/vList3"/>
    <dgm:cxn modelId="{020C2E9F-9DEF-4F7B-9D33-4BEEA721A159}" srcId="{AD4C0D4E-C2FF-47EA-8D68-93252E3AF8DC}" destId="{65F7E236-CB33-4619-B76F-5BDC05947045}" srcOrd="0" destOrd="0" parTransId="{20AD65B3-B748-4029-8CBA-A69383CC835E}" sibTransId="{DF11BA8D-9714-4599-87FC-C72E340B6C9A}"/>
    <dgm:cxn modelId="{1C4BFB09-A151-4C7A-9FCC-328679A406B5}" type="presOf" srcId="{07418DBB-1D96-46DA-907B-27ADB4820F0B}" destId="{6E73D359-4AA7-4617-A55A-408FFF3B2D5E}" srcOrd="0" destOrd="0" presId="urn:microsoft.com/office/officeart/2005/8/layout/vList3"/>
    <dgm:cxn modelId="{92E5A575-E008-4BBC-9A62-157BBD1415E5}" srcId="{AD4C0D4E-C2FF-47EA-8D68-93252E3AF8DC}" destId="{FAD73A1A-93C4-4EC0-9A5C-21D87BFC5A9A}" srcOrd="3" destOrd="0" parTransId="{6C6996D2-80E3-41DC-9349-823805DBE34C}" sibTransId="{10D08797-755B-44D5-BD7E-93EB1D97C740}"/>
    <dgm:cxn modelId="{CD6A7370-A73A-4460-B38D-0CCC75B287FC}" srcId="{AD4C0D4E-C2FF-47EA-8D68-93252E3AF8DC}" destId="{8DC167AE-583C-40EC-9CBD-9E02A4FC7216}" srcOrd="1" destOrd="0" parTransId="{E1393FD1-6FAA-432F-81B6-04E422B94704}" sibTransId="{5E783DEE-7AC7-45BA-B0E3-A3207037C501}"/>
    <dgm:cxn modelId="{EAD760E5-DA32-4A03-AE8B-CAC519854B7B}" type="presOf" srcId="{8DC167AE-583C-40EC-9CBD-9E02A4FC7216}" destId="{7497E145-B88A-4862-93BF-7BFBB1623811}" srcOrd="0" destOrd="0" presId="urn:microsoft.com/office/officeart/2005/8/layout/vList3"/>
    <dgm:cxn modelId="{82F69153-7D7A-4429-A537-A6FC7BE2BA28}" type="presParOf" srcId="{916D055A-36C6-4FAF-8A3B-160F0B8A688F}" destId="{21AE60B3-CF34-4CC3-90A0-279A73F72335}" srcOrd="0" destOrd="0" presId="urn:microsoft.com/office/officeart/2005/8/layout/vList3"/>
    <dgm:cxn modelId="{B4DB50DC-38B3-4AFD-9B9B-B836D1F625B3}" type="presParOf" srcId="{21AE60B3-CF34-4CC3-90A0-279A73F72335}" destId="{DAC2FFEF-096A-4116-A03A-2EA03B61BA33}" srcOrd="0" destOrd="0" presId="urn:microsoft.com/office/officeart/2005/8/layout/vList3"/>
    <dgm:cxn modelId="{2897C2D8-94DD-417B-B8B6-44D848DF5785}" type="presParOf" srcId="{21AE60B3-CF34-4CC3-90A0-279A73F72335}" destId="{81FC55F7-F0DC-422C-89A1-10A1358C4AA7}" srcOrd="1" destOrd="0" presId="urn:microsoft.com/office/officeart/2005/8/layout/vList3"/>
    <dgm:cxn modelId="{34DEFE89-D6E3-4AF7-B0FD-F2FE336B4645}" type="presParOf" srcId="{916D055A-36C6-4FAF-8A3B-160F0B8A688F}" destId="{FBD4A942-7845-4B07-A76E-C29898B88E0B}" srcOrd="1" destOrd="0" presId="urn:microsoft.com/office/officeart/2005/8/layout/vList3"/>
    <dgm:cxn modelId="{A5681C55-865F-4023-ADA0-D70869714E84}" type="presParOf" srcId="{916D055A-36C6-4FAF-8A3B-160F0B8A688F}" destId="{A205BFA6-5F76-4F34-B70B-2E1C83E67475}" srcOrd="2" destOrd="0" presId="urn:microsoft.com/office/officeart/2005/8/layout/vList3"/>
    <dgm:cxn modelId="{6188474E-D689-4C0D-9E16-F07B129A7EE9}" type="presParOf" srcId="{A205BFA6-5F76-4F34-B70B-2E1C83E67475}" destId="{CAF6B04A-39A4-4C1B-9F45-71F6CFC846F1}" srcOrd="0" destOrd="0" presId="urn:microsoft.com/office/officeart/2005/8/layout/vList3"/>
    <dgm:cxn modelId="{8E86547F-04FB-48BD-9C16-853D55D7B35A}" type="presParOf" srcId="{A205BFA6-5F76-4F34-B70B-2E1C83E67475}" destId="{7497E145-B88A-4862-93BF-7BFBB1623811}" srcOrd="1" destOrd="0" presId="urn:microsoft.com/office/officeart/2005/8/layout/vList3"/>
    <dgm:cxn modelId="{C4A37749-F57B-4095-9792-EE0E55759C12}" type="presParOf" srcId="{916D055A-36C6-4FAF-8A3B-160F0B8A688F}" destId="{790A7D3D-5B41-48B5-B42A-001E3B225C88}" srcOrd="3" destOrd="0" presId="urn:microsoft.com/office/officeart/2005/8/layout/vList3"/>
    <dgm:cxn modelId="{C7712622-4357-4A0B-BEC4-957D470A543B}" type="presParOf" srcId="{916D055A-36C6-4FAF-8A3B-160F0B8A688F}" destId="{609762B7-8F70-4E4E-BB11-D2D6D4959FE2}" srcOrd="4" destOrd="0" presId="urn:microsoft.com/office/officeart/2005/8/layout/vList3"/>
    <dgm:cxn modelId="{D7E95D80-6D1C-4298-9E06-B0500125ACB3}" type="presParOf" srcId="{609762B7-8F70-4E4E-BB11-D2D6D4959FE2}" destId="{D7A46535-106E-4BFD-88D0-2E1C94C235BE}" srcOrd="0" destOrd="0" presId="urn:microsoft.com/office/officeart/2005/8/layout/vList3"/>
    <dgm:cxn modelId="{6C5E844D-7B26-414C-B2E3-36E53F7FC71D}" type="presParOf" srcId="{609762B7-8F70-4E4E-BB11-D2D6D4959FE2}" destId="{6E73D359-4AA7-4617-A55A-408FFF3B2D5E}" srcOrd="1" destOrd="0" presId="urn:microsoft.com/office/officeart/2005/8/layout/vList3"/>
    <dgm:cxn modelId="{6C8226D4-53EE-4800-B8F9-AC1148BDAF4C}" type="presParOf" srcId="{916D055A-36C6-4FAF-8A3B-160F0B8A688F}" destId="{3984268A-A6FE-4803-A632-FAC73BABA89B}" srcOrd="5" destOrd="0" presId="urn:microsoft.com/office/officeart/2005/8/layout/vList3"/>
    <dgm:cxn modelId="{E4BB5A21-0881-46A5-ADA7-60D19AACDE3E}" type="presParOf" srcId="{916D055A-36C6-4FAF-8A3B-160F0B8A688F}" destId="{647CD288-C130-4255-870D-23357EEE045B}" srcOrd="6" destOrd="0" presId="urn:microsoft.com/office/officeart/2005/8/layout/vList3"/>
    <dgm:cxn modelId="{44520C3A-16D1-447A-8CC0-6450855BE707}" type="presParOf" srcId="{647CD288-C130-4255-870D-23357EEE045B}" destId="{38C0991D-FD6A-482E-9A24-800F1FFB827D}" srcOrd="0" destOrd="0" presId="urn:microsoft.com/office/officeart/2005/8/layout/vList3"/>
    <dgm:cxn modelId="{0F0C3FA2-CA96-41AB-B1B9-52705B8F4CAD}" type="presParOf" srcId="{647CD288-C130-4255-870D-23357EEE045B}" destId="{E6754F90-CBE5-4B63-910A-40319993C7ED}" srcOrd="1" destOrd="0" presId="urn:microsoft.com/office/officeart/2005/8/layout/vList3"/>
    <dgm:cxn modelId="{A556E6A5-B2D5-4AE8-BD89-3CDA5D2F04C6}" type="presParOf" srcId="{916D055A-36C6-4FAF-8A3B-160F0B8A688F}" destId="{048AA467-B6C5-41D3-A7FB-45F87FB81D29}" srcOrd="7" destOrd="0" presId="urn:microsoft.com/office/officeart/2005/8/layout/vList3"/>
    <dgm:cxn modelId="{EDA09FB5-FB59-4F8F-8540-04C171E5173A}" type="presParOf" srcId="{916D055A-36C6-4FAF-8A3B-160F0B8A688F}" destId="{3D49A459-6897-4782-BD79-64EB221C6FBB}" srcOrd="8" destOrd="0" presId="urn:microsoft.com/office/officeart/2005/8/layout/vList3"/>
    <dgm:cxn modelId="{FFCEEC56-C709-4CBA-A2D7-1D34F7FEC5C2}" type="presParOf" srcId="{3D49A459-6897-4782-BD79-64EB221C6FBB}" destId="{04939DA2-6779-47DB-8971-09DACB0AA908}" srcOrd="0" destOrd="0" presId="urn:microsoft.com/office/officeart/2005/8/layout/vList3"/>
    <dgm:cxn modelId="{7B5B83C4-636B-4CAE-AD93-1A077B9E145B}" type="presParOf" srcId="{3D49A459-6897-4782-BD79-64EB221C6FBB}" destId="{0563DA9A-7023-41EA-A773-B20CC7049DF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FC55F7-F0DC-422C-89A1-10A1358C4AA7}">
      <dsp:nvSpPr>
        <dsp:cNvPr id="0" name=""/>
        <dsp:cNvSpPr/>
      </dsp:nvSpPr>
      <dsp:spPr>
        <a:xfrm rot="10800000">
          <a:off x="1600431" y="1428"/>
          <a:ext cx="5419781" cy="941195"/>
        </a:xfrm>
        <a:prstGeom prst="homePlat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5041" tIns="72390" rIns="135128" bIns="72390" numCol="1" spcCol="1270" anchor="ctr" anchorCtr="0">
          <a:noAutofit/>
        </a:bodyPr>
        <a:lstStyle/>
        <a:p>
          <a:pPr lvl="0" algn="ctr" defTabSz="844550" rtl="0">
            <a:lnSpc>
              <a:spcPct val="90000"/>
            </a:lnSpc>
            <a:spcBef>
              <a:spcPct val="0"/>
            </a:spcBef>
            <a:spcAft>
              <a:spcPct val="35000"/>
            </a:spcAft>
          </a:pPr>
          <a:r>
            <a:rPr lang="en-US" sz="1900" b="1" kern="1200" smtClean="0"/>
            <a:t>RECOMMENDATIONS</a:t>
          </a:r>
          <a:endParaRPr lang="en-IN" sz="1900" kern="1200"/>
        </a:p>
      </dsp:txBody>
      <dsp:txXfrm rot="10800000">
        <a:off x="1835730" y="1428"/>
        <a:ext cx="5184482" cy="941195"/>
      </dsp:txXfrm>
    </dsp:sp>
    <dsp:sp modelId="{DAC2FFEF-096A-4116-A03A-2EA03B61BA33}">
      <dsp:nvSpPr>
        <dsp:cNvPr id="0" name=""/>
        <dsp:cNvSpPr/>
      </dsp:nvSpPr>
      <dsp:spPr>
        <a:xfrm>
          <a:off x="1129834" y="1428"/>
          <a:ext cx="941195" cy="941195"/>
        </a:xfrm>
        <a:prstGeom prst="ellipse">
          <a:avLst/>
        </a:prstGeom>
        <a:solidFill>
          <a:schemeClr val="dk1">
            <a:tint val="40000"/>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97E145-B88A-4862-93BF-7BFBB1623811}">
      <dsp:nvSpPr>
        <dsp:cNvPr id="0" name=""/>
        <dsp:cNvSpPr/>
      </dsp:nvSpPr>
      <dsp:spPr>
        <a:xfrm rot="10800000">
          <a:off x="1600431" y="1223577"/>
          <a:ext cx="5419781" cy="941195"/>
        </a:xfrm>
        <a:prstGeom prst="homePlat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5041" tIns="72390" rIns="135128" bIns="72390" numCol="1" spcCol="1270" anchor="ctr" anchorCtr="0">
          <a:noAutofit/>
        </a:bodyPr>
        <a:lstStyle/>
        <a:p>
          <a:pPr lvl="0" algn="ctr" defTabSz="844550" rtl="0">
            <a:lnSpc>
              <a:spcPct val="90000"/>
            </a:lnSpc>
            <a:spcBef>
              <a:spcPct val="0"/>
            </a:spcBef>
            <a:spcAft>
              <a:spcPct val="35000"/>
            </a:spcAft>
          </a:pPr>
          <a:r>
            <a:rPr lang="en-US" sz="1900" kern="1200" smtClean="0"/>
            <a:t>- Tailoring marketing strategies and service offerings to different customer segments.</a:t>
          </a:r>
          <a:endParaRPr lang="en-IN" sz="1900" kern="1200"/>
        </a:p>
      </dsp:txBody>
      <dsp:txXfrm rot="10800000">
        <a:off x="1835730" y="1223577"/>
        <a:ext cx="5184482" cy="941195"/>
      </dsp:txXfrm>
    </dsp:sp>
    <dsp:sp modelId="{CAF6B04A-39A4-4C1B-9F45-71F6CFC846F1}">
      <dsp:nvSpPr>
        <dsp:cNvPr id="0" name=""/>
        <dsp:cNvSpPr/>
      </dsp:nvSpPr>
      <dsp:spPr>
        <a:xfrm>
          <a:off x="1129834" y="1223577"/>
          <a:ext cx="941195" cy="941195"/>
        </a:xfrm>
        <a:prstGeom prst="ellipse">
          <a:avLst/>
        </a:prstGeom>
        <a:solidFill>
          <a:schemeClr val="dk1">
            <a:tint val="40000"/>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73D359-4AA7-4617-A55A-408FFF3B2D5E}">
      <dsp:nvSpPr>
        <dsp:cNvPr id="0" name=""/>
        <dsp:cNvSpPr/>
      </dsp:nvSpPr>
      <dsp:spPr>
        <a:xfrm rot="10800000">
          <a:off x="1600431" y="2445726"/>
          <a:ext cx="5419781" cy="941195"/>
        </a:xfrm>
        <a:prstGeom prst="homePlat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5041" tIns="72390" rIns="135128" bIns="72390" numCol="1" spcCol="1270" anchor="ctr" anchorCtr="0">
          <a:noAutofit/>
        </a:bodyPr>
        <a:lstStyle/>
        <a:p>
          <a:pPr lvl="0" algn="ctr" defTabSz="844550" rtl="0">
            <a:lnSpc>
              <a:spcPct val="90000"/>
            </a:lnSpc>
            <a:spcBef>
              <a:spcPct val="0"/>
            </a:spcBef>
            <a:spcAft>
              <a:spcPct val="35000"/>
            </a:spcAft>
          </a:pPr>
          <a:r>
            <a:rPr lang="en-US" sz="1900" kern="1200" smtClean="0"/>
            <a:t>- Addressing key factors influencing passenger satisfaction and loyalty, such as flight smoothness, cleanliness, and staff friendliness.</a:t>
          </a:r>
          <a:endParaRPr lang="en-IN" sz="1900" kern="1200"/>
        </a:p>
      </dsp:txBody>
      <dsp:txXfrm rot="10800000">
        <a:off x="1835730" y="2445726"/>
        <a:ext cx="5184482" cy="941195"/>
      </dsp:txXfrm>
    </dsp:sp>
    <dsp:sp modelId="{D7A46535-106E-4BFD-88D0-2E1C94C235BE}">
      <dsp:nvSpPr>
        <dsp:cNvPr id="0" name=""/>
        <dsp:cNvSpPr/>
      </dsp:nvSpPr>
      <dsp:spPr>
        <a:xfrm>
          <a:off x="1129834" y="2445726"/>
          <a:ext cx="941195" cy="941195"/>
        </a:xfrm>
        <a:prstGeom prst="ellipse">
          <a:avLst/>
        </a:prstGeom>
        <a:solidFill>
          <a:schemeClr val="dk1">
            <a:tint val="40000"/>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754F90-CBE5-4B63-910A-40319993C7ED}">
      <dsp:nvSpPr>
        <dsp:cNvPr id="0" name=""/>
        <dsp:cNvSpPr/>
      </dsp:nvSpPr>
      <dsp:spPr>
        <a:xfrm rot="10800000">
          <a:off x="1600431" y="3667875"/>
          <a:ext cx="5419781" cy="941195"/>
        </a:xfrm>
        <a:prstGeom prst="homePlat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5041" tIns="72390" rIns="135128" bIns="72390" numCol="1" spcCol="1270" anchor="ctr" anchorCtr="0">
          <a:noAutofit/>
        </a:bodyPr>
        <a:lstStyle/>
        <a:p>
          <a:pPr lvl="0" algn="ctr" defTabSz="844550" rtl="0">
            <a:lnSpc>
              <a:spcPct val="90000"/>
            </a:lnSpc>
            <a:spcBef>
              <a:spcPct val="0"/>
            </a:spcBef>
            <a:spcAft>
              <a:spcPct val="35000"/>
            </a:spcAft>
          </a:pPr>
          <a:r>
            <a:rPr lang="en-US" sz="1900" kern="1200" smtClean="0"/>
            <a:t>- Monitoring passenger feedback continuously and implementing timely improvements to enhance overall service quality.</a:t>
          </a:r>
          <a:endParaRPr lang="en-IN" sz="1900" kern="1200"/>
        </a:p>
      </dsp:txBody>
      <dsp:txXfrm rot="10800000">
        <a:off x="1835730" y="3667875"/>
        <a:ext cx="5184482" cy="941195"/>
      </dsp:txXfrm>
    </dsp:sp>
    <dsp:sp modelId="{38C0991D-FD6A-482E-9A24-800F1FFB827D}">
      <dsp:nvSpPr>
        <dsp:cNvPr id="0" name=""/>
        <dsp:cNvSpPr/>
      </dsp:nvSpPr>
      <dsp:spPr>
        <a:xfrm>
          <a:off x="1129834" y="3667875"/>
          <a:ext cx="941195" cy="941195"/>
        </a:xfrm>
        <a:prstGeom prst="ellipse">
          <a:avLst/>
        </a:prstGeom>
        <a:solidFill>
          <a:schemeClr val="dk1">
            <a:tint val="40000"/>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63DA9A-7023-41EA-A773-B20CC7049DF0}">
      <dsp:nvSpPr>
        <dsp:cNvPr id="0" name=""/>
        <dsp:cNvSpPr/>
      </dsp:nvSpPr>
      <dsp:spPr>
        <a:xfrm rot="10800000">
          <a:off x="1600431" y="4890024"/>
          <a:ext cx="5419781" cy="941195"/>
        </a:xfrm>
        <a:prstGeom prst="homePlat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5041" tIns="72390" rIns="135128" bIns="72390" numCol="1" spcCol="1270" anchor="ctr" anchorCtr="0">
          <a:noAutofit/>
        </a:bodyPr>
        <a:lstStyle/>
        <a:p>
          <a:pPr lvl="0" algn="ctr" defTabSz="844550" rtl="0">
            <a:lnSpc>
              <a:spcPct val="90000"/>
            </a:lnSpc>
            <a:spcBef>
              <a:spcPct val="0"/>
            </a:spcBef>
            <a:spcAft>
              <a:spcPct val="35000"/>
            </a:spcAft>
          </a:pPr>
          <a:r>
            <a:rPr lang="en-US" sz="1900" kern="1200" dirty="0" smtClean="0"/>
            <a:t>- Investing in staff training programs to ensure consistent delivery of exceptional customer experiences.</a:t>
          </a:r>
          <a:endParaRPr lang="en-IN" sz="1900" kern="1200" dirty="0"/>
        </a:p>
      </dsp:txBody>
      <dsp:txXfrm rot="10800000">
        <a:off x="1835730" y="4890024"/>
        <a:ext cx="5184482" cy="941195"/>
      </dsp:txXfrm>
    </dsp:sp>
    <dsp:sp modelId="{04939DA2-6779-47DB-8971-09DACB0AA908}">
      <dsp:nvSpPr>
        <dsp:cNvPr id="0" name=""/>
        <dsp:cNvSpPr/>
      </dsp:nvSpPr>
      <dsp:spPr>
        <a:xfrm>
          <a:off x="1129834" y="4890024"/>
          <a:ext cx="941195" cy="941195"/>
        </a:xfrm>
        <a:prstGeom prst="ellipse">
          <a:avLst/>
        </a:prstGeom>
        <a:solidFill>
          <a:schemeClr val="dk1">
            <a:tint val="40000"/>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C07340-4B1E-4B63-98A1-F7D88099FC71}" type="datetimeFigureOut">
              <a:rPr lang="en-IN" smtClean="0"/>
              <a:t>13-04-2024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B52376-E42A-4F1A-91C3-589F5BFB4622}" type="slidenum">
              <a:rPr lang="en-IN" smtClean="0"/>
              <a:t>‹#›</a:t>
            </a:fld>
            <a:endParaRPr lang="en-IN"/>
          </a:p>
        </p:txBody>
      </p:sp>
    </p:spTree>
    <p:extLst>
      <p:ext uri="{BB962C8B-B14F-4D97-AF65-F5344CB8AC3E}">
        <p14:creationId xmlns:p14="http://schemas.microsoft.com/office/powerpoint/2010/main" val="297413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81377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714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640080">
              <a:defRPr/>
            </a:pPr>
            <a:fld id="{F7021451-1387-4CA6-816F-3879F97B5CBC}" type="slidenum">
              <a:rPr lang="en-US" sz="1300">
                <a:solidFill>
                  <a:prstClr val="black"/>
                </a:solidFill>
                <a:latin typeface="Calibri" panose="020F0502020204030204"/>
              </a:rPr>
              <a:pPr algn="l" defTabSz="640080">
                <a:defRPr/>
              </a:pPr>
              <a:t>29</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640080">
              <a:defRPr/>
            </a:pPr>
            <a:fld id="{F7021451-1387-4CA6-816F-3879F97B5CBC}" type="slidenum">
              <a:rPr lang="en-US" sz="1300">
                <a:solidFill>
                  <a:prstClr val="black"/>
                </a:solidFill>
                <a:latin typeface="Calibri" panose="020F0502020204030204"/>
              </a:rPr>
              <a:pPr algn="l" defTabSz="640080">
                <a:defRPr/>
              </a:pPr>
              <a:t>32</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640080">
              <a:defRPr/>
            </a:pPr>
            <a:fld id="{F7021451-1387-4CA6-816F-3879F97B5CBC}" type="slidenum">
              <a:rPr lang="en-US" sz="1300">
                <a:solidFill>
                  <a:prstClr val="black"/>
                </a:solidFill>
                <a:latin typeface="Calibri" panose="020F0502020204030204"/>
              </a:rPr>
              <a:pPr algn="l" defTabSz="640080">
                <a:defRPr/>
              </a:pPr>
              <a:t>33</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640080">
              <a:defRPr/>
            </a:pPr>
            <a:fld id="{F7021451-1387-4CA6-816F-3879F97B5CBC}" type="slidenum">
              <a:rPr lang="en-US" sz="1300">
                <a:solidFill>
                  <a:prstClr val="black"/>
                </a:solidFill>
                <a:latin typeface="Calibri" panose="020F0502020204030204"/>
              </a:rPr>
              <a:pPr algn="l" defTabSz="640080">
                <a:defRPr/>
              </a:pPr>
              <a:t>35</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640080">
              <a:defRPr/>
            </a:pPr>
            <a:fld id="{F7021451-1387-4CA6-816F-3879F97B5CBC}" type="slidenum">
              <a:rPr lang="en-US" sz="1300">
                <a:solidFill>
                  <a:prstClr val="black"/>
                </a:solidFill>
                <a:latin typeface="Calibri" panose="020F0502020204030204"/>
              </a:rPr>
              <a:pPr algn="l" defTabSz="640080">
                <a:defRPr/>
              </a:pPr>
              <a:t>36</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640080">
              <a:defRPr/>
            </a:pPr>
            <a:fld id="{F7021451-1387-4CA6-816F-3879F97B5CBC}" type="slidenum">
              <a:rPr lang="en-US" sz="1300">
                <a:solidFill>
                  <a:prstClr val="black"/>
                </a:solidFill>
                <a:latin typeface="Calibri" panose="020F0502020204030204"/>
              </a:rPr>
              <a:pPr algn="l" defTabSz="640080">
                <a:defRPr/>
              </a:pPr>
              <a:t>41</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7101895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327534C-5444-491E-9BFC-06C49E5D4B57}"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3425994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27534C-5444-491E-9BFC-06C49E5D4B57}"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807784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27534C-5444-491E-9BFC-06C49E5D4B57}"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3609466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327534C-5444-491E-9BFC-06C49E5D4B57}" type="datetimeFigureOut">
              <a:rPr lang="en-IN" smtClean="0"/>
              <a:t>13-04-2024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541073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327534C-5444-491E-9BFC-06C49E5D4B57}" type="datetimeFigureOut">
              <a:rPr lang="en-IN" smtClean="0"/>
              <a:t>13-04-2024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1720147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327534C-5444-491E-9BFC-06C49E5D4B57}" type="datetimeFigureOut">
              <a:rPr lang="en-IN" smtClean="0"/>
              <a:t>13-04-2024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2676385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27534C-5444-491E-9BFC-06C49E5D4B57}" type="datetimeFigureOut">
              <a:rPr lang="en-IN" smtClean="0"/>
              <a:t>13-04-2024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3679705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27534C-5444-491E-9BFC-06C49E5D4B57}" type="datetimeFigureOut">
              <a:rPr lang="en-IN" smtClean="0"/>
              <a:t>13-04-2024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217583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27534C-5444-491E-9BFC-06C49E5D4B57}" type="datetimeFigureOut">
              <a:rPr lang="en-IN" smtClean="0"/>
              <a:t>13-04-2024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1640418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27534C-5444-491E-9BFC-06C49E5D4B57}"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2911141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27534C-5444-491E-9BFC-06C49E5D4B57}"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699C78-52B8-44FC-A918-382761E4A90E}" type="slidenum">
              <a:rPr lang="en-IN" smtClean="0"/>
              <a:t>‹#›</a:t>
            </a:fld>
            <a:endParaRPr lang="en-IN"/>
          </a:p>
        </p:txBody>
      </p:sp>
    </p:spTree>
    <p:extLst>
      <p:ext uri="{BB962C8B-B14F-4D97-AF65-F5344CB8AC3E}">
        <p14:creationId xmlns:p14="http://schemas.microsoft.com/office/powerpoint/2010/main" val="1762834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27534C-5444-491E-9BFC-06C49E5D4B57}" type="datetimeFigureOut">
              <a:rPr lang="en-IN" smtClean="0"/>
              <a:t>13-04-2024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699C78-52B8-44FC-A918-382761E4A90E}" type="slidenum">
              <a:rPr lang="en-IN" smtClean="0"/>
              <a:t>‹#›</a:t>
            </a:fld>
            <a:endParaRPr lang="en-IN"/>
          </a:p>
        </p:txBody>
      </p:sp>
    </p:spTree>
    <p:extLst>
      <p:ext uri="{BB962C8B-B14F-4D97-AF65-F5344CB8AC3E}">
        <p14:creationId xmlns:p14="http://schemas.microsoft.com/office/powerpoint/2010/main" val="2887207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12.xml"/><Relationship Id="rId5" Type="http://schemas.openxmlformats.org/officeDocument/2006/relationships/image" Target="../media/image68.png"/><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3429000" cy="6858000"/>
          </a:xfrm>
          <a:prstGeom prst="rect">
            <a:avLst/>
          </a:prstGeom>
        </p:spPr>
      </p:pic>
      <p:sp>
        <p:nvSpPr>
          <p:cNvPr id="5" name="Text 2"/>
          <p:cNvSpPr/>
          <p:nvPr/>
        </p:nvSpPr>
        <p:spPr>
          <a:xfrm>
            <a:off x="3949750" y="1248867"/>
            <a:ext cx="4673501" cy="3194050"/>
          </a:xfrm>
          <a:prstGeom prst="rect">
            <a:avLst/>
          </a:prstGeom>
          <a:noFill/>
          <a:ln/>
        </p:spPr>
        <p:txBody>
          <a:bodyPr wrap="square" lIns="64008" tIns="32004" rIns="64008" bIns="32004" rtlCol="0" anchor="t"/>
          <a:lstStyle/>
          <a:p>
            <a:pPr>
              <a:lnSpc>
                <a:spcPts val="5282"/>
              </a:lnSpc>
            </a:pPr>
            <a:r>
              <a:rPr lang="en-US" sz="2800" b="1" dirty="0" smtClean="0">
                <a:solidFill>
                  <a:srgbClr val="233939"/>
                </a:solidFill>
                <a:latin typeface="Syne" pitchFamily="34" charset="0"/>
                <a:ea typeface="Syne" pitchFamily="34" charset="-122"/>
                <a:cs typeface="Syne" pitchFamily="34" charset="-120"/>
              </a:rPr>
              <a:t>Statistical Measurement of Service Quality of Indian Domestic Airlines: A Customer Perspective</a:t>
            </a:r>
            <a:endParaRPr lang="en-US" sz="2800" dirty="0"/>
          </a:p>
        </p:txBody>
      </p:sp>
      <p:sp>
        <p:nvSpPr>
          <p:cNvPr id="6" name="Text 3"/>
          <p:cNvSpPr/>
          <p:nvPr/>
        </p:nvSpPr>
        <p:spPr>
          <a:xfrm>
            <a:off x="3949750" y="4720631"/>
            <a:ext cx="4673501"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Indian aviation sector is a vital contributor to the nation's economy. It provides employment and generates revenue. The airline service industry has experienced significant growth, attracting foreign investments.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512888"/>
            <a:ext cx="6363444"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Need for Studying Service Quality</a:t>
            </a:r>
            <a:endParaRPr lang="en-US" sz="3100" dirty="0"/>
          </a:p>
        </p:txBody>
      </p:sp>
      <p:sp>
        <p:nvSpPr>
          <p:cNvPr id="5" name="Shape 3"/>
          <p:cNvSpPr/>
          <p:nvPr/>
        </p:nvSpPr>
        <p:spPr>
          <a:xfrm>
            <a:off x="1273746" y="2606477"/>
            <a:ext cx="312464" cy="416619"/>
          </a:xfrm>
          <a:prstGeom prst="roundRect">
            <a:avLst>
              <a:gd name="adj" fmla="val 20000"/>
            </a:avLst>
          </a:prstGeom>
          <a:solidFill>
            <a:srgbClr val="DDEEE6"/>
          </a:solidFill>
          <a:ln w="7620">
            <a:solidFill>
              <a:srgbClr val="C3D4CC"/>
            </a:solidFill>
            <a:prstDash val="solid"/>
          </a:ln>
        </p:spPr>
      </p:sp>
      <p:sp>
        <p:nvSpPr>
          <p:cNvPr id="6" name="Text 4"/>
          <p:cNvSpPr/>
          <p:nvPr/>
        </p:nvSpPr>
        <p:spPr>
          <a:xfrm>
            <a:off x="1389311" y="2641204"/>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7" name="Text 5"/>
          <p:cNvSpPr/>
          <p:nvPr/>
        </p:nvSpPr>
        <p:spPr>
          <a:xfrm>
            <a:off x="1725067" y="2670076"/>
            <a:ext cx="1945333"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Intense Competition</a:t>
            </a:r>
            <a:endParaRPr lang="en-US" sz="1500" dirty="0"/>
          </a:p>
        </p:txBody>
      </p:sp>
      <p:sp>
        <p:nvSpPr>
          <p:cNvPr id="8" name="Text 6"/>
          <p:cNvSpPr/>
          <p:nvPr/>
        </p:nvSpPr>
        <p:spPr>
          <a:xfrm>
            <a:off x="1725067" y="3070424"/>
            <a:ext cx="277750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With more private airlines, competition has intensified, making customer satisfaction crucial.</a:t>
            </a:r>
            <a:endParaRPr lang="en-US" sz="1200" dirty="0"/>
          </a:p>
        </p:txBody>
      </p:sp>
      <p:sp>
        <p:nvSpPr>
          <p:cNvPr id="9" name="Shape 7"/>
          <p:cNvSpPr/>
          <p:nvPr/>
        </p:nvSpPr>
        <p:spPr>
          <a:xfrm>
            <a:off x="4641429" y="2606477"/>
            <a:ext cx="312464" cy="416619"/>
          </a:xfrm>
          <a:prstGeom prst="roundRect">
            <a:avLst>
              <a:gd name="adj" fmla="val 20000"/>
            </a:avLst>
          </a:prstGeom>
          <a:solidFill>
            <a:srgbClr val="DDEEE6"/>
          </a:solidFill>
          <a:ln w="7620">
            <a:solidFill>
              <a:srgbClr val="C3D4CC"/>
            </a:solidFill>
            <a:prstDash val="solid"/>
          </a:ln>
        </p:spPr>
      </p:sp>
      <p:sp>
        <p:nvSpPr>
          <p:cNvPr id="10" name="Text 8"/>
          <p:cNvSpPr/>
          <p:nvPr/>
        </p:nvSpPr>
        <p:spPr>
          <a:xfrm>
            <a:off x="4732660" y="2641204"/>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1" name="Text 9"/>
          <p:cNvSpPr/>
          <p:nvPr/>
        </p:nvSpPr>
        <p:spPr>
          <a:xfrm>
            <a:off x="5092749" y="2670076"/>
            <a:ext cx="1999283"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Retaining Customers</a:t>
            </a:r>
            <a:endParaRPr lang="en-US" sz="1500" dirty="0"/>
          </a:p>
        </p:txBody>
      </p:sp>
      <p:sp>
        <p:nvSpPr>
          <p:cNvPr id="12" name="Text 10"/>
          <p:cNvSpPr/>
          <p:nvPr/>
        </p:nvSpPr>
        <p:spPr>
          <a:xfrm>
            <a:off x="5092749" y="3070424"/>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Quality service is key to retaining customer loyalty and market share.</a:t>
            </a:r>
            <a:endParaRPr lang="en-US" sz="1200" dirty="0"/>
          </a:p>
        </p:txBody>
      </p:sp>
      <p:sp>
        <p:nvSpPr>
          <p:cNvPr id="13" name="Shape 11"/>
          <p:cNvSpPr/>
          <p:nvPr/>
        </p:nvSpPr>
        <p:spPr>
          <a:xfrm>
            <a:off x="1273746" y="4288731"/>
            <a:ext cx="312464" cy="416619"/>
          </a:xfrm>
          <a:prstGeom prst="roundRect">
            <a:avLst>
              <a:gd name="adj" fmla="val 20000"/>
            </a:avLst>
          </a:prstGeom>
          <a:solidFill>
            <a:srgbClr val="DDEEE6"/>
          </a:solidFill>
          <a:ln w="7620">
            <a:solidFill>
              <a:srgbClr val="C3D4CC"/>
            </a:solidFill>
            <a:prstDash val="solid"/>
          </a:ln>
        </p:spPr>
      </p:sp>
      <p:sp>
        <p:nvSpPr>
          <p:cNvPr id="14" name="Text 12"/>
          <p:cNvSpPr/>
          <p:nvPr/>
        </p:nvSpPr>
        <p:spPr>
          <a:xfrm>
            <a:off x="1363192" y="4323457"/>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5" name="Text 13"/>
          <p:cNvSpPr/>
          <p:nvPr/>
        </p:nvSpPr>
        <p:spPr>
          <a:xfrm>
            <a:off x="1725067" y="4352330"/>
            <a:ext cx="2269183"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Competitive Advantage</a:t>
            </a:r>
            <a:endParaRPr lang="en-US" sz="1500" dirty="0"/>
          </a:p>
        </p:txBody>
      </p:sp>
      <p:sp>
        <p:nvSpPr>
          <p:cNvPr id="16" name="Text 14"/>
          <p:cNvSpPr/>
          <p:nvPr/>
        </p:nvSpPr>
        <p:spPr>
          <a:xfrm>
            <a:off x="1725067" y="4752678"/>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Some airlines leverage service excellence to differentiate their offerings.</a:t>
            </a:r>
            <a:endParaRPr lang="en-US" sz="1200" dirty="0"/>
          </a:p>
        </p:txBody>
      </p:sp>
      <p:sp>
        <p:nvSpPr>
          <p:cNvPr id="17" name="Shape 15"/>
          <p:cNvSpPr/>
          <p:nvPr/>
        </p:nvSpPr>
        <p:spPr>
          <a:xfrm>
            <a:off x="4641429" y="4288731"/>
            <a:ext cx="312464" cy="416619"/>
          </a:xfrm>
          <a:prstGeom prst="roundRect">
            <a:avLst>
              <a:gd name="adj" fmla="val 20000"/>
            </a:avLst>
          </a:prstGeom>
          <a:solidFill>
            <a:srgbClr val="DDEEE6"/>
          </a:solidFill>
          <a:ln w="7620">
            <a:solidFill>
              <a:srgbClr val="C3D4CC"/>
            </a:solidFill>
            <a:prstDash val="solid"/>
          </a:ln>
        </p:spPr>
      </p:sp>
      <p:sp>
        <p:nvSpPr>
          <p:cNvPr id="18" name="Text 16"/>
          <p:cNvSpPr/>
          <p:nvPr/>
        </p:nvSpPr>
        <p:spPr>
          <a:xfrm>
            <a:off x="4723582" y="4323457"/>
            <a:ext cx="148158"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4</a:t>
            </a:r>
            <a:endParaRPr lang="en-US" dirty="0"/>
          </a:p>
        </p:txBody>
      </p:sp>
      <p:sp>
        <p:nvSpPr>
          <p:cNvPr id="19" name="Text 17"/>
          <p:cNvSpPr/>
          <p:nvPr/>
        </p:nvSpPr>
        <p:spPr>
          <a:xfrm>
            <a:off x="5092750" y="4352330"/>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Research Gap</a:t>
            </a:r>
            <a:endParaRPr lang="en-US" sz="1500" dirty="0"/>
          </a:p>
        </p:txBody>
      </p:sp>
      <p:sp>
        <p:nvSpPr>
          <p:cNvPr id="20" name="Text 18"/>
          <p:cNvSpPr/>
          <p:nvPr/>
        </p:nvSpPr>
        <p:spPr>
          <a:xfrm>
            <a:off x="5092749" y="4752678"/>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Comprehensive research on service quality in Indian airlines is lacking.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887736"/>
            <a:ext cx="4397946"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Service Quality Factors</a:t>
            </a:r>
            <a:endParaRPr lang="en-US" sz="3100" dirty="0"/>
          </a:p>
        </p:txBody>
      </p:sp>
      <p:pic>
        <p:nvPicPr>
          <p:cNvPr id="5" name="Image 0" descr="preencoded.png"/>
          <p:cNvPicPr>
            <a:picLocks noChangeAspect="1"/>
          </p:cNvPicPr>
          <p:nvPr/>
        </p:nvPicPr>
        <p:blipFill>
          <a:blip r:embed="rId3"/>
          <a:stretch>
            <a:fillRect/>
          </a:stretch>
        </p:blipFill>
        <p:spPr>
          <a:xfrm>
            <a:off x="1273746" y="2836665"/>
            <a:ext cx="277713" cy="370284"/>
          </a:xfrm>
          <a:prstGeom prst="rect">
            <a:avLst/>
          </a:prstGeom>
        </p:spPr>
      </p:pic>
      <p:sp>
        <p:nvSpPr>
          <p:cNvPr id="6" name="Text 3"/>
          <p:cNvSpPr/>
          <p:nvPr/>
        </p:nvSpPr>
        <p:spPr>
          <a:xfrm>
            <a:off x="1273746" y="3392091"/>
            <a:ext cx="1492895"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Flight Operations</a:t>
            </a:r>
            <a:endParaRPr lang="en-US" sz="1500" dirty="0"/>
          </a:p>
        </p:txBody>
      </p:sp>
      <p:sp>
        <p:nvSpPr>
          <p:cNvPr id="7" name="Text 4"/>
          <p:cNvSpPr/>
          <p:nvPr/>
        </p:nvSpPr>
        <p:spPr>
          <a:xfrm>
            <a:off x="1273746" y="4081761"/>
            <a:ext cx="149289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On-time departures, smooth take-offs/landings.</a:t>
            </a:r>
            <a:endParaRPr lang="en-US" sz="1200" dirty="0"/>
          </a:p>
        </p:txBody>
      </p:sp>
      <p:pic>
        <p:nvPicPr>
          <p:cNvPr id="8" name="Image 1" descr="preencoded.png"/>
          <p:cNvPicPr>
            <a:picLocks noChangeAspect="1"/>
          </p:cNvPicPr>
          <p:nvPr/>
        </p:nvPicPr>
        <p:blipFill>
          <a:blip r:embed="rId4"/>
          <a:stretch>
            <a:fillRect/>
          </a:stretch>
        </p:blipFill>
        <p:spPr>
          <a:xfrm>
            <a:off x="2974926" y="2836665"/>
            <a:ext cx="277713" cy="370284"/>
          </a:xfrm>
          <a:prstGeom prst="rect">
            <a:avLst/>
          </a:prstGeom>
        </p:spPr>
      </p:pic>
      <p:sp>
        <p:nvSpPr>
          <p:cNvPr id="9" name="Text 5"/>
          <p:cNvSpPr/>
          <p:nvPr/>
        </p:nvSpPr>
        <p:spPr>
          <a:xfrm>
            <a:off x="2974926" y="3392091"/>
            <a:ext cx="1492895"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Food and Beverage</a:t>
            </a:r>
            <a:endParaRPr lang="en-US" sz="1500" dirty="0"/>
          </a:p>
        </p:txBody>
      </p:sp>
      <p:sp>
        <p:nvSpPr>
          <p:cNvPr id="10" name="Text 6"/>
          <p:cNvSpPr/>
          <p:nvPr/>
        </p:nvSpPr>
        <p:spPr>
          <a:xfrm>
            <a:off x="2974926" y="4081760"/>
            <a:ext cx="149289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Quality, quantity, and choices of food/drinks.</a:t>
            </a:r>
            <a:endParaRPr lang="en-US" sz="1200" dirty="0"/>
          </a:p>
        </p:txBody>
      </p:sp>
      <p:pic>
        <p:nvPicPr>
          <p:cNvPr id="11" name="Image 2" descr="preencoded.png"/>
          <p:cNvPicPr>
            <a:picLocks noChangeAspect="1"/>
          </p:cNvPicPr>
          <p:nvPr/>
        </p:nvPicPr>
        <p:blipFill>
          <a:blip r:embed="rId5"/>
          <a:stretch>
            <a:fillRect/>
          </a:stretch>
        </p:blipFill>
        <p:spPr>
          <a:xfrm>
            <a:off x="4676105" y="2836665"/>
            <a:ext cx="277713" cy="370284"/>
          </a:xfrm>
          <a:prstGeom prst="rect">
            <a:avLst/>
          </a:prstGeom>
        </p:spPr>
      </p:pic>
      <p:sp>
        <p:nvSpPr>
          <p:cNvPr id="12" name="Text 7"/>
          <p:cNvSpPr/>
          <p:nvPr/>
        </p:nvSpPr>
        <p:spPr>
          <a:xfrm>
            <a:off x="4676105" y="3392091"/>
            <a:ext cx="1492895"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Staff Service</a:t>
            </a:r>
            <a:endParaRPr lang="en-US" sz="1500" dirty="0"/>
          </a:p>
        </p:txBody>
      </p:sp>
      <p:sp>
        <p:nvSpPr>
          <p:cNvPr id="13" name="Text 8"/>
          <p:cNvSpPr/>
          <p:nvPr/>
        </p:nvSpPr>
        <p:spPr>
          <a:xfrm>
            <a:off x="4676105" y="3792439"/>
            <a:ext cx="149289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Efficiency, friendliness, grooming of staff.</a:t>
            </a:r>
            <a:endParaRPr lang="en-US" sz="1200" dirty="0"/>
          </a:p>
        </p:txBody>
      </p:sp>
      <p:pic>
        <p:nvPicPr>
          <p:cNvPr id="14" name="Image 3" descr="preencoded.png"/>
          <p:cNvPicPr>
            <a:picLocks noChangeAspect="1"/>
          </p:cNvPicPr>
          <p:nvPr/>
        </p:nvPicPr>
        <p:blipFill>
          <a:blip r:embed="rId6"/>
          <a:stretch>
            <a:fillRect/>
          </a:stretch>
        </p:blipFill>
        <p:spPr>
          <a:xfrm>
            <a:off x="6377285" y="2836665"/>
            <a:ext cx="277713" cy="370284"/>
          </a:xfrm>
          <a:prstGeom prst="rect">
            <a:avLst/>
          </a:prstGeom>
        </p:spPr>
      </p:pic>
      <p:sp>
        <p:nvSpPr>
          <p:cNvPr id="15" name="Text 9"/>
          <p:cNvSpPr/>
          <p:nvPr/>
        </p:nvSpPr>
        <p:spPr>
          <a:xfrm>
            <a:off x="6377286" y="3392091"/>
            <a:ext cx="1492969"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Cabin Experience</a:t>
            </a:r>
            <a:endParaRPr lang="en-US" sz="1500" dirty="0"/>
          </a:p>
        </p:txBody>
      </p:sp>
      <p:sp>
        <p:nvSpPr>
          <p:cNvPr id="16" name="Text 10"/>
          <p:cNvSpPr/>
          <p:nvPr/>
        </p:nvSpPr>
        <p:spPr>
          <a:xfrm>
            <a:off x="6377286" y="4081760"/>
            <a:ext cx="1492969"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Seating comfort, leg room, entertainment.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576" y="-7112"/>
            <a:ext cx="9144000" cy="6858000"/>
          </a:xfrm>
          <a:prstGeom prst="rect">
            <a:avLst/>
          </a:prstGeom>
          <a:solidFill>
            <a:srgbClr val="F9F4BE"/>
          </a:solidFill>
          <a:ln/>
        </p:spPr>
      </p:sp>
      <p:sp>
        <p:nvSpPr>
          <p:cNvPr id="3" name="Shape 1"/>
          <p:cNvSpPr/>
          <p:nvPr/>
        </p:nvSpPr>
        <p:spPr>
          <a:xfrm>
            <a:off x="6576" y="-7112"/>
            <a:ext cx="9144000" cy="6858000"/>
          </a:xfrm>
          <a:prstGeom prst="rect">
            <a:avLst/>
          </a:prstGeom>
          <a:solidFill>
            <a:srgbClr val="FFFDE6"/>
          </a:solidFill>
          <a:ln/>
        </p:spPr>
      </p:sp>
      <p:sp>
        <p:nvSpPr>
          <p:cNvPr id="4" name="Text 2"/>
          <p:cNvSpPr/>
          <p:nvPr/>
        </p:nvSpPr>
        <p:spPr>
          <a:xfrm>
            <a:off x="471813" y="744570"/>
            <a:ext cx="6363444"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rPr>
              <a:t>Objectives</a:t>
            </a:r>
            <a:endParaRPr lang="en-US" sz="3100" dirty="0"/>
          </a:p>
        </p:txBody>
      </p:sp>
      <p:sp>
        <p:nvSpPr>
          <p:cNvPr id="5" name="Shape 3"/>
          <p:cNvSpPr/>
          <p:nvPr/>
        </p:nvSpPr>
        <p:spPr>
          <a:xfrm>
            <a:off x="518125" y="2210626"/>
            <a:ext cx="312464" cy="416619"/>
          </a:xfrm>
          <a:prstGeom prst="roundRect">
            <a:avLst>
              <a:gd name="adj" fmla="val 20000"/>
            </a:avLst>
          </a:prstGeom>
          <a:solidFill>
            <a:srgbClr val="DDEEE6"/>
          </a:solidFill>
          <a:ln w="7620">
            <a:solidFill>
              <a:srgbClr val="C3D4CC"/>
            </a:solidFill>
            <a:prstDash val="solid"/>
          </a:ln>
        </p:spPr>
      </p:sp>
      <p:sp>
        <p:nvSpPr>
          <p:cNvPr id="6" name="Text 4"/>
          <p:cNvSpPr/>
          <p:nvPr/>
        </p:nvSpPr>
        <p:spPr>
          <a:xfrm>
            <a:off x="633690" y="2245353"/>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7" name="Text 5"/>
          <p:cNvSpPr/>
          <p:nvPr/>
        </p:nvSpPr>
        <p:spPr>
          <a:xfrm>
            <a:off x="1731643" y="2662964"/>
            <a:ext cx="1945333" cy="289322"/>
          </a:xfrm>
          <a:prstGeom prst="rect">
            <a:avLst/>
          </a:prstGeom>
          <a:noFill/>
          <a:ln/>
        </p:spPr>
        <p:txBody>
          <a:bodyPr wrap="none" lIns="64008" tIns="32004" rIns="64008" bIns="32004" rtlCol="0" anchor="t"/>
          <a:lstStyle/>
          <a:p>
            <a:pPr>
              <a:lnSpc>
                <a:spcPts val="1914"/>
              </a:lnSpc>
            </a:pPr>
            <a:endParaRPr lang="en-US" sz="1500" dirty="0"/>
          </a:p>
        </p:txBody>
      </p:sp>
      <p:sp>
        <p:nvSpPr>
          <p:cNvPr id="8" name="Text 6"/>
          <p:cNvSpPr/>
          <p:nvPr/>
        </p:nvSpPr>
        <p:spPr>
          <a:xfrm>
            <a:off x="946092" y="2082237"/>
            <a:ext cx="277750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1. To study the association between four key demographic variables: Purchase ticket from (</a:t>
            </a:r>
            <a:r>
              <a:rPr lang="en-US" sz="1200" dirty="0" err="1">
                <a:solidFill>
                  <a:srgbClr val="3B4E4E"/>
                </a:solidFill>
                <a:latin typeface="Overpass" pitchFamily="34" charset="0"/>
                <a:ea typeface="Overpass" pitchFamily="34" charset="-122"/>
                <a:cs typeface="Overpass" pitchFamily="34" charset="-120"/>
              </a:rPr>
              <a:t>Tktbuy</a:t>
            </a:r>
            <a:r>
              <a:rPr lang="en-US" sz="1200" dirty="0">
                <a:solidFill>
                  <a:srgbClr val="3B4E4E"/>
                </a:solidFill>
                <a:latin typeface="Overpass" pitchFamily="34" charset="0"/>
                <a:ea typeface="Overpass" pitchFamily="34" charset="-122"/>
                <a:cs typeface="Overpass" pitchFamily="34" charset="-120"/>
              </a:rPr>
              <a:t>), Airlines used most frequently (Airline), likelihood to recommend the airline to others (Recommend), and likelihood to travel again (Purchase Again).</a:t>
            </a:r>
            <a:endParaRPr lang="en-US" sz="1200" dirty="0"/>
          </a:p>
        </p:txBody>
      </p:sp>
      <p:sp>
        <p:nvSpPr>
          <p:cNvPr id="9" name="Shape 7"/>
          <p:cNvSpPr/>
          <p:nvPr/>
        </p:nvSpPr>
        <p:spPr>
          <a:xfrm>
            <a:off x="3875247" y="2141054"/>
            <a:ext cx="312464" cy="416619"/>
          </a:xfrm>
          <a:prstGeom prst="roundRect">
            <a:avLst>
              <a:gd name="adj" fmla="val 20000"/>
            </a:avLst>
          </a:prstGeom>
          <a:solidFill>
            <a:srgbClr val="DDEEE6"/>
          </a:solidFill>
          <a:ln w="7620">
            <a:solidFill>
              <a:srgbClr val="C3D4CC"/>
            </a:solidFill>
            <a:prstDash val="solid"/>
          </a:ln>
        </p:spPr>
      </p:sp>
      <p:sp>
        <p:nvSpPr>
          <p:cNvPr id="10" name="Text 8"/>
          <p:cNvSpPr/>
          <p:nvPr/>
        </p:nvSpPr>
        <p:spPr>
          <a:xfrm>
            <a:off x="3966478" y="2175781"/>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1" name="Text 9"/>
          <p:cNvSpPr/>
          <p:nvPr/>
        </p:nvSpPr>
        <p:spPr>
          <a:xfrm>
            <a:off x="5099325" y="2662964"/>
            <a:ext cx="1999283" cy="289322"/>
          </a:xfrm>
          <a:prstGeom prst="rect">
            <a:avLst/>
          </a:prstGeom>
          <a:noFill/>
          <a:ln/>
        </p:spPr>
        <p:txBody>
          <a:bodyPr wrap="none" lIns="64008" tIns="32004" rIns="64008" bIns="32004" rtlCol="0" anchor="t"/>
          <a:lstStyle/>
          <a:p>
            <a:pPr>
              <a:lnSpc>
                <a:spcPts val="1914"/>
              </a:lnSpc>
            </a:pPr>
            <a:endParaRPr lang="en-US" sz="1500" dirty="0"/>
          </a:p>
        </p:txBody>
      </p:sp>
      <p:sp>
        <p:nvSpPr>
          <p:cNvPr id="12" name="Text 10"/>
          <p:cNvSpPr/>
          <p:nvPr/>
        </p:nvSpPr>
        <p:spPr>
          <a:xfrm>
            <a:off x="4339361" y="2128969"/>
            <a:ext cx="217685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2. To study the impact of various service quality dimensions of Airline passengers on his/her future recommendation about Airlines.</a:t>
            </a:r>
            <a:endParaRPr lang="en-US" sz="1200" dirty="0"/>
          </a:p>
        </p:txBody>
      </p:sp>
      <p:sp>
        <p:nvSpPr>
          <p:cNvPr id="13" name="Shape 11"/>
          <p:cNvSpPr/>
          <p:nvPr/>
        </p:nvSpPr>
        <p:spPr>
          <a:xfrm>
            <a:off x="6595011" y="2111063"/>
            <a:ext cx="213087" cy="416619"/>
          </a:xfrm>
          <a:prstGeom prst="roundRect">
            <a:avLst>
              <a:gd name="adj" fmla="val 20000"/>
            </a:avLst>
          </a:prstGeom>
          <a:solidFill>
            <a:srgbClr val="DDEEE6"/>
          </a:solidFill>
          <a:ln w="7620">
            <a:solidFill>
              <a:srgbClr val="C3D4CC"/>
            </a:solidFill>
            <a:prstDash val="solid"/>
          </a:ln>
        </p:spPr>
      </p:sp>
      <p:sp>
        <p:nvSpPr>
          <p:cNvPr id="14" name="Text 12"/>
          <p:cNvSpPr/>
          <p:nvPr/>
        </p:nvSpPr>
        <p:spPr>
          <a:xfrm>
            <a:off x="6684457" y="2145789"/>
            <a:ext cx="9109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5" name="Text 13"/>
          <p:cNvSpPr/>
          <p:nvPr/>
        </p:nvSpPr>
        <p:spPr>
          <a:xfrm>
            <a:off x="1731643" y="4345218"/>
            <a:ext cx="2269183" cy="289322"/>
          </a:xfrm>
          <a:prstGeom prst="rect">
            <a:avLst/>
          </a:prstGeom>
          <a:noFill/>
          <a:ln/>
        </p:spPr>
        <p:txBody>
          <a:bodyPr wrap="none" lIns="64008" tIns="32004" rIns="64008" bIns="32004" rtlCol="0" anchor="t"/>
          <a:lstStyle/>
          <a:p>
            <a:pPr>
              <a:lnSpc>
                <a:spcPts val="1914"/>
              </a:lnSpc>
            </a:pPr>
            <a:endParaRPr lang="en-US" sz="1500" dirty="0"/>
          </a:p>
        </p:txBody>
      </p:sp>
      <p:sp>
        <p:nvSpPr>
          <p:cNvPr id="16" name="Text 14"/>
          <p:cNvSpPr/>
          <p:nvPr/>
        </p:nvSpPr>
        <p:spPr>
          <a:xfrm>
            <a:off x="6998345" y="2058288"/>
            <a:ext cx="189413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3. To study the impact of various service quality dimensions of Airline passengers on his/her future likeliness to travel again about Airlines.</a:t>
            </a:r>
            <a:endParaRPr lang="en-US" sz="1200" dirty="0"/>
          </a:p>
        </p:txBody>
      </p:sp>
      <p:sp>
        <p:nvSpPr>
          <p:cNvPr id="18" name="Text 16"/>
          <p:cNvSpPr/>
          <p:nvPr/>
        </p:nvSpPr>
        <p:spPr>
          <a:xfrm>
            <a:off x="4730158" y="4316345"/>
            <a:ext cx="148158" cy="347068"/>
          </a:xfrm>
          <a:prstGeom prst="rect">
            <a:avLst/>
          </a:prstGeom>
          <a:noFill/>
          <a:ln/>
        </p:spPr>
        <p:txBody>
          <a:bodyPr wrap="none" lIns="64008" tIns="32004" rIns="64008" bIns="32004" rtlCol="0" anchor="t"/>
          <a:lstStyle/>
          <a:p>
            <a:pPr algn="ctr">
              <a:lnSpc>
                <a:spcPts val="2297"/>
              </a:lnSpc>
            </a:pPr>
            <a:endParaRPr lang="en-US" dirty="0"/>
          </a:p>
        </p:txBody>
      </p:sp>
      <p:sp>
        <p:nvSpPr>
          <p:cNvPr id="19" name="Text 17"/>
          <p:cNvSpPr/>
          <p:nvPr/>
        </p:nvSpPr>
        <p:spPr>
          <a:xfrm>
            <a:off x="5099326" y="4345218"/>
            <a:ext cx="1735931" cy="289322"/>
          </a:xfrm>
          <a:prstGeom prst="rect">
            <a:avLst/>
          </a:prstGeom>
          <a:noFill/>
          <a:ln/>
        </p:spPr>
        <p:txBody>
          <a:bodyPr wrap="none" lIns="64008" tIns="32004" rIns="64008" bIns="32004" rtlCol="0" anchor="t"/>
          <a:lstStyle/>
          <a:p>
            <a:pPr>
              <a:lnSpc>
                <a:spcPts val="1914"/>
              </a:lnSpc>
            </a:pPr>
            <a:endParaRPr lang="en-US" sz="1500" dirty="0"/>
          </a:p>
        </p:txBody>
      </p:sp>
      <p:sp>
        <p:nvSpPr>
          <p:cNvPr id="20" name="Text 18"/>
          <p:cNvSpPr/>
          <p:nvPr/>
        </p:nvSpPr>
        <p:spPr>
          <a:xfrm>
            <a:off x="5099325" y="4745566"/>
            <a:ext cx="2777505" cy="592336"/>
          </a:xfrm>
          <a:prstGeom prst="rect">
            <a:avLst/>
          </a:prstGeom>
          <a:noFill/>
          <a:ln/>
        </p:spPr>
        <p:txBody>
          <a:bodyPr wrap="square" lIns="64008" tIns="32004" rIns="64008" bIns="32004" rtlCol="0" anchor="t"/>
          <a:lstStyle/>
          <a:p>
            <a:pPr>
              <a:lnSpc>
                <a:spcPts val="1959"/>
              </a:lnSpc>
            </a:pPr>
            <a:endParaRPr lang="en-US" sz="1200" dirty="0"/>
          </a:p>
        </p:txBody>
      </p:sp>
      <p:sp>
        <p:nvSpPr>
          <p:cNvPr id="21" name="Shape 3">
            <a:extLst>
              <a:ext uri="{FF2B5EF4-FFF2-40B4-BE49-F238E27FC236}">
                <a16:creationId xmlns:a16="http://schemas.microsoft.com/office/drawing/2014/main" xmlns="" id="{924B7AA1-9720-42BB-A447-F59F83EDE207}"/>
              </a:ext>
            </a:extLst>
          </p:cNvPr>
          <p:cNvSpPr/>
          <p:nvPr/>
        </p:nvSpPr>
        <p:spPr>
          <a:xfrm>
            <a:off x="402622" y="4473607"/>
            <a:ext cx="312464" cy="416619"/>
          </a:xfrm>
          <a:prstGeom prst="roundRect">
            <a:avLst>
              <a:gd name="adj" fmla="val 20000"/>
            </a:avLst>
          </a:prstGeom>
          <a:solidFill>
            <a:srgbClr val="DDEEE6"/>
          </a:solidFill>
          <a:ln w="7620">
            <a:solidFill>
              <a:srgbClr val="C3D4CC"/>
            </a:solidFill>
            <a:prstDash val="solid"/>
          </a:ln>
        </p:spPr>
      </p:sp>
      <p:sp>
        <p:nvSpPr>
          <p:cNvPr id="22" name="Text 4">
            <a:extLst>
              <a:ext uri="{FF2B5EF4-FFF2-40B4-BE49-F238E27FC236}">
                <a16:creationId xmlns:a16="http://schemas.microsoft.com/office/drawing/2014/main" xmlns="" id="{13766EC6-B216-4852-A242-8FC1ACF64C2F}"/>
              </a:ext>
            </a:extLst>
          </p:cNvPr>
          <p:cNvSpPr/>
          <p:nvPr/>
        </p:nvSpPr>
        <p:spPr>
          <a:xfrm>
            <a:off x="518187" y="4508334"/>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rPr>
              <a:t>4</a:t>
            </a:r>
            <a:endParaRPr lang="en-US" dirty="0"/>
          </a:p>
        </p:txBody>
      </p:sp>
      <p:sp>
        <p:nvSpPr>
          <p:cNvPr id="23" name="Text 6">
            <a:extLst>
              <a:ext uri="{FF2B5EF4-FFF2-40B4-BE49-F238E27FC236}">
                <a16:creationId xmlns:a16="http://schemas.microsoft.com/office/drawing/2014/main" xmlns="" id="{45FA0B34-AB23-4998-9BEB-B49D2B48929D}"/>
              </a:ext>
            </a:extLst>
          </p:cNvPr>
          <p:cNvSpPr/>
          <p:nvPr/>
        </p:nvSpPr>
        <p:spPr>
          <a:xfrm>
            <a:off x="830589" y="4345218"/>
            <a:ext cx="277750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To study the psychometric analysis of air passengers.</a:t>
            </a:r>
            <a:endParaRPr lang="en-US" sz="1200" dirty="0"/>
          </a:p>
        </p:txBody>
      </p:sp>
      <p:sp>
        <p:nvSpPr>
          <p:cNvPr id="25" name="Shape 7">
            <a:extLst>
              <a:ext uri="{FF2B5EF4-FFF2-40B4-BE49-F238E27FC236}">
                <a16:creationId xmlns:a16="http://schemas.microsoft.com/office/drawing/2014/main" xmlns="" id="{10BFB02F-E685-4107-9D34-6C0CB3E72E17}"/>
              </a:ext>
            </a:extLst>
          </p:cNvPr>
          <p:cNvSpPr/>
          <p:nvPr/>
        </p:nvSpPr>
        <p:spPr>
          <a:xfrm>
            <a:off x="3829458" y="4404501"/>
            <a:ext cx="312464" cy="378264"/>
          </a:xfrm>
          <a:prstGeom prst="roundRect">
            <a:avLst>
              <a:gd name="adj" fmla="val 20000"/>
            </a:avLst>
          </a:prstGeom>
          <a:solidFill>
            <a:srgbClr val="DDEEE6"/>
          </a:solidFill>
          <a:ln w="7620">
            <a:solidFill>
              <a:srgbClr val="C3D4CC"/>
            </a:solidFill>
            <a:prstDash val="solid"/>
          </a:ln>
        </p:spPr>
      </p:sp>
      <p:sp>
        <p:nvSpPr>
          <p:cNvPr id="26" name="Text 8">
            <a:extLst>
              <a:ext uri="{FF2B5EF4-FFF2-40B4-BE49-F238E27FC236}">
                <a16:creationId xmlns:a16="http://schemas.microsoft.com/office/drawing/2014/main" xmlns="" id="{1986B2E2-8A90-4F8C-A531-5663BB113708}"/>
              </a:ext>
            </a:extLst>
          </p:cNvPr>
          <p:cNvSpPr/>
          <p:nvPr/>
        </p:nvSpPr>
        <p:spPr>
          <a:xfrm>
            <a:off x="3920689" y="4439227"/>
            <a:ext cx="130001" cy="315116"/>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rPr>
              <a:t>5</a:t>
            </a:r>
            <a:endParaRPr lang="en-US" dirty="0"/>
          </a:p>
        </p:txBody>
      </p:sp>
      <p:sp>
        <p:nvSpPr>
          <p:cNvPr id="27" name="Text 10">
            <a:extLst>
              <a:ext uri="{FF2B5EF4-FFF2-40B4-BE49-F238E27FC236}">
                <a16:creationId xmlns:a16="http://schemas.microsoft.com/office/drawing/2014/main" xmlns="" id="{3C4E551C-06CE-4B6F-B33E-6E392C755672}"/>
              </a:ext>
            </a:extLst>
          </p:cNvPr>
          <p:cNvSpPr/>
          <p:nvPr/>
        </p:nvSpPr>
        <p:spPr>
          <a:xfrm>
            <a:off x="4293572" y="4392415"/>
            <a:ext cx="2176855" cy="5378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To check the effect of socio-economic and demographic variables on passenger’s choice to travel again.</a:t>
            </a:r>
            <a:endParaRPr lang="en-US" sz="1200" dirty="0"/>
          </a:p>
        </p:txBody>
      </p:sp>
      <p:sp>
        <p:nvSpPr>
          <p:cNvPr id="36" name="Shape 7">
            <a:extLst>
              <a:ext uri="{FF2B5EF4-FFF2-40B4-BE49-F238E27FC236}">
                <a16:creationId xmlns:a16="http://schemas.microsoft.com/office/drawing/2014/main" xmlns="" id="{B466CAC6-27A0-4B7A-BA8E-21E0C2BD5687}"/>
              </a:ext>
            </a:extLst>
          </p:cNvPr>
          <p:cNvSpPr/>
          <p:nvPr/>
        </p:nvSpPr>
        <p:spPr>
          <a:xfrm>
            <a:off x="6545298" y="4377724"/>
            <a:ext cx="312464" cy="378264"/>
          </a:xfrm>
          <a:prstGeom prst="roundRect">
            <a:avLst>
              <a:gd name="adj" fmla="val 20000"/>
            </a:avLst>
          </a:prstGeom>
          <a:solidFill>
            <a:srgbClr val="DDEEE6"/>
          </a:solidFill>
          <a:ln w="7620">
            <a:solidFill>
              <a:srgbClr val="C3D4CC"/>
            </a:solidFill>
            <a:prstDash val="solid"/>
          </a:ln>
        </p:spPr>
      </p:sp>
      <p:sp>
        <p:nvSpPr>
          <p:cNvPr id="37" name="Text 8">
            <a:extLst>
              <a:ext uri="{FF2B5EF4-FFF2-40B4-BE49-F238E27FC236}">
                <a16:creationId xmlns:a16="http://schemas.microsoft.com/office/drawing/2014/main" xmlns="" id="{0B687D15-7E29-4CEB-B1C8-82EB3D546F51}"/>
              </a:ext>
            </a:extLst>
          </p:cNvPr>
          <p:cNvSpPr/>
          <p:nvPr/>
        </p:nvSpPr>
        <p:spPr>
          <a:xfrm>
            <a:off x="6636529" y="4412450"/>
            <a:ext cx="130001" cy="315116"/>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rPr>
              <a:t>6</a:t>
            </a:r>
            <a:endParaRPr lang="en-US" dirty="0"/>
          </a:p>
        </p:txBody>
      </p:sp>
      <p:sp>
        <p:nvSpPr>
          <p:cNvPr id="38" name="Text 10">
            <a:extLst>
              <a:ext uri="{FF2B5EF4-FFF2-40B4-BE49-F238E27FC236}">
                <a16:creationId xmlns:a16="http://schemas.microsoft.com/office/drawing/2014/main" xmlns="" id="{34702059-EAF3-40D3-A5E4-F72B73138679}"/>
              </a:ext>
            </a:extLst>
          </p:cNvPr>
          <p:cNvSpPr/>
          <p:nvPr/>
        </p:nvSpPr>
        <p:spPr>
          <a:xfrm>
            <a:off x="7009413" y="4365638"/>
            <a:ext cx="1731966" cy="5378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To understand the emotions of passengers.</a:t>
            </a:r>
            <a:endParaRPr lang="en-US" sz="1200" dirty="0"/>
          </a:p>
        </p:txBody>
      </p:sp>
    </p:spTree>
    <p:extLst>
      <p:ext uri="{BB962C8B-B14F-4D97-AF65-F5344CB8AC3E}">
        <p14:creationId xmlns:p14="http://schemas.microsoft.com/office/powerpoint/2010/main" val="3362119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201044"/>
            <a:ext cx="6447830"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Review of Literature</a:t>
            </a:r>
            <a:endParaRPr lang="en-US" sz="3100" dirty="0"/>
          </a:p>
        </p:txBody>
      </p:sp>
      <p:sp>
        <p:nvSpPr>
          <p:cNvPr id="5" name="Shape 3"/>
          <p:cNvSpPr/>
          <p:nvPr/>
        </p:nvSpPr>
        <p:spPr>
          <a:xfrm>
            <a:off x="4558159" y="2149971"/>
            <a:ext cx="27756" cy="3506986"/>
          </a:xfrm>
          <a:prstGeom prst="roundRect">
            <a:avLst>
              <a:gd name="adj" fmla="val 225151"/>
            </a:avLst>
          </a:prstGeom>
          <a:solidFill>
            <a:srgbClr val="C3D4CC"/>
          </a:solidFill>
          <a:ln/>
        </p:spPr>
      </p:sp>
      <p:sp>
        <p:nvSpPr>
          <p:cNvPr id="6" name="Shape 4"/>
          <p:cNvSpPr/>
          <p:nvPr/>
        </p:nvSpPr>
        <p:spPr>
          <a:xfrm>
            <a:off x="3929770" y="2484388"/>
            <a:ext cx="485998" cy="37008"/>
          </a:xfrm>
          <a:prstGeom prst="roundRect">
            <a:avLst>
              <a:gd name="adj" fmla="val 225151"/>
            </a:avLst>
          </a:prstGeom>
          <a:solidFill>
            <a:srgbClr val="C3D4CC"/>
          </a:solidFill>
          <a:ln/>
        </p:spPr>
      </p:sp>
      <p:sp>
        <p:nvSpPr>
          <p:cNvPr id="7" name="Shape 5"/>
          <p:cNvSpPr/>
          <p:nvPr/>
        </p:nvSpPr>
        <p:spPr>
          <a:xfrm>
            <a:off x="4415768" y="2294632"/>
            <a:ext cx="312464" cy="416619"/>
          </a:xfrm>
          <a:prstGeom prst="roundRect">
            <a:avLst>
              <a:gd name="adj" fmla="val 20000"/>
            </a:avLst>
          </a:prstGeom>
          <a:solidFill>
            <a:srgbClr val="DDEEE6"/>
          </a:solidFill>
          <a:ln w="7620">
            <a:solidFill>
              <a:srgbClr val="C3D4CC"/>
            </a:solidFill>
            <a:prstDash val="solid"/>
          </a:ln>
        </p:spPr>
      </p:sp>
      <p:sp>
        <p:nvSpPr>
          <p:cNvPr id="8" name="Text 6"/>
          <p:cNvSpPr/>
          <p:nvPr/>
        </p:nvSpPr>
        <p:spPr>
          <a:xfrm>
            <a:off x="4531333" y="2329359"/>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9" name="Text 7"/>
          <p:cNvSpPr/>
          <p:nvPr/>
        </p:nvSpPr>
        <p:spPr>
          <a:xfrm>
            <a:off x="2072283" y="2335113"/>
            <a:ext cx="1735931" cy="289322"/>
          </a:xfrm>
          <a:prstGeom prst="rect">
            <a:avLst/>
          </a:prstGeom>
          <a:noFill/>
          <a:ln/>
        </p:spPr>
        <p:txBody>
          <a:bodyPr wrap="none" lIns="64008" tIns="32004" rIns="64008" bIns="32004" rtlCol="0" anchor="t"/>
          <a:lstStyle/>
          <a:p>
            <a:pPr algn="r">
              <a:lnSpc>
                <a:spcPts val="1914"/>
              </a:lnSpc>
            </a:pPr>
            <a:endParaRPr lang="en-US" sz="1500" dirty="0"/>
          </a:p>
        </p:txBody>
      </p:sp>
      <p:sp>
        <p:nvSpPr>
          <p:cNvPr id="10" name="Text 8"/>
          <p:cNvSpPr/>
          <p:nvPr/>
        </p:nvSpPr>
        <p:spPr>
          <a:xfrm>
            <a:off x="685511" y="1931270"/>
            <a:ext cx="3095951" cy="888504"/>
          </a:xfrm>
          <a:prstGeom prst="rect">
            <a:avLst/>
          </a:prstGeom>
          <a:noFill/>
          <a:ln/>
        </p:spPr>
        <p:txBody>
          <a:bodyPr wrap="square" lIns="64008" tIns="32004" rIns="64008" bIns="32004" rtlCol="0" anchor="t"/>
          <a:lstStyle/>
          <a:p>
            <a:pPr algn="r">
              <a:lnSpc>
                <a:spcPts val="1959"/>
              </a:lnSpc>
            </a:pPr>
            <a:r>
              <a:rPr lang="en-US" sz="1200" dirty="0">
                <a:solidFill>
                  <a:srgbClr val="3B4E4E"/>
                </a:solidFill>
                <a:latin typeface="Overpass" pitchFamily="34" charset="0"/>
                <a:ea typeface="Overpass" pitchFamily="34" charset="-122"/>
                <a:cs typeface="Overpass" pitchFamily="34" charset="-120"/>
              </a:rPr>
              <a:t>Zaid, Ansari and Jeddah (2015) discuss upon refund on online cancellation of ticket is one factor that customers are not satisfied with. When they face this particular issue, they are tempted to switch from the present airline to the other airlines. Therefore, online services should be taken seriously by the airlines.</a:t>
            </a:r>
            <a:endParaRPr lang="en-US" sz="1200" dirty="0"/>
          </a:p>
        </p:txBody>
      </p:sp>
      <p:sp>
        <p:nvSpPr>
          <p:cNvPr id="11" name="Shape 9"/>
          <p:cNvSpPr/>
          <p:nvPr/>
        </p:nvSpPr>
        <p:spPr>
          <a:xfrm>
            <a:off x="4728233" y="3410099"/>
            <a:ext cx="485998" cy="37008"/>
          </a:xfrm>
          <a:prstGeom prst="roundRect">
            <a:avLst>
              <a:gd name="adj" fmla="val 225151"/>
            </a:avLst>
          </a:prstGeom>
          <a:solidFill>
            <a:srgbClr val="C3D4CC"/>
          </a:solidFill>
          <a:ln/>
        </p:spPr>
      </p:sp>
      <p:sp>
        <p:nvSpPr>
          <p:cNvPr id="12" name="Shape 10"/>
          <p:cNvSpPr/>
          <p:nvPr/>
        </p:nvSpPr>
        <p:spPr>
          <a:xfrm>
            <a:off x="4415768" y="3220344"/>
            <a:ext cx="312464" cy="416619"/>
          </a:xfrm>
          <a:prstGeom prst="roundRect">
            <a:avLst>
              <a:gd name="adj" fmla="val 20000"/>
            </a:avLst>
          </a:prstGeom>
          <a:solidFill>
            <a:srgbClr val="DDEEE6"/>
          </a:solidFill>
          <a:ln w="7620">
            <a:solidFill>
              <a:srgbClr val="C3D4CC"/>
            </a:solidFill>
            <a:prstDash val="solid"/>
          </a:ln>
        </p:spPr>
      </p:sp>
      <p:sp>
        <p:nvSpPr>
          <p:cNvPr id="13" name="Text 11"/>
          <p:cNvSpPr/>
          <p:nvPr/>
        </p:nvSpPr>
        <p:spPr>
          <a:xfrm>
            <a:off x="4507000" y="3255069"/>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4" name="Text 12"/>
          <p:cNvSpPr/>
          <p:nvPr/>
        </p:nvSpPr>
        <p:spPr>
          <a:xfrm>
            <a:off x="5335786" y="3260824"/>
            <a:ext cx="1735931" cy="289322"/>
          </a:xfrm>
          <a:prstGeom prst="rect">
            <a:avLst/>
          </a:prstGeom>
          <a:noFill/>
          <a:ln/>
        </p:spPr>
        <p:txBody>
          <a:bodyPr wrap="none" lIns="64008" tIns="32004" rIns="64008" bIns="32004" rtlCol="0" anchor="t"/>
          <a:lstStyle/>
          <a:p>
            <a:pPr>
              <a:lnSpc>
                <a:spcPts val="1914"/>
              </a:lnSpc>
            </a:pPr>
            <a:endParaRPr lang="en-US" sz="1500" dirty="0"/>
          </a:p>
        </p:txBody>
      </p:sp>
      <p:sp>
        <p:nvSpPr>
          <p:cNvPr id="15" name="Text 13"/>
          <p:cNvSpPr/>
          <p:nvPr/>
        </p:nvSpPr>
        <p:spPr>
          <a:xfrm>
            <a:off x="5383834" y="2986088"/>
            <a:ext cx="2534469" cy="888504"/>
          </a:xfrm>
          <a:prstGeom prst="rect">
            <a:avLst/>
          </a:prstGeom>
          <a:noFill/>
          <a:ln/>
        </p:spPr>
        <p:txBody>
          <a:bodyPr wrap="square" lIns="64008" tIns="32004" rIns="64008" bIns="32004" rtlCol="0" anchor="t"/>
          <a:lstStyle/>
          <a:p>
            <a:pPr>
              <a:lnSpc>
                <a:spcPts val="1959"/>
              </a:lnSpc>
            </a:pPr>
            <a:r>
              <a:rPr lang="en-US" sz="1200" dirty="0" err="1">
                <a:solidFill>
                  <a:srgbClr val="3B4E4E"/>
                </a:solidFill>
                <a:latin typeface="Overpass" pitchFamily="34" charset="0"/>
                <a:ea typeface="Overpass" pitchFamily="34" charset="-122"/>
                <a:cs typeface="Overpass" pitchFamily="34" charset="-120"/>
              </a:rPr>
              <a:t>Gambo</a:t>
            </a:r>
            <a:r>
              <a:rPr lang="en-US" sz="1200" dirty="0">
                <a:solidFill>
                  <a:srgbClr val="3B4E4E"/>
                </a:solidFill>
                <a:latin typeface="Overpass" pitchFamily="34" charset="0"/>
                <a:ea typeface="Overpass" pitchFamily="34" charset="-122"/>
                <a:cs typeface="Overpass" pitchFamily="34" charset="-120"/>
              </a:rPr>
              <a:t> (2016) study establishes that there is no relationship between customer satisfaction and the check in process though there is a significant relationship between customer satisfaction and reliability baggage handling responsiveness and inflight services.</a:t>
            </a:r>
            <a:endParaRPr lang="en-US" sz="1200" dirty="0"/>
          </a:p>
        </p:txBody>
      </p:sp>
      <p:sp>
        <p:nvSpPr>
          <p:cNvPr id="16" name="Shape 14"/>
          <p:cNvSpPr/>
          <p:nvPr/>
        </p:nvSpPr>
        <p:spPr>
          <a:xfrm>
            <a:off x="3929770" y="4332238"/>
            <a:ext cx="485998" cy="37008"/>
          </a:xfrm>
          <a:prstGeom prst="roundRect">
            <a:avLst>
              <a:gd name="adj" fmla="val 225151"/>
            </a:avLst>
          </a:prstGeom>
          <a:solidFill>
            <a:srgbClr val="C3D4CC"/>
          </a:solidFill>
          <a:ln/>
        </p:spPr>
      </p:sp>
      <p:sp>
        <p:nvSpPr>
          <p:cNvPr id="17" name="Shape 15"/>
          <p:cNvSpPr/>
          <p:nvPr/>
        </p:nvSpPr>
        <p:spPr>
          <a:xfrm>
            <a:off x="4415768" y="4142482"/>
            <a:ext cx="312464" cy="416619"/>
          </a:xfrm>
          <a:prstGeom prst="roundRect">
            <a:avLst>
              <a:gd name="adj" fmla="val 20000"/>
            </a:avLst>
          </a:prstGeom>
          <a:solidFill>
            <a:srgbClr val="DDEEE6"/>
          </a:solidFill>
          <a:ln w="7620">
            <a:solidFill>
              <a:srgbClr val="C3D4CC"/>
            </a:solidFill>
            <a:prstDash val="solid"/>
          </a:ln>
        </p:spPr>
      </p:sp>
      <p:sp>
        <p:nvSpPr>
          <p:cNvPr id="18" name="Text 16"/>
          <p:cNvSpPr/>
          <p:nvPr/>
        </p:nvSpPr>
        <p:spPr>
          <a:xfrm>
            <a:off x="4505214" y="4177209"/>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9" name="Text 17"/>
          <p:cNvSpPr/>
          <p:nvPr/>
        </p:nvSpPr>
        <p:spPr>
          <a:xfrm>
            <a:off x="1927399" y="4182963"/>
            <a:ext cx="1880816" cy="289322"/>
          </a:xfrm>
          <a:prstGeom prst="rect">
            <a:avLst/>
          </a:prstGeom>
          <a:noFill/>
          <a:ln/>
        </p:spPr>
        <p:txBody>
          <a:bodyPr wrap="none" lIns="64008" tIns="32004" rIns="64008" bIns="32004" rtlCol="0" anchor="t"/>
          <a:lstStyle/>
          <a:p>
            <a:pPr algn="r">
              <a:lnSpc>
                <a:spcPts val="1914"/>
              </a:lnSpc>
            </a:pPr>
            <a:endParaRPr lang="en-US" sz="1500" dirty="0"/>
          </a:p>
        </p:txBody>
      </p:sp>
      <p:sp>
        <p:nvSpPr>
          <p:cNvPr id="20" name="Text 18"/>
          <p:cNvSpPr/>
          <p:nvPr/>
        </p:nvSpPr>
        <p:spPr>
          <a:xfrm>
            <a:off x="329939" y="4114849"/>
            <a:ext cx="3484687" cy="888504"/>
          </a:xfrm>
          <a:prstGeom prst="rect">
            <a:avLst/>
          </a:prstGeom>
          <a:noFill/>
          <a:ln/>
        </p:spPr>
        <p:txBody>
          <a:bodyPr wrap="square" lIns="64008" tIns="32004" rIns="64008" bIns="32004" rtlCol="0" anchor="t"/>
          <a:lstStyle/>
          <a:p>
            <a:pPr algn="r">
              <a:lnSpc>
                <a:spcPts val="1959"/>
              </a:lnSpc>
            </a:pPr>
            <a:r>
              <a:rPr lang="en-US" sz="1200" dirty="0"/>
              <a:t>Kim and Cho (2016) give a new dimension by a link between job satisfaction of the crew in airlines and customer satisfaction of passengers. Service quality depends on the crew who provide services and </a:t>
            </a:r>
            <a:r>
              <a:rPr lang="en-US" sz="1200" dirty="0" err="1"/>
              <a:t>satisfing</a:t>
            </a:r>
            <a:r>
              <a:rPr lang="en-US" sz="1200" dirty="0"/>
              <a:t> the customers can only branch out of the employees when they are satisfied with the job.</a:t>
            </a:r>
          </a:p>
        </p:txBody>
      </p:sp>
    </p:spTree>
    <p:extLst>
      <p:ext uri="{BB962C8B-B14F-4D97-AF65-F5344CB8AC3E}">
        <p14:creationId xmlns:p14="http://schemas.microsoft.com/office/powerpoint/2010/main" val="2331799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958751"/>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Methodology</a:t>
            </a:r>
            <a:endParaRPr lang="en-US" sz="3100" dirty="0"/>
          </a:p>
        </p:txBody>
      </p:sp>
      <p:sp>
        <p:nvSpPr>
          <p:cNvPr id="5" name="Text 3"/>
          <p:cNvSpPr/>
          <p:nvPr/>
        </p:nvSpPr>
        <p:spPr>
          <a:xfrm>
            <a:off x="1273746" y="2000251"/>
            <a:ext cx="1972717" cy="578644"/>
          </a:xfrm>
          <a:prstGeom prst="rect">
            <a:avLst/>
          </a:prstGeom>
          <a:noFill/>
          <a:ln/>
        </p:spPr>
        <p:txBody>
          <a:bodyPr wrap="squar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Research Instrument</a:t>
            </a:r>
            <a:endParaRPr lang="en-US" sz="1500" dirty="0"/>
          </a:p>
        </p:txBody>
      </p:sp>
      <p:sp>
        <p:nvSpPr>
          <p:cNvPr id="6" name="Text 4"/>
          <p:cNvSpPr/>
          <p:nvPr/>
        </p:nvSpPr>
        <p:spPr>
          <a:xfrm>
            <a:off x="1273746" y="2764036"/>
            <a:ext cx="1972717" cy="266551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instrument used here is a 7-point Likert scale to measure satisfaction levels. It includes two sections. The first section collected the demographic information of the respondent and the other customer's perception on quality of facilities provided by airlines.</a:t>
            </a:r>
            <a:endParaRPr lang="en-US" sz="1200" dirty="0"/>
          </a:p>
        </p:txBody>
      </p:sp>
      <p:sp>
        <p:nvSpPr>
          <p:cNvPr id="7" name="Text 5"/>
          <p:cNvSpPr/>
          <p:nvPr/>
        </p:nvSpPr>
        <p:spPr>
          <a:xfrm>
            <a:off x="3589958" y="2000250"/>
            <a:ext cx="1735931" cy="289322"/>
          </a:xfrm>
          <a:prstGeom prst="rect">
            <a:avLst/>
          </a:prstGeom>
          <a:noFill/>
          <a:ln/>
        </p:spPr>
        <p:txBody>
          <a:bodyPr wrap="non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Sampling</a:t>
            </a:r>
            <a:endParaRPr lang="en-US" sz="1500" dirty="0"/>
          </a:p>
        </p:txBody>
      </p:sp>
      <p:sp>
        <p:nvSpPr>
          <p:cNvPr id="8" name="Text 6"/>
          <p:cNvSpPr/>
          <p:nvPr/>
        </p:nvSpPr>
        <p:spPr>
          <a:xfrm>
            <a:off x="3589958" y="2474714"/>
            <a:ext cx="1972717" cy="3257848"/>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primary methodological approach employed in this research was a questionnaire survey, strategically designed to fulfil the overarching objectives. This survey targeted individuals who had experienced air travel with any Indian airline at least once. Convenience sampling of air travelers in Mumbai was included.</a:t>
            </a:r>
            <a:endParaRPr lang="en-US" sz="1200" dirty="0"/>
          </a:p>
        </p:txBody>
      </p:sp>
      <p:sp>
        <p:nvSpPr>
          <p:cNvPr id="9" name="Text 7"/>
          <p:cNvSpPr/>
          <p:nvPr/>
        </p:nvSpPr>
        <p:spPr>
          <a:xfrm>
            <a:off x="5906170" y="2000250"/>
            <a:ext cx="1735931" cy="289322"/>
          </a:xfrm>
          <a:prstGeom prst="rect">
            <a:avLst/>
          </a:prstGeom>
          <a:noFill/>
          <a:ln/>
        </p:spPr>
        <p:txBody>
          <a:bodyPr wrap="non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Data Collection</a:t>
            </a:r>
            <a:endParaRPr lang="en-US" sz="1500" dirty="0"/>
          </a:p>
        </p:txBody>
      </p:sp>
      <p:sp>
        <p:nvSpPr>
          <p:cNvPr id="10" name="Text 8"/>
          <p:cNvSpPr/>
          <p:nvPr/>
        </p:nvSpPr>
        <p:spPr>
          <a:xfrm>
            <a:off x="5906170" y="2474714"/>
            <a:ext cx="1972717" cy="266551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questionnaire with demographic and perception sections was sent through email and other social media platforms, along with the physical distribution of the questionnaire. In total 440 responses were collected for the study.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886347"/>
            <a:ext cx="4871814"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Data Analysis Techniques</a:t>
            </a:r>
            <a:endParaRPr lang="en-US" sz="3100" dirty="0"/>
          </a:p>
        </p:txBody>
      </p:sp>
      <p:sp>
        <p:nvSpPr>
          <p:cNvPr id="5" name="Shape 3"/>
          <p:cNvSpPr/>
          <p:nvPr/>
        </p:nvSpPr>
        <p:spPr>
          <a:xfrm>
            <a:off x="1273746" y="2835275"/>
            <a:ext cx="6596509" cy="2136378"/>
          </a:xfrm>
          <a:prstGeom prst="roundRect">
            <a:avLst>
              <a:gd name="adj" fmla="val 3900"/>
            </a:avLst>
          </a:prstGeom>
          <a:noFill/>
          <a:ln w="7620">
            <a:solidFill>
              <a:srgbClr val="000000">
                <a:alpha val="8000"/>
              </a:srgbClr>
            </a:solidFill>
            <a:prstDash val="solid"/>
          </a:ln>
        </p:spPr>
      </p:sp>
      <p:sp>
        <p:nvSpPr>
          <p:cNvPr id="6" name="Shape 4"/>
          <p:cNvSpPr/>
          <p:nvPr/>
        </p:nvSpPr>
        <p:spPr>
          <a:xfrm>
            <a:off x="1278508" y="2841626"/>
            <a:ext cx="6586984" cy="530919"/>
          </a:xfrm>
          <a:prstGeom prst="rect">
            <a:avLst/>
          </a:prstGeom>
          <a:solidFill>
            <a:srgbClr val="FFFFFF">
              <a:alpha val="4000"/>
            </a:srgbClr>
          </a:solidFill>
          <a:ln/>
        </p:spPr>
      </p:sp>
      <p:sp>
        <p:nvSpPr>
          <p:cNvPr id="7" name="Text 5"/>
          <p:cNvSpPr/>
          <p:nvPr/>
        </p:nvSpPr>
        <p:spPr>
          <a:xfrm>
            <a:off x="1417365" y="2959001"/>
            <a:ext cx="6309271"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Loglinear Analysis</a:t>
            </a:r>
            <a:endParaRPr lang="en-US" sz="1200" dirty="0"/>
          </a:p>
        </p:txBody>
      </p:sp>
      <p:sp>
        <p:nvSpPr>
          <p:cNvPr id="8" name="Shape 6"/>
          <p:cNvSpPr/>
          <p:nvPr/>
        </p:nvSpPr>
        <p:spPr>
          <a:xfrm>
            <a:off x="1278508" y="3372545"/>
            <a:ext cx="6586984" cy="530919"/>
          </a:xfrm>
          <a:prstGeom prst="rect">
            <a:avLst/>
          </a:prstGeom>
          <a:solidFill>
            <a:srgbClr val="000000">
              <a:alpha val="4000"/>
            </a:srgbClr>
          </a:solidFill>
          <a:ln/>
        </p:spPr>
      </p:sp>
      <p:sp>
        <p:nvSpPr>
          <p:cNvPr id="9" name="Text 7"/>
          <p:cNvSpPr/>
          <p:nvPr/>
        </p:nvSpPr>
        <p:spPr>
          <a:xfrm>
            <a:off x="1417365" y="3489920"/>
            <a:ext cx="6309271"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Cluster Analysis</a:t>
            </a:r>
            <a:endParaRPr lang="en-US" sz="1200" dirty="0"/>
          </a:p>
        </p:txBody>
      </p:sp>
      <p:sp>
        <p:nvSpPr>
          <p:cNvPr id="10" name="Shape 8"/>
          <p:cNvSpPr/>
          <p:nvPr/>
        </p:nvSpPr>
        <p:spPr>
          <a:xfrm>
            <a:off x="1278508" y="3903465"/>
            <a:ext cx="6586984" cy="530919"/>
          </a:xfrm>
          <a:prstGeom prst="rect">
            <a:avLst/>
          </a:prstGeom>
          <a:solidFill>
            <a:srgbClr val="FFFFFF">
              <a:alpha val="4000"/>
            </a:srgbClr>
          </a:solidFill>
          <a:ln/>
        </p:spPr>
      </p:sp>
      <p:sp>
        <p:nvSpPr>
          <p:cNvPr id="11" name="Text 9"/>
          <p:cNvSpPr/>
          <p:nvPr/>
        </p:nvSpPr>
        <p:spPr>
          <a:xfrm>
            <a:off x="1417365" y="4020840"/>
            <a:ext cx="6309271"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Decision Tree</a:t>
            </a:r>
            <a:endParaRPr lang="en-US" sz="1200" dirty="0"/>
          </a:p>
        </p:txBody>
      </p:sp>
      <p:sp>
        <p:nvSpPr>
          <p:cNvPr id="12" name="Shape 10"/>
          <p:cNvSpPr/>
          <p:nvPr/>
        </p:nvSpPr>
        <p:spPr>
          <a:xfrm>
            <a:off x="1278508" y="4434384"/>
            <a:ext cx="6586984" cy="530919"/>
          </a:xfrm>
          <a:prstGeom prst="rect">
            <a:avLst/>
          </a:prstGeom>
          <a:solidFill>
            <a:srgbClr val="000000">
              <a:alpha val="4000"/>
            </a:srgbClr>
          </a:solidFill>
          <a:ln/>
        </p:spPr>
      </p:sp>
      <p:sp>
        <p:nvSpPr>
          <p:cNvPr id="13" name="Text 11"/>
          <p:cNvSpPr/>
          <p:nvPr/>
        </p:nvSpPr>
        <p:spPr>
          <a:xfrm>
            <a:off x="1417365" y="4551759"/>
            <a:ext cx="6309271"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Logistic Regression Analysis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5715000" y="0"/>
            <a:ext cx="3429000" cy="6858000"/>
          </a:xfrm>
          <a:prstGeom prst="rect">
            <a:avLst/>
          </a:prstGeom>
        </p:spPr>
      </p:pic>
      <p:sp>
        <p:nvSpPr>
          <p:cNvPr id="5" name="Text 2"/>
          <p:cNvSpPr/>
          <p:nvPr/>
        </p:nvSpPr>
        <p:spPr>
          <a:xfrm>
            <a:off x="520750" y="982663"/>
            <a:ext cx="4673501" cy="3194050"/>
          </a:xfrm>
          <a:prstGeom prst="rect">
            <a:avLst/>
          </a:prstGeom>
          <a:noFill/>
          <a:ln/>
        </p:spPr>
        <p:txBody>
          <a:bodyPr wrap="square" lIns="64008" tIns="32004" rIns="64008" bIns="32004" rtlCol="0" anchor="t"/>
          <a:lstStyle/>
          <a:p>
            <a:pPr>
              <a:lnSpc>
                <a:spcPts val="5282"/>
              </a:lnSpc>
            </a:pPr>
            <a:r>
              <a:rPr lang="en-US" sz="4200" b="1" dirty="0">
                <a:solidFill>
                  <a:srgbClr val="233939"/>
                </a:solidFill>
                <a:latin typeface="Syne" pitchFamily="34" charset="0"/>
                <a:ea typeface="Syne" pitchFamily="34" charset="-122"/>
                <a:cs typeface="Syne" pitchFamily="34" charset="-120"/>
              </a:rPr>
              <a:t>Log linear</a:t>
            </a:r>
          </a:p>
          <a:p>
            <a:pPr>
              <a:lnSpc>
                <a:spcPts val="5282"/>
              </a:lnSpc>
            </a:pPr>
            <a:r>
              <a:rPr lang="en-US" sz="4200" b="1" dirty="0">
                <a:solidFill>
                  <a:srgbClr val="233939"/>
                </a:solidFill>
                <a:latin typeface="Syne" pitchFamily="34" charset="0"/>
                <a:ea typeface="Syne" pitchFamily="34" charset="-122"/>
                <a:cs typeface="Syne" pitchFamily="34" charset="-120"/>
              </a:rPr>
              <a:t>Analysis: Understanding Customer Loyalty</a:t>
            </a:r>
            <a:endParaRPr lang="en-US" sz="4200" dirty="0"/>
          </a:p>
        </p:txBody>
      </p:sp>
      <p:sp>
        <p:nvSpPr>
          <p:cNvPr id="6" name="Text 3"/>
          <p:cNvSpPr/>
          <p:nvPr/>
        </p:nvSpPr>
        <p:spPr>
          <a:xfrm>
            <a:off x="520750" y="4454426"/>
            <a:ext cx="4673501"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This chapter explores the interplay between demographic factors and customer loyalty in the Indian domestic aviation sector. We aim to understand the drivers of travel behavior and loyalty among customers.</a:t>
            </a:r>
            <a:endParaRPr lang="en-US" sz="1200" dirty="0"/>
          </a:p>
        </p:txBody>
      </p:sp>
      <p:sp>
        <p:nvSpPr>
          <p:cNvPr id="7" name="Shape 4"/>
          <p:cNvSpPr/>
          <p:nvPr/>
        </p:nvSpPr>
        <p:spPr>
          <a:xfrm>
            <a:off x="520750" y="5565081"/>
            <a:ext cx="222126" cy="296168"/>
          </a:xfrm>
          <a:prstGeom prst="roundRect">
            <a:avLst>
              <a:gd name="adj" fmla="val 25726039"/>
            </a:avLst>
          </a:prstGeom>
          <a:noFill/>
          <a:ln w="7620">
            <a:solidFill>
              <a:srgbClr val="FFFFF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6858000" y="0"/>
            <a:ext cx="2286000" cy="6858000"/>
          </a:xfrm>
          <a:prstGeom prst="rect">
            <a:avLst/>
          </a:prstGeom>
        </p:spPr>
      </p:pic>
      <p:sp>
        <p:nvSpPr>
          <p:cNvPr id="5" name="Text 2"/>
          <p:cNvSpPr/>
          <p:nvPr/>
        </p:nvSpPr>
        <p:spPr>
          <a:xfrm>
            <a:off x="520750" y="1956098"/>
            <a:ext cx="4793382"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Objectives and Rationale</a:t>
            </a:r>
            <a:endParaRPr lang="en-US" sz="3100" dirty="0"/>
          </a:p>
        </p:txBody>
      </p:sp>
      <p:sp>
        <p:nvSpPr>
          <p:cNvPr id="6" name="Shape 3"/>
          <p:cNvSpPr/>
          <p:nvPr/>
        </p:nvSpPr>
        <p:spPr>
          <a:xfrm>
            <a:off x="520750" y="2957116"/>
            <a:ext cx="312464" cy="416619"/>
          </a:xfrm>
          <a:prstGeom prst="roundRect">
            <a:avLst>
              <a:gd name="adj" fmla="val 20000"/>
            </a:avLst>
          </a:prstGeom>
          <a:solidFill>
            <a:srgbClr val="DDEEE6"/>
          </a:solidFill>
          <a:ln w="7620">
            <a:solidFill>
              <a:srgbClr val="C3D4CC"/>
            </a:solidFill>
            <a:prstDash val="solid"/>
          </a:ln>
        </p:spPr>
      </p:sp>
      <p:sp>
        <p:nvSpPr>
          <p:cNvPr id="7" name="Text 4"/>
          <p:cNvSpPr/>
          <p:nvPr/>
        </p:nvSpPr>
        <p:spPr>
          <a:xfrm>
            <a:off x="636314" y="2991843"/>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8" name="Text 5"/>
          <p:cNvSpPr/>
          <p:nvPr/>
        </p:nvSpPr>
        <p:spPr>
          <a:xfrm>
            <a:off x="972071" y="3020715"/>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Objective</a:t>
            </a:r>
            <a:endParaRPr lang="en-US" sz="1500" dirty="0"/>
          </a:p>
        </p:txBody>
      </p:sp>
      <p:sp>
        <p:nvSpPr>
          <p:cNvPr id="9" name="Text 6"/>
          <p:cNvSpPr/>
          <p:nvPr/>
        </p:nvSpPr>
        <p:spPr>
          <a:xfrm>
            <a:off x="972071" y="3421063"/>
            <a:ext cx="2387501"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Investigate demographic factors influencing travel and loyalty towards Indian domestic airlines.</a:t>
            </a:r>
            <a:endParaRPr lang="en-US" sz="1200" dirty="0"/>
          </a:p>
        </p:txBody>
      </p:sp>
      <p:sp>
        <p:nvSpPr>
          <p:cNvPr id="10" name="Shape 7"/>
          <p:cNvSpPr/>
          <p:nvPr/>
        </p:nvSpPr>
        <p:spPr>
          <a:xfrm>
            <a:off x="3498429" y="2957116"/>
            <a:ext cx="312464" cy="416619"/>
          </a:xfrm>
          <a:prstGeom prst="roundRect">
            <a:avLst>
              <a:gd name="adj" fmla="val 20000"/>
            </a:avLst>
          </a:prstGeom>
          <a:solidFill>
            <a:srgbClr val="DDEEE6"/>
          </a:solidFill>
          <a:ln w="7620">
            <a:solidFill>
              <a:srgbClr val="C3D4CC"/>
            </a:solidFill>
            <a:prstDash val="solid"/>
          </a:ln>
        </p:spPr>
      </p:sp>
      <p:sp>
        <p:nvSpPr>
          <p:cNvPr id="11" name="Text 8"/>
          <p:cNvSpPr/>
          <p:nvPr/>
        </p:nvSpPr>
        <p:spPr>
          <a:xfrm>
            <a:off x="3589660" y="2991843"/>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2" name="Text 9"/>
          <p:cNvSpPr/>
          <p:nvPr/>
        </p:nvSpPr>
        <p:spPr>
          <a:xfrm>
            <a:off x="3949750" y="3020715"/>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Rationale</a:t>
            </a:r>
            <a:endParaRPr lang="en-US" sz="1500" dirty="0"/>
          </a:p>
        </p:txBody>
      </p:sp>
      <p:sp>
        <p:nvSpPr>
          <p:cNvPr id="13" name="Text 10"/>
          <p:cNvSpPr/>
          <p:nvPr/>
        </p:nvSpPr>
        <p:spPr>
          <a:xfrm>
            <a:off x="3949750" y="3421063"/>
            <a:ext cx="2387501" cy="1480840"/>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Loglinear analysis allows examining complex relationships between categorical variables, ideal for studying associations among demographics and loyalty indicators.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201044"/>
            <a:ext cx="6447830"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Methodology and Data Collection</a:t>
            </a:r>
            <a:endParaRPr lang="en-US" sz="3100" dirty="0"/>
          </a:p>
        </p:txBody>
      </p:sp>
      <p:sp>
        <p:nvSpPr>
          <p:cNvPr id="5" name="Shape 3"/>
          <p:cNvSpPr/>
          <p:nvPr/>
        </p:nvSpPr>
        <p:spPr>
          <a:xfrm>
            <a:off x="4558159" y="2149971"/>
            <a:ext cx="27756" cy="3506986"/>
          </a:xfrm>
          <a:prstGeom prst="roundRect">
            <a:avLst>
              <a:gd name="adj" fmla="val 225151"/>
            </a:avLst>
          </a:prstGeom>
          <a:solidFill>
            <a:srgbClr val="C3D4CC"/>
          </a:solidFill>
          <a:ln/>
        </p:spPr>
      </p:sp>
      <p:sp>
        <p:nvSpPr>
          <p:cNvPr id="6" name="Shape 4"/>
          <p:cNvSpPr/>
          <p:nvPr/>
        </p:nvSpPr>
        <p:spPr>
          <a:xfrm>
            <a:off x="3929770" y="2484388"/>
            <a:ext cx="485998" cy="37008"/>
          </a:xfrm>
          <a:prstGeom prst="roundRect">
            <a:avLst>
              <a:gd name="adj" fmla="val 225151"/>
            </a:avLst>
          </a:prstGeom>
          <a:solidFill>
            <a:srgbClr val="C3D4CC"/>
          </a:solidFill>
          <a:ln/>
        </p:spPr>
      </p:sp>
      <p:sp>
        <p:nvSpPr>
          <p:cNvPr id="7" name="Shape 5"/>
          <p:cNvSpPr/>
          <p:nvPr/>
        </p:nvSpPr>
        <p:spPr>
          <a:xfrm>
            <a:off x="4415768" y="2294632"/>
            <a:ext cx="312464" cy="416619"/>
          </a:xfrm>
          <a:prstGeom prst="roundRect">
            <a:avLst>
              <a:gd name="adj" fmla="val 20000"/>
            </a:avLst>
          </a:prstGeom>
          <a:solidFill>
            <a:srgbClr val="DDEEE6"/>
          </a:solidFill>
          <a:ln w="7620">
            <a:solidFill>
              <a:srgbClr val="C3D4CC"/>
            </a:solidFill>
            <a:prstDash val="solid"/>
          </a:ln>
        </p:spPr>
      </p:sp>
      <p:sp>
        <p:nvSpPr>
          <p:cNvPr id="8" name="Text 6"/>
          <p:cNvSpPr/>
          <p:nvPr/>
        </p:nvSpPr>
        <p:spPr>
          <a:xfrm>
            <a:off x="4531333" y="2329359"/>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9" name="Text 7"/>
          <p:cNvSpPr/>
          <p:nvPr/>
        </p:nvSpPr>
        <p:spPr>
          <a:xfrm>
            <a:off x="2072283" y="2335113"/>
            <a:ext cx="1735931" cy="289322"/>
          </a:xfrm>
          <a:prstGeom prst="rect">
            <a:avLst/>
          </a:prstGeom>
          <a:noFill/>
          <a:ln/>
        </p:spPr>
        <p:txBody>
          <a:bodyPr wrap="none" lIns="64008" tIns="32004" rIns="64008" bIns="32004" rtlCol="0" anchor="t"/>
          <a:lstStyle/>
          <a:p>
            <a:pPr algn="r">
              <a:lnSpc>
                <a:spcPts val="1914"/>
              </a:lnSpc>
            </a:pPr>
            <a:r>
              <a:rPr lang="en-US" sz="1500" b="1" dirty="0">
                <a:solidFill>
                  <a:srgbClr val="3B4E4E"/>
                </a:solidFill>
                <a:latin typeface="Syne" pitchFamily="34" charset="0"/>
                <a:ea typeface="Syne" pitchFamily="34" charset="-122"/>
                <a:cs typeface="Syne" pitchFamily="34" charset="-120"/>
              </a:rPr>
              <a:t>Data Collection</a:t>
            </a:r>
            <a:endParaRPr lang="en-US" sz="1500" dirty="0"/>
          </a:p>
        </p:txBody>
      </p:sp>
      <p:sp>
        <p:nvSpPr>
          <p:cNvPr id="10" name="Text 8"/>
          <p:cNvSpPr/>
          <p:nvPr/>
        </p:nvSpPr>
        <p:spPr>
          <a:xfrm>
            <a:off x="1273746" y="2735461"/>
            <a:ext cx="2534469" cy="888504"/>
          </a:xfrm>
          <a:prstGeom prst="rect">
            <a:avLst/>
          </a:prstGeom>
          <a:noFill/>
          <a:ln/>
        </p:spPr>
        <p:txBody>
          <a:bodyPr wrap="square" lIns="64008" tIns="32004" rIns="64008" bIns="32004" rtlCol="0" anchor="t"/>
          <a:lstStyle/>
          <a:p>
            <a:pPr algn="r">
              <a:lnSpc>
                <a:spcPts val="1959"/>
              </a:lnSpc>
            </a:pPr>
            <a:r>
              <a:rPr lang="en-US" sz="1200" dirty="0">
                <a:solidFill>
                  <a:srgbClr val="3B4E4E"/>
                </a:solidFill>
                <a:latin typeface="Overpass" pitchFamily="34" charset="0"/>
                <a:ea typeface="Overpass" pitchFamily="34" charset="-122"/>
                <a:cs typeface="Overpass" pitchFamily="34" charset="-120"/>
              </a:rPr>
              <a:t>Primary data collected through a structured survey of 440 passengers in the Indian domestic aviation sector.</a:t>
            </a:r>
            <a:endParaRPr lang="en-US" sz="1200" dirty="0"/>
          </a:p>
        </p:txBody>
      </p:sp>
      <p:sp>
        <p:nvSpPr>
          <p:cNvPr id="11" name="Shape 9"/>
          <p:cNvSpPr/>
          <p:nvPr/>
        </p:nvSpPr>
        <p:spPr>
          <a:xfrm>
            <a:off x="4728233" y="3410099"/>
            <a:ext cx="485998" cy="37008"/>
          </a:xfrm>
          <a:prstGeom prst="roundRect">
            <a:avLst>
              <a:gd name="adj" fmla="val 225151"/>
            </a:avLst>
          </a:prstGeom>
          <a:solidFill>
            <a:srgbClr val="C3D4CC"/>
          </a:solidFill>
          <a:ln/>
        </p:spPr>
      </p:sp>
      <p:sp>
        <p:nvSpPr>
          <p:cNvPr id="12" name="Shape 10"/>
          <p:cNvSpPr/>
          <p:nvPr/>
        </p:nvSpPr>
        <p:spPr>
          <a:xfrm>
            <a:off x="4415768" y="3220344"/>
            <a:ext cx="312464" cy="416619"/>
          </a:xfrm>
          <a:prstGeom prst="roundRect">
            <a:avLst>
              <a:gd name="adj" fmla="val 20000"/>
            </a:avLst>
          </a:prstGeom>
          <a:solidFill>
            <a:srgbClr val="DDEEE6"/>
          </a:solidFill>
          <a:ln w="7620">
            <a:solidFill>
              <a:srgbClr val="C3D4CC"/>
            </a:solidFill>
            <a:prstDash val="solid"/>
          </a:ln>
        </p:spPr>
      </p:sp>
      <p:sp>
        <p:nvSpPr>
          <p:cNvPr id="13" name="Text 11"/>
          <p:cNvSpPr/>
          <p:nvPr/>
        </p:nvSpPr>
        <p:spPr>
          <a:xfrm>
            <a:off x="4507000" y="3255069"/>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4" name="Text 12"/>
          <p:cNvSpPr/>
          <p:nvPr/>
        </p:nvSpPr>
        <p:spPr>
          <a:xfrm>
            <a:off x="5335786" y="3260824"/>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Variable Selection</a:t>
            </a:r>
            <a:endParaRPr lang="en-US" sz="1500" dirty="0"/>
          </a:p>
        </p:txBody>
      </p:sp>
      <p:sp>
        <p:nvSpPr>
          <p:cNvPr id="15" name="Text 13"/>
          <p:cNvSpPr/>
          <p:nvPr/>
        </p:nvSpPr>
        <p:spPr>
          <a:xfrm>
            <a:off x="5335786" y="3661172"/>
            <a:ext cx="2534469"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Four demographic variables selected based on relevance and potential influence on travel and loyalty.</a:t>
            </a:r>
            <a:endParaRPr lang="en-US" sz="1200" dirty="0"/>
          </a:p>
        </p:txBody>
      </p:sp>
      <p:sp>
        <p:nvSpPr>
          <p:cNvPr id="16" name="Shape 14"/>
          <p:cNvSpPr/>
          <p:nvPr/>
        </p:nvSpPr>
        <p:spPr>
          <a:xfrm>
            <a:off x="3929770" y="4332238"/>
            <a:ext cx="485998" cy="37008"/>
          </a:xfrm>
          <a:prstGeom prst="roundRect">
            <a:avLst>
              <a:gd name="adj" fmla="val 225151"/>
            </a:avLst>
          </a:prstGeom>
          <a:solidFill>
            <a:srgbClr val="C3D4CC"/>
          </a:solidFill>
          <a:ln/>
        </p:spPr>
      </p:sp>
      <p:sp>
        <p:nvSpPr>
          <p:cNvPr id="17" name="Shape 15"/>
          <p:cNvSpPr/>
          <p:nvPr/>
        </p:nvSpPr>
        <p:spPr>
          <a:xfrm>
            <a:off x="4415768" y="4142482"/>
            <a:ext cx="312464" cy="416619"/>
          </a:xfrm>
          <a:prstGeom prst="roundRect">
            <a:avLst>
              <a:gd name="adj" fmla="val 20000"/>
            </a:avLst>
          </a:prstGeom>
          <a:solidFill>
            <a:srgbClr val="DDEEE6"/>
          </a:solidFill>
          <a:ln w="7620">
            <a:solidFill>
              <a:srgbClr val="C3D4CC"/>
            </a:solidFill>
            <a:prstDash val="solid"/>
          </a:ln>
        </p:spPr>
      </p:sp>
      <p:sp>
        <p:nvSpPr>
          <p:cNvPr id="18" name="Text 16"/>
          <p:cNvSpPr/>
          <p:nvPr/>
        </p:nvSpPr>
        <p:spPr>
          <a:xfrm>
            <a:off x="4505214" y="4177209"/>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9" name="Text 17"/>
          <p:cNvSpPr/>
          <p:nvPr/>
        </p:nvSpPr>
        <p:spPr>
          <a:xfrm>
            <a:off x="1927399" y="4182963"/>
            <a:ext cx="1880816" cy="289322"/>
          </a:xfrm>
          <a:prstGeom prst="rect">
            <a:avLst/>
          </a:prstGeom>
          <a:noFill/>
          <a:ln/>
        </p:spPr>
        <p:txBody>
          <a:bodyPr wrap="none" lIns="64008" tIns="32004" rIns="64008" bIns="32004" rtlCol="0" anchor="t"/>
          <a:lstStyle/>
          <a:p>
            <a:pPr algn="r">
              <a:lnSpc>
                <a:spcPts val="1914"/>
              </a:lnSpc>
            </a:pPr>
            <a:r>
              <a:rPr lang="en-US" sz="1500" b="1" dirty="0">
                <a:solidFill>
                  <a:srgbClr val="3B4E4E"/>
                </a:solidFill>
                <a:latin typeface="Syne" pitchFamily="34" charset="0"/>
                <a:ea typeface="Syne" pitchFamily="34" charset="-122"/>
                <a:cs typeface="Syne" pitchFamily="34" charset="-120"/>
              </a:rPr>
              <a:t>Software Utilization</a:t>
            </a:r>
            <a:endParaRPr lang="en-US" sz="1500" dirty="0"/>
          </a:p>
        </p:txBody>
      </p:sp>
      <p:sp>
        <p:nvSpPr>
          <p:cNvPr id="20" name="Text 18"/>
          <p:cNvSpPr/>
          <p:nvPr/>
        </p:nvSpPr>
        <p:spPr>
          <a:xfrm>
            <a:off x="1273746" y="4583311"/>
            <a:ext cx="2534469" cy="888504"/>
          </a:xfrm>
          <a:prstGeom prst="rect">
            <a:avLst/>
          </a:prstGeom>
          <a:noFill/>
          <a:ln/>
        </p:spPr>
        <p:txBody>
          <a:bodyPr wrap="square" lIns="64008" tIns="32004" rIns="64008" bIns="32004" rtlCol="0" anchor="t"/>
          <a:lstStyle/>
          <a:p>
            <a:pPr algn="r">
              <a:lnSpc>
                <a:spcPts val="1959"/>
              </a:lnSpc>
            </a:pPr>
            <a:r>
              <a:rPr lang="en-US" sz="1200" dirty="0">
                <a:solidFill>
                  <a:srgbClr val="3B4E4E"/>
                </a:solidFill>
                <a:latin typeface="Overpass" pitchFamily="34" charset="0"/>
                <a:ea typeface="Overpass" pitchFamily="34" charset="-122"/>
                <a:cs typeface="Overpass" pitchFamily="34" charset="-120"/>
              </a:rPr>
              <a:t>IBM SPSS used for data management, descriptive statistics, and loglinear analysis.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2143423"/>
            <a:ext cx="4757291"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Variables and Categories</a:t>
            </a:r>
            <a:endParaRPr lang="en-US" sz="3100" dirty="0"/>
          </a:p>
        </p:txBody>
      </p:sp>
      <p:sp>
        <p:nvSpPr>
          <p:cNvPr id="5" name="Text 3"/>
          <p:cNvSpPr/>
          <p:nvPr/>
        </p:nvSpPr>
        <p:spPr>
          <a:xfrm>
            <a:off x="1273746" y="3184922"/>
            <a:ext cx="1972717" cy="578644"/>
          </a:xfrm>
          <a:prstGeom prst="rect">
            <a:avLst/>
          </a:prstGeom>
          <a:noFill/>
          <a:ln/>
        </p:spPr>
        <p:txBody>
          <a:bodyPr wrap="squar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Purchase Ticket From</a:t>
            </a:r>
            <a:endParaRPr lang="en-US" sz="1500" dirty="0"/>
          </a:p>
        </p:txBody>
      </p:sp>
      <p:sp>
        <p:nvSpPr>
          <p:cNvPr id="6" name="Text 4"/>
          <p:cNvSpPr/>
          <p:nvPr/>
        </p:nvSpPr>
        <p:spPr>
          <a:xfrm>
            <a:off x="1273746" y="3948708"/>
            <a:ext cx="1972717"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Airline website, Travel website, Counter, Travel agent</a:t>
            </a:r>
            <a:endParaRPr lang="en-US" sz="1200" dirty="0"/>
          </a:p>
        </p:txBody>
      </p:sp>
      <p:sp>
        <p:nvSpPr>
          <p:cNvPr id="7" name="Text 5"/>
          <p:cNvSpPr/>
          <p:nvPr/>
        </p:nvSpPr>
        <p:spPr>
          <a:xfrm>
            <a:off x="3589957" y="3184922"/>
            <a:ext cx="1749773" cy="289322"/>
          </a:xfrm>
          <a:prstGeom prst="rect">
            <a:avLst/>
          </a:prstGeom>
          <a:noFill/>
          <a:ln/>
        </p:spPr>
        <p:txBody>
          <a:bodyPr wrap="non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Airlines Used Most</a:t>
            </a:r>
            <a:endParaRPr lang="en-US" sz="1500" dirty="0"/>
          </a:p>
        </p:txBody>
      </p:sp>
      <p:sp>
        <p:nvSpPr>
          <p:cNvPr id="8" name="Text 6"/>
          <p:cNvSpPr/>
          <p:nvPr/>
        </p:nvSpPr>
        <p:spPr>
          <a:xfrm>
            <a:off x="3589958" y="3659386"/>
            <a:ext cx="1972717"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Air Asia India, Air India, Go First, IndiGo, SpiceJet, Vistara, Others</a:t>
            </a:r>
            <a:endParaRPr lang="en-US" sz="1200" dirty="0"/>
          </a:p>
        </p:txBody>
      </p:sp>
      <p:sp>
        <p:nvSpPr>
          <p:cNvPr id="9" name="Text 7"/>
          <p:cNvSpPr/>
          <p:nvPr/>
        </p:nvSpPr>
        <p:spPr>
          <a:xfrm>
            <a:off x="5906170" y="3184922"/>
            <a:ext cx="1972717" cy="578644"/>
          </a:xfrm>
          <a:prstGeom prst="rect">
            <a:avLst/>
          </a:prstGeom>
          <a:noFill/>
          <a:ln/>
        </p:spPr>
        <p:txBody>
          <a:bodyPr wrap="squar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Recommendation / Purchase Again</a:t>
            </a:r>
            <a:endParaRPr lang="en-US" sz="1500" dirty="0"/>
          </a:p>
        </p:txBody>
      </p:sp>
      <p:sp>
        <p:nvSpPr>
          <p:cNvPr id="10" name="Text 8"/>
          <p:cNvSpPr/>
          <p:nvPr/>
        </p:nvSpPr>
        <p:spPr>
          <a:xfrm>
            <a:off x="5906170" y="3948708"/>
            <a:ext cx="1972717"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Yes, No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5" name="Text 2"/>
          <p:cNvSpPr/>
          <p:nvPr/>
        </p:nvSpPr>
        <p:spPr>
          <a:xfrm>
            <a:off x="520749" y="778967"/>
            <a:ext cx="5381774"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Loglinear Analysis Approach</a:t>
            </a:r>
            <a:endParaRPr lang="en-US" sz="3100" dirty="0"/>
          </a:p>
        </p:txBody>
      </p:sp>
      <p:pic>
        <p:nvPicPr>
          <p:cNvPr id="6" name="Image 1" descr="preencoded.png"/>
          <p:cNvPicPr>
            <a:picLocks noChangeAspect="1"/>
          </p:cNvPicPr>
          <p:nvPr/>
        </p:nvPicPr>
        <p:blipFill>
          <a:blip r:embed="rId3"/>
          <a:stretch>
            <a:fillRect/>
          </a:stretch>
        </p:blipFill>
        <p:spPr>
          <a:xfrm>
            <a:off x="520749" y="1635323"/>
            <a:ext cx="694358" cy="1481237"/>
          </a:xfrm>
          <a:prstGeom prst="rect">
            <a:avLst/>
          </a:prstGeom>
        </p:spPr>
      </p:pic>
      <p:sp>
        <p:nvSpPr>
          <p:cNvPr id="7" name="Text 3"/>
          <p:cNvSpPr/>
          <p:nvPr/>
        </p:nvSpPr>
        <p:spPr>
          <a:xfrm>
            <a:off x="1423393" y="1820466"/>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Saturated Model</a:t>
            </a:r>
            <a:endParaRPr lang="en-US" sz="1500" dirty="0"/>
          </a:p>
        </p:txBody>
      </p:sp>
      <p:sp>
        <p:nvSpPr>
          <p:cNvPr id="8" name="Text 4"/>
          <p:cNvSpPr/>
          <p:nvPr/>
        </p:nvSpPr>
        <p:spPr>
          <a:xfrm>
            <a:off x="1423393" y="2220814"/>
            <a:ext cx="491385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Includes all main effects and interactions between variables.</a:t>
            </a:r>
            <a:endParaRPr lang="en-US" sz="1200" dirty="0"/>
          </a:p>
        </p:txBody>
      </p:sp>
      <p:pic>
        <p:nvPicPr>
          <p:cNvPr id="9" name="Image 2" descr="preencoded.png"/>
          <p:cNvPicPr>
            <a:picLocks noChangeAspect="1"/>
          </p:cNvPicPr>
          <p:nvPr/>
        </p:nvPicPr>
        <p:blipFill>
          <a:blip r:embed="rId4"/>
          <a:stretch>
            <a:fillRect/>
          </a:stretch>
        </p:blipFill>
        <p:spPr>
          <a:xfrm>
            <a:off x="520749" y="3116560"/>
            <a:ext cx="694358" cy="1481237"/>
          </a:xfrm>
          <a:prstGeom prst="rect">
            <a:avLst/>
          </a:prstGeom>
        </p:spPr>
      </p:pic>
      <p:sp>
        <p:nvSpPr>
          <p:cNvPr id="10" name="Text 5"/>
          <p:cNvSpPr/>
          <p:nvPr/>
        </p:nvSpPr>
        <p:spPr>
          <a:xfrm>
            <a:off x="1423393" y="3301702"/>
            <a:ext cx="1971005"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Likelihood Ratio Test</a:t>
            </a:r>
            <a:endParaRPr lang="en-US" sz="1500" dirty="0"/>
          </a:p>
        </p:txBody>
      </p:sp>
      <p:sp>
        <p:nvSpPr>
          <p:cNvPr id="11" name="Text 6"/>
          <p:cNvSpPr/>
          <p:nvPr/>
        </p:nvSpPr>
        <p:spPr>
          <a:xfrm>
            <a:off x="1423393" y="3702050"/>
            <a:ext cx="491385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Evaluates significance of each effect (p &lt; 0.05 retained).</a:t>
            </a:r>
            <a:endParaRPr lang="en-US" sz="1200" dirty="0"/>
          </a:p>
        </p:txBody>
      </p:sp>
      <p:pic>
        <p:nvPicPr>
          <p:cNvPr id="12" name="Image 3" descr="preencoded.png"/>
          <p:cNvPicPr>
            <a:picLocks noChangeAspect="1"/>
          </p:cNvPicPr>
          <p:nvPr/>
        </p:nvPicPr>
        <p:blipFill>
          <a:blip r:embed="rId5"/>
          <a:stretch>
            <a:fillRect/>
          </a:stretch>
        </p:blipFill>
        <p:spPr>
          <a:xfrm>
            <a:off x="520749" y="4597797"/>
            <a:ext cx="694358" cy="1481237"/>
          </a:xfrm>
          <a:prstGeom prst="rect">
            <a:avLst/>
          </a:prstGeom>
        </p:spPr>
      </p:pic>
      <p:sp>
        <p:nvSpPr>
          <p:cNvPr id="13" name="Text 7"/>
          <p:cNvSpPr/>
          <p:nvPr/>
        </p:nvSpPr>
        <p:spPr>
          <a:xfrm>
            <a:off x="1423393" y="4782939"/>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Reduced Model</a:t>
            </a:r>
            <a:endParaRPr lang="en-US" sz="1500" dirty="0"/>
          </a:p>
        </p:txBody>
      </p:sp>
      <p:sp>
        <p:nvSpPr>
          <p:cNvPr id="14" name="Text 8"/>
          <p:cNvSpPr/>
          <p:nvPr/>
        </p:nvSpPr>
        <p:spPr>
          <a:xfrm>
            <a:off x="1423393" y="5183287"/>
            <a:ext cx="491385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Retains only significant effects for optimal fit.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324670"/>
            <a:ext cx="4690988" cy="578644"/>
          </a:xfrm>
          <a:prstGeom prst="rect">
            <a:avLst/>
          </a:prstGeom>
          <a:noFill/>
          <a:ln/>
        </p:spPr>
        <p:txBody>
          <a:bodyPr wrap="none" lIns="64008" tIns="32004" rIns="64008" bIns="32004" rtlCol="0" anchor="t"/>
          <a:lstStyle/>
          <a:p>
            <a:pPr>
              <a:lnSpc>
                <a:spcPts val="3828"/>
              </a:lnSpc>
            </a:pPr>
            <a:endParaRPr lang="en-US" sz="3100" dirty="0"/>
          </a:p>
        </p:txBody>
      </p:sp>
      <p:sp>
        <p:nvSpPr>
          <p:cNvPr id="5" name="Shape 3"/>
          <p:cNvSpPr/>
          <p:nvPr/>
        </p:nvSpPr>
        <p:spPr>
          <a:xfrm>
            <a:off x="1273746" y="2273598"/>
            <a:ext cx="6596509" cy="3259633"/>
          </a:xfrm>
          <a:prstGeom prst="roundRect">
            <a:avLst>
              <a:gd name="adj" fmla="val 2556"/>
            </a:avLst>
          </a:prstGeom>
          <a:noFill/>
          <a:ln w="7620">
            <a:solidFill>
              <a:srgbClr val="000000">
                <a:alpha val="8000"/>
              </a:srgbClr>
            </a:solidFill>
            <a:prstDash val="solid"/>
          </a:ln>
        </p:spPr>
      </p:sp>
      <p:sp>
        <p:nvSpPr>
          <p:cNvPr id="7" name="Text 5"/>
          <p:cNvSpPr/>
          <p:nvPr/>
        </p:nvSpPr>
        <p:spPr>
          <a:xfrm>
            <a:off x="1417364" y="2397324"/>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K</a:t>
            </a:r>
            <a:endParaRPr lang="en-US" sz="1200" dirty="0"/>
          </a:p>
        </p:txBody>
      </p:sp>
      <p:sp>
        <p:nvSpPr>
          <p:cNvPr id="8" name="Text 6"/>
          <p:cNvSpPr/>
          <p:nvPr/>
        </p:nvSpPr>
        <p:spPr>
          <a:xfrm>
            <a:off x="4713238" y="2397324"/>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Effects</a:t>
            </a:r>
            <a:endParaRPr lang="en-US" sz="1200" dirty="0"/>
          </a:p>
        </p:txBody>
      </p:sp>
      <p:sp>
        <p:nvSpPr>
          <p:cNvPr id="9" name="Shape 7"/>
          <p:cNvSpPr/>
          <p:nvPr/>
        </p:nvSpPr>
        <p:spPr>
          <a:xfrm>
            <a:off x="1278508" y="2810868"/>
            <a:ext cx="6586984" cy="530919"/>
          </a:xfrm>
          <a:prstGeom prst="rect">
            <a:avLst/>
          </a:prstGeom>
          <a:solidFill>
            <a:srgbClr val="000000">
              <a:alpha val="4000"/>
            </a:srgbClr>
          </a:solidFill>
          <a:ln/>
        </p:spPr>
      </p:sp>
      <p:sp>
        <p:nvSpPr>
          <p:cNvPr id="10" name="Text 8"/>
          <p:cNvSpPr/>
          <p:nvPr/>
        </p:nvSpPr>
        <p:spPr>
          <a:xfrm>
            <a:off x="1417364" y="2928244"/>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1</a:t>
            </a:r>
            <a:endParaRPr lang="en-US" sz="1200" dirty="0"/>
          </a:p>
        </p:txBody>
      </p:sp>
      <p:sp>
        <p:nvSpPr>
          <p:cNvPr id="11" name="Text 9"/>
          <p:cNvSpPr/>
          <p:nvPr/>
        </p:nvSpPr>
        <p:spPr>
          <a:xfrm>
            <a:off x="4713238" y="2928244"/>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Main effects (Tktbuy, Airline, Again, Recommend)</a:t>
            </a:r>
            <a:endParaRPr lang="en-US" sz="1200" dirty="0"/>
          </a:p>
        </p:txBody>
      </p:sp>
      <p:sp>
        <p:nvSpPr>
          <p:cNvPr id="12" name="Shape 10"/>
          <p:cNvSpPr/>
          <p:nvPr/>
        </p:nvSpPr>
        <p:spPr>
          <a:xfrm>
            <a:off x="1278508" y="3341787"/>
            <a:ext cx="6586984" cy="827088"/>
          </a:xfrm>
          <a:prstGeom prst="rect">
            <a:avLst/>
          </a:prstGeom>
          <a:solidFill>
            <a:srgbClr val="FFFFFF">
              <a:alpha val="4000"/>
            </a:srgbClr>
          </a:solidFill>
          <a:ln/>
        </p:spPr>
      </p:sp>
      <p:sp>
        <p:nvSpPr>
          <p:cNvPr id="13" name="Text 11"/>
          <p:cNvSpPr/>
          <p:nvPr/>
        </p:nvSpPr>
        <p:spPr>
          <a:xfrm>
            <a:off x="1417364" y="3459163"/>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2</a:t>
            </a:r>
            <a:endParaRPr lang="en-US" sz="1200" dirty="0"/>
          </a:p>
        </p:txBody>
      </p:sp>
      <p:sp>
        <p:nvSpPr>
          <p:cNvPr id="14" name="Text 12"/>
          <p:cNvSpPr/>
          <p:nvPr/>
        </p:nvSpPr>
        <p:spPr>
          <a:xfrm>
            <a:off x="4713238" y="3459163"/>
            <a:ext cx="3013398"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2-way interactions (Tktbuy*Airline, Again*Recommend, etc.)</a:t>
            </a:r>
            <a:endParaRPr lang="en-US" sz="1200" dirty="0"/>
          </a:p>
        </p:txBody>
      </p:sp>
      <p:sp>
        <p:nvSpPr>
          <p:cNvPr id="15" name="Shape 13"/>
          <p:cNvSpPr/>
          <p:nvPr/>
        </p:nvSpPr>
        <p:spPr>
          <a:xfrm>
            <a:off x="1278508" y="4168875"/>
            <a:ext cx="6586984" cy="530919"/>
          </a:xfrm>
          <a:prstGeom prst="rect">
            <a:avLst/>
          </a:prstGeom>
          <a:solidFill>
            <a:srgbClr val="000000">
              <a:alpha val="4000"/>
            </a:srgbClr>
          </a:solidFill>
          <a:ln/>
        </p:spPr>
      </p:sp>
      <p:sp>
        <p:nvSpPr>
          <p:cNvPr id="16" name="Text 14"/>
          <p:cNvSpPr/>
          <p:nvPr/>
        </p:nvSpPr>
        <p:spPr>
          <a:xfrm>
            <a:off x="1417364" y="4286250"/>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3</a:t>
            </a:r>
            <a:endParaRPr lang="en-US" sz="1200" dirty="0"/>
          </a:p>
        </p:txBody>
      </p:sp>
      <p:sp>
        <p:nvSpPr>
          <p:cNvPr id="17" name="Text 15"/>
          <p:cNvSpPr/>
          <p:nvPr/>
        </p:nvSpPr>
        <p:spPr>
          <a:xfrm>
            <a:off x="4713238" y="4286250"/>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3-way interactions (Tktbuy*Airline*Again, etc.)</a:t>
            </a:r>
            <a:endParaRPr lang="en-US" sz="1200" dirty="0"/>
          </a:p>
        </p:txBody>
      </p:sp>
      <p:sp>
        <p:nvSpPr>
          <p:cNvPr id="18" name="Shape 16"/>
          <p:cNvSpPr/>
          <p:nvPr/>
        </p:nvSpPr>
        <p:spPr>
          <a:xfrm>
            <a:off x="1278508" y="4699794"/>
            <a:ext cx="6586984" cy="827088"/>
          </a:xfrm>
          <a:prstGeom prst="rect">
            <a:avLst/>
          </a:prstGeom>
          <a:solidFill>
            <a:srgbClr val="FFFFFF">
              <a:alpha val="4000"/>
            </a:srgbClr>
          </a:solidFill>
          <a:ln/>
        </p:spPr>
      </p:sp>
      <p:sp>
        <p:nvSpPr>
          <p:cNvPr id="19" name="Text 17"/>
          <p:cNvSpPr/>
          <p:nvPr/>
        </p:nvSpPr>
        <p:spPr>
          <a:xfrm>
            <a:off x="1417364" y="4817169"/>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4</a:t>
            </a:r>
            <a:endParaRPr lang="en-US" sz="1200" dirty="0"/>
          </a:p>
        </p:txBody>
      </p:sp>
      <p:sp>
        <p:nvSpPr>
          <p:cNvPr id="20" name="Text 18"/>
          <p:cNvSpPr/>
          <p:nvPr/>
        </p:nvSpPr>
        <p:spPr>
          <a:xfrm>
            <a:off x="4713238" y="4817170"/>
            <a:ext cx="3013398"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4-way interaction (Tktbuy*Airline*Again*Recommend)</a:t>
            </a:r>
            <a:endParaRPr lang="en-US" sz="1200" dirty="0"/>
          </a:p>
        </p:txBody>
      </p:sp>
      <p:graphicFrame>
        <p:nvGraphicFramePr>
          <p:cNvPr id="22" name="Table 21"/>
          <p:cNvGraphicFramePr>
            <a:graphicFrameLocks noGrp="1"/>
          </p:cNvGraphicFramePr>
          <p:nvPr>
            <p:extLst>
              <p:ext uri="{D42A27DB-BD31-4B8C-83A1-F6EECF244321}">
                <p14:modId xmlns:p14="http://schemas.microsoft.com/office/powerpoint/2010/main" val="1840292418"/>
              </p:ext>
            </p:extLst>
          </p:nvPr>
        </p:nvGraphicFramePr>
        <p:xfrm>
          <a:off x="971600" y="548681"/>
          <a:ext cx="7200800" cy="5482553"/>
        </p:xfrm>
        <a:graphic>
          <a:graphicData uri="http://schemas.openxmlformats.org/drawingml/2006/table">
            <a:tbl>
              <a:tblPr>
                <a:tableStyleId>{5C22544A-7EE6-4342-B048-85BDC9FD1C3A}</a:tableStyleId>
              </a:tblPr>
              <a:tblGrid>
                <a:gridCol w="1052757">
                  <a:extLst>
                    <a:ext uri="{9D8B030D-6E8A-4147-A177-3AD203B41FA5}">
                      <a16:colId xmlns:a16="http://schemas.microsoft.com/office/drawing/2014/main" xmlns="" val="20000"/>
                    </a:ext>
                  </a:extLst>
                </a:gridCol>
                <a:gridCol w="1782918">
                  <a:extLst>
                    <a:ext uri="{9D8B030D-6E8A-4147-A177-3AD203B41FA5}">
                      <a16:colId xmlns:a16="http://schemas.microsoft.com/office/drawing/2014/main" xmlns="" val="20001"/>
                    </a:ext>
                  </a:extLst>
                </a:gridCol>
                <a:gridCol w="577504">
                  <a:extLst>
                    <a:ext uri="{9D8B030D-6E8A-4147-A177-3AD203B41FA5}">
                      <a16:colId xmlns:a16="http://schemas.microsoft.com/office/drawing/2014/main" xmlns="" val="20002"/>
                    </a:ext>
                  </a:extLst>
                </a:gridCol>
                <a:gridCol w="1064278">
                  <a:extLst>
                    <a:ext uri="{9D8B030D-6E8A-4147-A177-3AD203B41FA5}">
                      <a16:colId xmlns:a16="http://schemas.microsoft.com/office/drawing/2014/main" xmlns="" val="20003"/>
                    </a:ext>
                  </a:extLst>
                </a:gridCol>
                <a:gridCol w="1064278">
                  <a:extLst>
                    <a:ext uri="{9D8B030D-6E8A-4147-A177-3AD203B41FA5}">
                      <a16:colId xmlns:a16="http://schemas.microsoft.com/office/drawing/2014/main" xmlns="" val="20004"/>
                    </a:ext>
                  </a:extLst>
                </a:gridCol>
                <a:gridCol w="1245739">
                  <a:extLst>
                    <a:ext uri="{9D8B030D-6E8A-4147-A177-3AD203B41FA5}">
                      <a16:colId xmlns:a16="http://schemas.microsoft.com/office/drawing/2014/main" xmlns="" val="20005"/>
                    </a:ext>
                  </a:extLst>
                </a:gridCol>
                <a:gridCol w="413326">
                  <a:extLst>
                    <a:ext uri="{9D8B030D-6E8A-4147-A177-3AD203B41FA5}">
                      <a16:colId xmlns:a16="http://schemas.microsoft.com/office/drawing/2014/main" xmlns="" val="20006"/>
                    </a:ext>
                  </a:extLst>
                </a:gridCol>
              </a:tblGrid>
              <a:tr h="254056">
                <a:tc rowSpan="2">
                  <a:txBody>
                    <a:bodyPr/>
                    <a:lstStyle/>
                    <a:p>
                      <a:pPr algn="ctr">
                        <a:lnSpc>
                          <a:spcPct val="150000"/>
                        </a:lnSpc>
                        <a:spcAft>
                          <a:spcPts val="0"/>
                        </a:spcAft>
                      </a:pPr>
                      <a:r>
                        <a:rPr lang="en-IN" sz="900" kern="100">
                          <a:effectLst/>
                        </a:rPr>
                        <a:t>K</a:t>
                      </a:r>
                      <a:endParaRPr lang="en-IN" sz="900" kern="100">
                        <a:effectLst/>
                        <a:latin typeface="Garamond"/>
                        <a:ea typeface="Calibri"/>
                        <a:cs typeface="Mangal"/>
                      </a:endParaRPr>
                    </a:p>
                  </a:txBody>
                  <a:tcPr marL="7129" marR="7129" marT="7129" marB="0" anchor="b"/>
                </a:tc>
                <a:tc rowSpan="2">
                  <a:txBody>
                    <a:bodyPr/>
                    <a:lstStyle/>
                    <a:p>
                      <a:pPr algn="ctr">
                        <a:lnSpc>
                          <a:spcPct val="150000"/>
                        </a:lnSpc>
                        <a:spcAft>
                          <a:spcPts val="0"/>
                        </a:spcAft>
                      </a:pPr>
                      <a:r>
                        <a:rPr lang="en-US" sz="900" kern="100">
                          <a:effectLst/>
                        </a:rPr>
                        <a:t>Main effects and Interaction effects</a:t>
                      </a:r>
                      <a:endParaRPr lang="en-IN" sz="900" kern="100">
                        <a:effectLst/>
                        <a:latin typeface="Garamond"/>
                        <a:ea typeface="Calibri"/>
                        <a:cs typeface="Mangal"/>
                      </a:endParaRPr>
                    </a:p>
                  </a:txBody>
                  <a:tcPr marL="7129" marR="7129" marT="7129" marB="0" anchor="b"/>
                </a:tc>
                <a:tc rowSpan="2">
                  <a:txBody>
                    <a:bodyPr/>
                    <a:lstStyle/>
                    <a:p>
                      <a:pPr algn="ctr">
                        <a:lnSpc>
                          <a:spcPct val="150000"/>
                        </a:lnSpc>
                        <a:spcAft>
                          <a:spcPts val="0"/>
                        </a:spcAft>
                      </a:pPr>
                      <a:r>
                        <a:rPr lang="en-IN" sz="900" kern="100">
                          <a:effectLst/>
                        </a:rPr>
                        <a:t>df</a:t>
                      </a:r>
                      <a:endParaRPr lang="en-IN" sz="900" kern="100">
                        <a:effectLst/>
                        <a:latin typeface="Garamond"/>
                        <a:ea typeface="Calibri"/>
                        <a:cs typeface="Mangal"/>
                      </a:endParaRPr>
                    </a:p>
                  </a:txBody>
                  <a:tcPr marL="7129" marR="7129" marT="7129" marB="0" anchor="b"/>
                </a:tc>
                <a:tc gridSpan="2">
                  <a:txBody>
                    <a:bodyPr/>
                    <a:lstStyle/>
                    <a:p>
                      <a:pPr algn="ctr">
                        <a:lnSpc>
                          <a:spcPct val="150000"/>
                        </a:lnSpc>
                        <a:spcAft>
                          <a:spcPts val="0"/>
                        </a:spcAft>
                      </a:pPr>
                      <a:r>
                        <a:rPr lang="en-IN" sz="900" kern="100">
                          <a:effectLst/>
                        </a:rPr>
                        <a:t>Likelihood Ratio</a:t>
                      </a:r>
                      <a:endParaRPr lang="en-IN" sz="900" kern="100">
                        <a:effectLst/>
                        <a:latin typeface="Garamond"/>
                        <a:ea typeface="Calibri"/>
                        <a:cs typeface="Mangal"/>
                      </a:endParaRPr>
                    </a:p>
                  </a:txBody>
                  <a:tcPr marL="7129" marR="7129" marT="7129" marB="0" anchor="b"/>
                </a:tc>
                <a:tc hMerge="1">
                  <a:txBody>
                    <a:bodyPr/>
                    <a:lstStyle/>
                    <a:p>
                      <a:endParaRPr lang="en-IN"/>
                    </a:p>
                  </a:txBody>
                  <a:tcPr/>
                </a:tc>
                <a:tc gridSpan="2">
                  <a:txBody>
                    <a:bodyPr/>
                    <a:lstStyle/>
                    <a:p>
                      <a:pPr algn="ctr">
                        <a:lnSpc>
                          <a:spcPct val="150000"/>
                        </a:lnSpc>
                        <a:spcAft>
                          <a:spcPts val="0"/>
                        </a:spcAft>
                      </a:pPr>
                      <a:r>
                        <a:rPr lang="en-IN" sz="900" kern="100">
                          <a:effectLst/>
                        </a:rPr>
                        <a:t>Pearson</a:t>
                      </a:r>
                      <a:endParaRPr lang="en-IN" sz="900" kern="100">
                        <a:effectLst/>
                        <a:latin typeface="Garamond"/>
                        <a:ea typeface="Calibri"/>
                        <a:cs typeface="Mangal"/>
                      </a:endParaRPr>
                    </a:p>
                  </a:txBody>
                  <a:tcPr marL="7129" marR="7129" marT="7129" marB="0" anchor="b"/>
                </a:tc>
                <a:tc hMerge="1">
                  <a:txBody>
                    <a:bodyPr/>
                    <a:lstStyle/>
                    <a:p>
                      <a:endParaRPr lang="en-IN"/>
                    </a:p>
                  </a:txBody>
                  <a:tcPr/>
                </a:tc>
                <a:extLst>
                  <a:ext uri="{0D108BD9-81ED-4DB2-BD59-A6C34878D82A}">
                    <a16:rowId xmlns:a16="http://schemas.microsoft.com/office/drawing/2014/main" xmlns="" val="10000"/>
                  </a:ext>
                </a:extLst>
              </a:tr>
              <a:tr h="25405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a:lnSpc>
                          <a:spcPct val="150000"/>
                        </a:lnSpc>
                        <a:spcAft>
                          <a:spcPts val="0"/>
                        </a:spcAft>
                      </a:pPr>
                      <a:r>
                        <a:rPr lang="en-IN" sz="900" kern="100">
                          <a:effectLst/>
                        </a:rPr>
                        <a:t>Chi-Square</a:t>
                      </a:r>
                      <a:endParaRPr lang="en-IN" sz="900" kern="100">
                        <a:effectLst/>
                        <a:latin typeface="Garamond"/>
                        <a:ea typeface="Calibri"/>
                        <a:cs typeface="Mangal"/>
                      </a:endParaRPr>
                    </a:p>
                  </a:txBody>
                  <a:tcPr marL="7129" marR="7129" marT="7129" marB="0" anchor="b"/>
                </a:tc>
                <a:tc>
                  <a:txBody>
                    <a:bodyPr/>
                    <a:lstStyle/>
                    <a:p>
                      <a:pPr algn="ctr">
                        <a:lnSpc>
                          <a:spcPct val="150000"/>
                        </a:lnSpc>
                        <a:spcAft>
                          <a:spcPts val="0"/>
                        </a:spcAft>
                      </a:pPr>
                      <a:r>
                        <a:rPr lang="en-IN" sz="900" kern="100">
                          <a:effectLst/>
                        </a:rPr>
                        <a:t>Sig.</a:t>
                      </a:r>
                      <a:endParaRPr lang="en-IN" sz="900" kern="100">
                        <a:effectLst/>
                        <a:latin typeface="Garamond"/>
                        <a:ea typeface="Calibri"/>
                        <a:cs typeface="Mangal"/>
                      </a:endParaRPr>
                    </a:p>
                  </a:txBody>
                  <a:tcPr marL="7129" marR="7129" marT="7129" marB="0" anchor="b"/>
                </a:tc>
                <a:tc>
                  <a:txBody>
                    <a:bodyPr/>
                    <a:lstStyle/>
                    <a:p>
                      <a:pPr algn="ctr">
                        <a:lnSpc>
                          <a:spcPct val="150000"/>
                        </a:lnSpc>
                        <a:spcAft>
                          <a:spcPts val="0"/>
                        </a:spcAft>
                      </a:pPr>
                      <a:r>
                        <a:rPr lang="en-IN" sz="900" kern="100">
                          <a:effectLst/>
                        </a:rPr>
                        <a:t>Chi-Square</a:t>
                      </a:r>
                      <a:endParaRPr lang="en-IN" sz="900" kern="100">
                        <a:effectLst/>
                        <a:latin typeface="Garamond"/>
                        <a:ea typeface="Calibri"/>
                        <a:cs typeface="Mangal"/>
                      </a:endParaRPr>
                    </a:p>
                  </a:txBody>
                  <a:tcPr marL="7129" marR="7129" marT="7129" marB="0" anchor="b"/>
                </a:tc>
                <a:tc>
                  <a:txBody>
                    <a:bodyPr/>
                    <a:lstStyle/>
                    <a:p>
                      <a:pPr algn="ctr">
                        <a:lnSpc>
                          <a:spcPct val="150000"/>
                        </a:lnSpc>
                        <a:spcAft>
                          <a:spcPts val="0"/>
                        </a:spcAft>
                      </a:pPr>
                      <a:r>
                        <a:rPr lang="en-IN" sz="900" kern="100">
                          <a:effectLst/>
                        </a:rPr>
                        <a:t>Sig.</a:t>
                      </a:r>
                      <a:endParaRPr lang="en-IN" sz="900" kern="100">
                        <a:effectLst/>
                        <a:latin typeface="Garamond"/>
                        <a:ea typeface="Calibri"/>
                        <a:cs typeface="Mangal"/>
                      </a:endParaRPr>
                    </a:p>
                  </a:txBody>
                  <a:tcPr marL="7129" marR="7129" marT="7129" marB="0" anchor="b"/>
                </a:tc>
                <a:extLst>
                  <a:ext uri="{0D108BD9-81ED-4DB2-BD59-A6C34878D82A}">
                    <a16:rowId xmlns:a16="http://schemas.microsoft.com/office/drawing/2014/main" xmlns="" val="10001"/>
                  </a:ext>
                </a:extLst>
              </a:tr>
              <a:tr h="990648">
                <a:tc>
                  <a:txBody>
                    <a:bodyPr/>
                    <a:lstStyle/>
                    <a:p>
                      <a:pPr>
                        <a:lnSpc>
                          <a:spcPct val="150000"/>
                        </a:lnSpc>
                        <a:spcAft>
                          <a:spcPts val="0"/>
                        </a:spcAft>
                      </a:pPr>
                      <a:r>
                        <a:rPr lang="en-IN" sz="900" kern="100">
                          <a:effectLst/>
                        </a:rPr>
                        <a:t>1</a:t>
                      </a:r>
                      <a:endParaRPr lang="en-IN" sz="900" kern="100">
                        <a:effectLst/>
                        <a:latin typeface="Garamond"/>
                        <a:ea typeface="Calibri"/>
                        <a:cs typeface="Mangal"/>
                      </a:endParaRPr>
                    </a:p>
                  </a:txBody>
                  <a:tcPr marL="7129" marR="7129" marT="7129" marB="0"/>
                </a:tc>
                <a:tc>
                  <a:txBody>
                    <a:bodyPr/>
                    <a:lstStyle/>
                    <a:p>
                      <a:pPr marL="342900" lvl="0" indent="-342900">
                        <a:lnSpc>
                          <a:spcPct val="150000"/>
                        </a:lnSpc>
                        <a:spcAft>
                          <a:spcPts val="0"/>
                        </a:spcAft>
                        <a:buFont typeface="+mj-lt"/>
                        <a:buAutoNum type="romanLcParenR"/>
                        <a:tabLst>
                          <a:tab pos="457200" algn="l"/>
                        </a:tabLst>
                      </a:pPr>
                      <a:r>
                        <a:rPr lang="en-US" sz="900" kern="100">
                          <a:effectLst/>
                        </a:rPr>
                        <a:t>Tktbuy</a:t>
                      </a:r>
                      <a:endParaRPr lang="en-IN" sz="900" kern="100">
                        <a:effectLst/>
                      </a:endParaRPr>
                    </a:p>
                    <a:p>
                      <a:pPr marL="342900" lvl="0" indent="-342900">
                        <a:lnSpc>
                          <a:spcPct val="150000"/>
                        </a:lnSpc>
                        <a:spcAft>
                          <a:spcPts val="0"/>
                        </a:spcAft>
                        <a:buFont typeface="+mj-lt"/>
                        <a:buAutoNum type="romanLcParenR"/>
                        <a:tabLst>
                          <a:tab pos="457200" algn="l"/>
                        </a:tabLst>
                      </a:pPr>
                      <a:r>
                        <a:rPr lang="en-US" sz="900" kern="100">
                          <a:effectLst/>
                        </a:rPr>
                        <a:t> Airline</a:t>
                      </a:r>
                      <a:endParaRPr lang="en-IN" sz="900" kern="100">
                        <a:effectLst/>
                      </a:endParaRPr>
                    </a:p>
                    <a:p>
                      <a:pPr marL="342900" lvl="0" indent="-342900">
                        <a:lnSpc>
                          <a:spcPct val="150000"/>
                        </a:lnSpc>
                        <a:spcAft>
                          <a:spcPts val="0"/>
                        </a:spcAft>
                        <a:buFont typeface="+mj-lt"/>
                        <a:buAutoNum type="romanLcParenR"/>
                        <a:tabLst>
                          <a:tab pos="457200" algn="l"/>
                        </a:tabLst>
                      </a:pPr>
                      <a:r>
                        <a:rPr lang="en-US" sz="900" kern="100">
                          <a:effectLst/>
                        </a:rPr>
                        <a:t>Again</a:t>
                      </a:r>
                      <a:endParaRPr lang="en-IN" sz="900" kern="100">
                        <a:effectLst/>
                      </a:endParaRPr>
                    </a:p>
                    <a:p>
                      <a:pPr marL="342900" lvl="0" indent="-342900">
                        <a:lnSpc>
                          <a:spcPct val="150000"/>
                        </a:lnSpc>
                        <a:spcAft>
                          <a:spcPts val="0"/>
                        </a:spcAft>
                        <a:buFont typeface="+mj-lt"/>
                        <a:buAutoNum type="romanLcParenR"/>
                        <a:tabLst>
                          <a:tab pos="457200" algn="l"/>
                        </a:tabLst>
                      </a:pPr>
                      <a:r>
                        <a:rPr lang="en-US" sz="900" kern="100">
                          <a:effectLst/>
                        </a:rPr>
                        <a:t>Recommend</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111</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a:t>
                      </a:r>
                      <a:r>
                        <a:rPr lang="en-IN" sz="900" kern="100">
                          <a:effectLst/>
                        </a:rPr>
                        <a:t>764.147</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.000</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7</a:t>
                      </a:r>
                      <a:r>
                        <a:rPr lang="en-IN" sz="900" kern="100">
                          <a:effectLst/>
                        </a:rPr>
                        <a:t>329.745</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a:t>
                      </a:r>
                      <a:r>
                        <a:rPr lang="en-IN" sz="900" kern="100">
                          <a:effectLst/>
                        </a:rPr>
                        <a:t>000</a:t>
                      </a:r>
                      <a:endParaRPr lang="en-IN" sz="900" kern="100">
                        <a:effectLst/>
                        <a:latin typeface="Garamond"/>
                        <a:ea typeface="Calibri"/>
                        <a:cs typeface="Mangal"/>
                      </a:endParaRPr>
                    </a:p>
                  </a:txBody>
                  <a:tcPr marL="7129" marR="7129" marT="7129" marB="0"/>
                </a:tc>
                <a:extLst>
                  <a:ext uri="{0D108BD9-81ED-4DB2-BD59-A6C34878D82A}">
                    <a16:rowId xmlns:a16="http://schemas.microsoft.com/office/drawing/2014/main" xmlns="" val="10002"/>
                  </a:ext>
                </a:extLst>
              </a:tr>
              <a:tr h="1453567">
                <a:tc>
                  <a:txBody>
                    <a:bodyPr/>
                    <a:lstStyle/>
                    <a:p>
                      <a:pPr>
                        <a:lnSpc>
                          <a:spcPct val="150000"/>
                        </a:lnSpc>
                        <a:spcAft>
                          <a:spcPts val="0"/>
                        </a:spcAft>
                      </a:pPr>
                      <a:r>
                        <a:rPr lang="en-IN" sz="900" kern="100">
                          <a:effectLst/>
                        </a:rPr>
                        <a:t>2</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i)Tktbuy * Airline </a:t>
                      </a:r>
                      <a:endParaRPr lang="en-IN" sz="900" kern="100">
                        <a:effectLst/>
                      </a:endParaRPr>
                    </a:p>
                    <a:p>
                      <a:pPr>
                        <a:lnSpc>
                          <a:spcPct val="150000"/>
                        </a:lnSpc>
                        <a:spcAft>
                          <a:spcPts val="0"/>
                        </a:spcAft>
                      </a:pPr>
                      <a:r>
                        <a:rPr lang="en-US" sz="900" kern="100">
                          <a:effectLst/>
                        </a:rPr>
                        <a:t>ii) Again * Recommend</a:t>
                      </a:r>
                      <a:endParaRPr lang="en-IN" sz="900" kern="100">
                        <a:effectLst/>
                      </a:endParaRPr>
                    </a:p>
                    <a:p>
                      <a:pPr>
                        <a:lnSpc>
                          <a:spcPct val="150000"/>
                        </a:lnSpc>
                        <a:spcAft>
                          <a:spcPts val="0"/>
                        </a:spcAft>
                      </a:pPr>
                      <a:r>
                        <a:rPr lang="en-US" sz="900" kern="100">
                          <a:effectLst/>
                        </a:rPr>
                        <a:t>iii) Tktbuy * Recommend</a:t>
                      </a:r>
                      <a:endParaRPr lang="en-IN" sz="900" kern="100">
                        <a:effectLst/>
                      </a:endParaRPr>
                    </a:p>
                    <a:p>
                      <a:pPr>
                        <a:lnSpc>
                          <a:spcPct val="150000"/>
                        </a:lnSpc>
                        <a:spcAft>
                          <a:spcPts val="0"/>
                        </a:spcAft>
                      </a:pPr>
                      <a:r>
                        <a:rPr lang="en-US" sz="900" kern="100">
                          <a:effectLst/>
                        </a:rPr>
                        <a:t>iv) Airline * Recommend</a:t>
                      </a:r>
                      <a:endParaRPr lang="en-IN" sz="900" kern="100">
                        <a:effectLst/>
                      </a:endParaRPr>
                    </a:p>
                    <a:p>
                      <a:pPr>
                        <a:lnSpc>
                          <a:spcPct val="150000"/>
                        </a:lnSpc>
                        <a:spcAft>
                          <a:spcPts val="0"/>
                        </a:spcAft>
                      </a:pPr>
                      <a:r>
                        <a:rPr lang="en-US" sz="900" kern="100">
                          <a:effectLst/>
                        </a:rPr>
                        <a:t>V) Tktbuy * Again </a:t>
                      </a:r>
                      <a:endParaRPr lang="en-IN" sz="900" kern="100">
                        <a:effectLst/>
                      </a:endParaRPr>
                    </a:p>
                    <a:p>
                      <a:pPr>
                        <a:lnSpc>
                          <a:spcPct val="150000"/>
                        </a:lnSpc>
                        <a:spcAft>
                          <a:spcPts val="0"/>
                        </a:spcAft>
                      </a:pPr>
                      <a:r>
                        <a:rPr lang="en-US" sz="900" kern="100">
                          <a:effectLst/>
                        </a:rPr>
                        <a:t>vi) Airline * Again </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a:t>
                      </a:r>
                      <a:r>
                        <a:rPr lang="en-IN" sz="900" kern="100">
                          <a:effectLst/>
                        </a:rPr>
                        <a:t>00</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a:t>
                      </a:r>
                      <a:r>
                        <a:rPr lang="en-IN" sz="900" kern="100">
                          <a:effectLst/>
                        </a:rPr>
                        <a:t>127.047</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.000</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a:t>
                      </a:r>
                      <a:r>
                        <a:rPr lang="en-IN" sz="900" kern="100">
                          <a:effectLst/>
                        </a:rPr>
                        <a:t>699.319</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.000</a:t>
                      </a:r>
                      <a:endParaRPr lang="en-IN" sz="900" kern="100">
                        <a:effectLst/>
                        <a:latin typeface="Garamond"/>
                        <a:ea typeface="Calibri"/>
                        <a:cs typeface="Mangal"/>
                      </a:endParaRPr>
                    </a:p>
                  </a:txBody>
                  <a:tcPr marL="7129" marR="7129" marT="7129" marB="0"/>
                </a:tc>
                <a:extLst>
                  <a:ext uri="{0D108BD9-81ED-4DB2-BD59-A6C34878D82A}">
                    <a16:rowId xmlns:a16="http://schemas.microsoft.com/office/drawing/2014/main" xmlns="" val="10003"/>
                  </a:ext>
                </a:extLst>
              </a:tr>
              <a:tr h="1461144">
                <a:tc>
                  <a:txBody>
                    <a:bodyPr/>
                    <a:lstStyle/>
                    <a:p>
                      <a:pPr>
                        <a:lnSpc>
                          <a:spcPct val="150000"/>
                        </a:lnSpc>
                        <a:spcAft>
                          <a:spcPts val="0"/>
                        </a:spcAft>
                      </a:pPr>
                      <a:r>
                        <a:rPr lang="en-IN" sz="900" kern="100">
                          <a:effectLst/>
                        </a:rPr>
                        <a:t>3</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i)Tktbuy * Airline * Again </a:t>
                      </a:r>
                      <a:endParaRPr lang="en-IN" sz="900" kern="100">
                        <a:effectLst/>
                      </a:endParaRPr>
                    </a:p>
                    <a:p>
                      <a:pPr>
                        <a:lnSpc>
                          <a:spcPct val="150000"/>
                        </a:lnSpc>
                        <a:spcAft>
                          <a:spcPts val="0"/>
                        </a:spcAft>
                      </a:pPr>
                      <a:r>
                        <a:rPr lang="en-US" sz="900" kern="100">
                          <a:effectLst/>
                        </a:rPr>
                        <a:t>ii) Tktbuy * Airline * Recommend</a:t>
                      </a:r>
                      <a:endParaRPr lang="en-IN" sz="900" kern="100">
                        <a:effectLst/>
                      </a:endParaRPr>
                    </a:p>
                    <a:p>
                      <a:pPr>
                        <a:lnSpc>
                          <a:spcPct val="150000"/>
                        </a:lnSpc>
                        <a:spcAft>
                          <a:spcPts val="0"/>
                        </a:spcAft>
                      </a:pPr>
                      <a:r>
                        <a:rPr lang="en-US" sz="900" kern="100">
                          <a:effectLst/>
                        </a:rPr>
                        <a:t>iii) Tktbuy * Again * Recommend</a:t>
                      </a:r>
                      <a:endParaRPr lang="en-IN" sz="900" kern="100">
                        <a:effectLst/>
                      </a:endParaRPr>
                    </a:p>
                    <a:p>
                      <a:pPr>
                        <a:lnSpc>
                          <a:spcPct val="150000"/>
                        </a:lnSpc>
                        <a:spcAft>
                          <a:spcPts val="0"/>
                        </a:spcAft>
                      </a:pPr>
                      <a:r>
                        <a:rPr lang="en-US" sz="900" kern="100">
                          <a:effectLst/>
                        </a:rPr>
                        <a:t>iv) Airline * Again * Recommend</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63</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8</a:t>
                      </a:r>
                      <a:r>
                        <a:rPr lang="en-IN" sz="900" kern="100">
                          <a:effectLst/>
                        </a:rPr>
                        <a:t>5.501</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a:t>
                      </a:r>
                      <a:r>
                        <a:rPr lang="en-IN" sz="900" kern="100">
                          <a:effectLst/>
                        </a:rPr>
                        <a:t>031</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2</a:t>
                      </a:r>
                      <a:r>
                        <a:rPr lang="en-IN" sz="900" kern="100">
                          <a:effectLst/>
                        </a:rPr>
                        <a:t>05.043</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.000</a:t>
                      </a:r>
                      <a:endParaRPr lang="en-IN" sz="900" kern="100">
                        <a:effectLst/>
                        <a:latin typeface="Garamond"/>
                        <a:ea typeface="Calibri"/>
                        <a:cs typeface="Mangal"/>
                      </a:endParaRPr>
                    </a:p>
                  </a:txBody>
                  <a:tcPr marL="7129" marR="7129" marT="7129" marB="0"/>
                </a:tc>
                <a:extLst>
                  <a:ext uri="{0D108BD9-81ED-4DB2-BD59-A6C34878D82A}">
                    <a16:rowId xmlns:a16="http://schemas.microsoft.com/office/drawing/2014/main" xmlns="" val="10004"/>
                  </a:ext>
                </a:extLst>
              </a:tr>
              <a:tr h="560970">
                <a:tc>
                  <a:txBody>
                    <a:bodyPr/>
                    <a:lstStyle/>
                    <a:p>
                      <a:pPr>
                        <a:lnSpc>
                          <a:spcPct val="150000"/>
                        </a:lnSpc>
                        <a:spcAft>
                          <a:spcPts val="0"/>
                        </a:spcAft>
                      </a:pPr>
                      <a:r>
                        <a:rPr lang="en-IN" sz="900" kern="100">
                          <a:effectLst/>
                        </a:rPr>
                        <a:t>4</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Tktbuy * Airline * Again * Recommend</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18</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1</a:t>
                      </a:r>
                      <a:r>
                        <a:rPr lang="en-IN" sz="900" kern="100">
                          <a:effectLst/>
                        </a:rPr>
                        <a:t>.353</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1.000</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US" sz="900" kern="100">
                          <a:effectLst/>
                        </a:rPr>
                        <a:t>.</a:t>
                      </a:r>
                      <a:r>
                        <a:rPr lang="en-IN" sz="900" kern="100">
                          <a:effectLst/>
                        </a:rPr>
                        <a:t>742</a:t>
                      </a:r>
                      <a:endParaRPr lang="en-IN" sz="900" kern="100">
                        <a:effectLst/>
                        <a:latin typeface="Garamond"/>
                        <a:ea typeface="Calibri"/>
                        <a:cs typeface="Mangal"/>
                      </a:endParaRPr>
                    </a:p>
                  </a:txBody>
                  <a:tcPr marL="7129" marR="7129" marT="7129" marB="0"/>
                </a:tc>
                <a:tc>
                  <a:txBody>
                    <a:bodyPr/>
                    <a:lstStyle/>
                    <a:p>
                      <a:pPr>
                        <a:lnSpc>
                          <a:spcPct val="150000"/>
                        </a:lnSpc>
                        <a:spcAft>
                          <a:spcPts val="0"/>
                        </a:spcAft>
                      </a:pPr>
                      <a:r>
                        <a:rPr lang="en-IN" sz="900" kern="100">
                          <a:effectLst/>
                        </a:rPr>
                        <a:t>1.000</a:t>
                      </a:r>
                      <a:endParaRPr lang="en-IN" sz="900" kern="100">
                        <a:effectLst/>
                        <a:latin typeface="Garamond"/>
                        <a:ea typeface="Calibri"/>
                        <a:cs typeface="Mangal"/>
                      </a:endParaRPr>
                    </a:p>
                  </a:txBody>
                  <a:tcPr marL="7129" marR="7129" marT="7129" marB="0"/>
                </a:tc>
                <a:extLst>
                  <a:ext uri="{0D108BD9-81ED-4DB2-BD59-A6C34878D82A}">
                    <a16:rowId xmlns:a16="http://schemas.microsoft.com/office/drawing/2014/main" xmlns="" val="10005"/>
                  </a:ext>
                </a:extLst>
              </a:tr>
              <a:tr h="254056">
                <a:tc gridSpan="7">
                  <a:txBody>
                    <a:bodyPr/>
                    <a:lstStyle/>
                    <a:p>
                      <a:pPr>
                        <a:lnSpc>
                          <a:spcPct val="150000"/>
                        </a:lnSpc>
                        <a:spcAft>
                          <a:spcPts val="0"/>
                        </a:spcAft>
                      </a:pPr>
                      <a:r>
                        <a:rPr lang="en-IN" sz="900" kern="100">
                          <a:effectLst/>
                        </a:rPr>
                        <a:t>df used for these tests have NOT been adjusted for structural or sampling zeros. Tests using these df may be conservative.</a:t>
                      </a:r>
                      <a:endParaRPr lang="en-IN" sz="900" kern="100">
                        <a:effectLst/>
                        <a:latin typeface="Garamond"/>
                        <a:ea typeface="Calibri"/>
                        <a:cs typeface="Mangal"/>
                      </a:endParaRPr>
                    </a:p>
                  </a:txBody>
                  <a:tcPr marL="7129" marR="7129" marT="7129"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06"/>
                  </a:ext>
                </a:extLst>
              </a:tr>
              <a:tr h="254056">
                <a:tc gridSpan="7">
                  <a:txBody>
                    <a:bodyPr/>
                    <a:lstStyle/>
                    <a:p>
                      <a:pPr>
                        <a:lnSpc>
                          <a:spcPct val="150000"/>
                        </a:lnSpc>
                        <a:spcAft>
                          <a:spcPts val="0"/>
                        </a:spcAft>
                      </a:pPr>
                      <a:r>
                        <a:rPr lang="en-IN" sz="900" kern="100" dirty="0">
                          <a:effectLst/>
                        </a:rPr>
                        <a:t>a. Tests that k-way and higher order effects are zero.</a:t>
                      </a:r>
                      <a:endParaRPr lang="en-IN" sz="900" kern="100" dirty="0">
                        <a:effectLst/>
                        <a:latin typeface="Garamond"/>
                        <a:ea typeface="Calibri"/>
                        <a:cs typeface="Mangal"/>
                      </a:endParaRPr>
                    </a:p>
                  </a:txBody>
                  <a:tcPr marL="7129" marR="7129" marT="7129"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1661021"/>
            <a:ext cx="413861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Likelihood Ratio Tests</a:t>
            </a:r>
            <a:endParaRPr lang="en-US" sz="3100" dirty="0"/>
          </a:p>
        </p:txBody>
      </p:sp>
      <p:sp>
        <p:nvSpPr>
          <p:cNvPr id="5" name="Shape 3"/>
          <p:cNvSpPr/>
          <p:nvPr/>
        </p:nvSpPr>
        <p:spPr>
          <a:xfrm>
            <a:off x="1273746" y="2754611"/>
            <a:ext cx="312464" cy="416619"/>
          </a:xfrm>
          <a:prstGeom prst="roundRect">
            <a:avLst>
              <a:gd name="adj" fmla="val 20000"/>
            </a:avLst>
          </a:prstGeom>
          <a:solidFill>
            <a:srgbClr val="DDEEE6"/>
          </a:solidFill>
          <a:ln w="7620">
            <a:solidFill>
              <a:srgbClr val="C3D4CC"/>
            </a:solidFill>
            <a:prstDash val="solid"/>
          </a:ln>
        </p:spPr>
      </p:sp>
      <p:sp>
        <p:nvSpPr>
          <p:cNvPr id="6" name="Text 4"/>
          <p:cNvSpPr/>
          <p:nvPr/>
        </p:nvSpPr>
        <p:spPr>
          <a:xfrm>
            <a:off x="1389311" y="2789337"/>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7" name="Text 5"/>
          <p:cNvSpPr/>
          <p:nvPr/>
        </p:nvSpPr>
        <p:spPr>
          <a:xfrm>
            <a:off x="1725067" y="2818209"/>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Main Effects</a:t>
            </a:r>
            <a:endParaRPr lang="en-US" sz="1500" dirty="0"/>
          </a:p>
        </p:txBody>
      </p:sp>
      <p:sp>
        <p:nvSpPr>
          <p:cNvPr id="8" name="Text 6"/>
          <p:cNvSpPr/>
          <p:nvPr/>
        </p:nvSpPr>
        <p:spPr>
          <a:xfrm>
            <a:off x="1725067" y="3218557"/>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All main effects are highly significant (p &lt; 0.001).</a:t>
            </a:r>
            <a:endParaRPr lang="en-US" sz="1200" dirty="0"/>
          </a:p>
        </p:txBody>
      </p:sp>
      <p:sp>
        <p:nvSpPr>
          <p:cNvPr id="9" name="Shape 7"/>
          <p:cNvSpPr/>
          <p:nvPr/>
        </p:nvSpPr>
        <p:spPr>
          <a:xfrm>
            <a:off x="4641429" y="2754611"/>
            <a:ext cx="312464" cy="416619"/>
          </a:xfrm>
          <a:prstGeom prst="roundRect">
            <a:avLst>
              <a:gd name="adj" fmla="val 20000"/>
            </a:avLst>
          </a:prstGeom>
          <a:solidFill>
            <a:srgbClr val="DDEEE6"/>
          </a:solidFill>
          <a:ln w="7620">
            <a:solidFill>
              <a:srgbClr val="C3D4CC"/>
            </a:solidFill>
            <a:prstDash val="solid"/>
          </a:ln>
        </p:spPr>
      </p:sp>
      <p:sp>
        <p:nvSpPr>
          <p:cNvPr id="10" name="Text 8"/>
          <p:cNvSpPr/>
          <p:nvPr/>
        </p:nvSpPr>
        <p:spPr>
          <a:xfrm>
            <a:off x="4732660" y="2789337"/>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1" name="Text 9"/>
          <p:cNvSpPr/>
          <p:nvPr/>
        </p:nvSpPr>
        <p:spPr>
          <a:xfrm>
            <a:off x="5092750" y="2818209"/>
            <a:ext cx="182106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2-Way Interactions</a:t>
            </a:r>
            <a:endParaRPr lang="en-US" sz="1500" dirty="0"/>
          </a:p>
        </p:txBody>
      </p:sp>
      <p:sp>
        <p:nvSpPr>
          <p:cNvPr id="12" name="Text 10"/>
          <p:cNvSpPr/>
          <p:nvPr/>
        </p:nvSpPr>
        <p:spPr>
          <a:xfrm>
            <a:off x="5092749" y="3218557"/>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Several 2-way interactions are significant (p &lt; 0.001).</a:t>
            </a:r>
            <a:endParaRPr lang="en-US" sz="1200" dirty="0"/>
          </a:p>
        </p:txBody>
      </p:sp>
      <p:sp>
        <p:nvSpPr>
          <p:cNvPr id="13" name="Shape 11"/>
          <p:cNvSpPr/>
          <p:nvPr/>
        </p:nvSpPr>
        <p:spPr>
          <a:xfrm>
            <a:off x="1273746" y="4140696"/>
            <a:ext cx="312464" cy="416619"/>
          </a:xfrm>
          <a:prstGeom prst="roundRect">
            <a:avLst>
              <a:gd name="adj" fmla="val 20000"/>
            </a:avLst>
          </a:prstGeom>
          <a:solidFill>
            <a:srgbClr val="DDEEE6"/>
          </a:solidFill>
          <a:ln w="7620">
            <a:solidFill>
              <a:srgbClr val="C3D4CC"/>
            </a:solidFill>
            <a:prstDash val="solid"/>
          </a:ln>
        </p:spPr>
      </p:sp>
      <p:sp>
        <p:nvSpPr>
          <p:cNvPr id="14" name="Text 12"/>
          <p:cNvSpPr/>
          <p:nvPr/>
        </p:nvSpPr>
        <p:spPr>
          <a:xfrm>
            <a:off x="1363192" y="4175423"/>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5" name="Text 13"/>
          <p:cNvSpPr/>
          <p:nvPr/>
        </p:nvSpPr>
        <p:spPr>
          <a:xfrm>
            <a:off x="1725067" y="4204295"/>
            <a:ext cx="1824038"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3-Way Interactions</a:t>
            </a:r>
            <a:endParaRPr lang="en-US" sz="1500" dirty="0"/>
          </a:p>
        </p:txBody>
      </p:sp>
      <p:sp>
        <p:nvSpPr>
          <p:cNvPr id="16" name="Text 14"/>
          <p:cNvSpPr/>
          <p:nvPr/>
        </p:nvSpPr>
        <p:spPr>
          <a:xfrm>
            <a:off x="1725067" y="4604644"/>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Some 3-way interactions are marginally significant (p = 0.031).</a:t>
            </a:r>
            <a:endParaRPr lang="en-US" sz="1200" dirty="0"/>
          </a:p>
        </p:txBody>
      </p:sp>
      <p:sp>
        <p:nvSpPr>
          <p:cNvPr id="17" name="Shape 15"/>
          <p:cNvSpPr/>
          <p:nvPr/>
        </p:nvSpPr>
        <p:spPr>
          <a:xfrm>
            <a:off x="4641429" y="4140696"/>
            <a:ext cx="312464" cy="416619"/>
          </a:xfrm>
          <a:prstGeom prst="roundRect">
            <a:avLst>
              <a:gd name="adj" fmla="val 20000"/>
            </a:avLst>
          </a:prstGeom>
          <a:solidFill>
            <a:srgbClr val="DDEEE6"/>
          </a:solidFill>
          <a:ln w="7620">
            <a:solidFill>
              <a:srgbClr val="C3D4CC"/>
            </a:solidFill>
            <a:prstDash val="solid"/>
          </a:ln>
        </p:spPr>
      </p:sp>
      <p:sp>
        <p:nvSpPr>
          <p:cNvPr id="18" name="Text 16"/>
          <p:cNvSpPr/>
          <p:nvPr/>
        </p:nvSpPr>
        <p:spPr>
          <a:xfrm>
            <a:off x="4723582" y="4175423"/>
            <a:ext cx="148158"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4</a:t>
            </a:r>
            <a:endParaRPr lang="en-US" dirty="0"/>
          </a:p>
        </p:txBody>
      </p:sp>
      <p:sp>
        <p:nvSpPr>
          <p:cNvPr id="19" name="Text 17"/>
          <p:cNvSpPr/>
          <p:nvPr/>
        </p:nvSpPr>
        <p:spPr>
          <a:xfrm>
            <a:off x="5092749" y="4204295"/>
            <a:ext cx="1738313"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4-Way Interaction</a:t>
            </a:r>
            <a:endParaRPr lang="en-US" sz="1500" dirty="0"/>
          </a:p>
        </p:txBody>
      </p:sp>
      <p:sp>
        <p:nvSpPr>
          <p:cNvPr id="20" name="Text 18"/>
          <p:cNvSpPr/>
          <p:nvPr/>
        </p:nvSpPr>
        <p:spPr>
          <a:xfrm>
            <a:off x="5092749" y="4604644"/>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4-way interaction is not significant (p = 1.000).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1676797"/>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Analysis Results</a:t>
            </a:r>
            <a:endParaRPr lang="en-US" sz="3100" dirty="0"/>
          </a:p>
        </p:txBody>
      </p:sp>
      <p:sp>
        <p:nvSpPr>
          <p:cNvPr id="5" name="Shape 3"/>
          <p:cNvSpPr/>
          <p:nvPr/>
        </p:nvSpPr>
        <p:spPr>
          <a:xfrm>
            <a:off x="1273746" y="2625726"/>
            <a:ext cx="6596509" cy="2555379"/>
          </a:xfrm>
          <a:prstGeom prst="roundRect">
            <a:avLst>
              <a:gd name="adj" fmla="val 3261"/>
            </a:avLst>
          </a:prstGeom>
          <a:noFill/>
          <a:ln w="7620">
            <a:solidFill>
              <a:srgbClr val="000000">
                <a:alpha val="8000"/>
              </a:srgbClr>
            </a:solidFill>
            <a:prstDash val="solid"/>
          </a:ln>
        </p:spPr>
      </p:sp>
      <p:sp>
        <p:nvSpPr>
          <p:cNvPr id="6" name="Shape 4"/>
          <p:cNvSpPr/>
          <p:nvPr/>
        </p:nvSpPr>
        <p:spPr>
          <a:xfrm>
            <a:off x="1278508" y="2348881"/>
            <a:ext cx="7181924" cy="1702618"/>
          </a:xfrm>
          <a:prstGeom prst="rect">
            <a:avLst/>
          </a:prstGeom>
          <a:solidFill>
            <a:srgbClr val="FFFFFF">
              <a:alpha val="4000"/>
            </a:srgbClr>
          </a:solidFill>
          <a:ln/>
        </p:spPr>
      </p:sp>
      <p:sp>
        <p:nvSpPr>
          <p:cNvPr id="7" name="Text 5"/>
          <p:cNvSpPr/>
          <p:nvPr/>
        </p:nvSpPr>
        <p:spPr>
          <a:xfrm>
            <a:off x="1417364" y="2749451"/>
            <a:ext cx="3013398" cy="296168"/>
          </a:xfrm>
          <a:prstGeom prst="rect">
            <a:avLst/>
          </a:prstGeom>
          <a:noFill/>
          <a:ln/>
        </p:spPr>
        <p:txBody>
          <a:bodyPr wrap="none" lIns="64008" tIns="32004" rIns="64008" bIns="32004" rtlCol="0" anchor="t"/>
          <a:lstStyle/>
          <a:p>
            <a:pPr>
              <a:lnSpc>
                <a:spcPts val="1959"/>
              </a:lnSpc>
            </a:pPr>
            <a:r>
              <a:rPr lang="en-US" sz="1200" b="1" dirty="0">
                <a:solidFill>
                  <a:srgbClr val="3B4E4E"/>
                </a:solidFill>
                <a:latin typeface="Overpass" pitchFamily="34" charset="0"/>
                <a:ea typeface="Overpass" pitchFamily="34" charset="-122"/>
                <a:cs typeface="Overpass" pitchFamily="34" charset="-120"/>
              </a:rPr>
              <a:t>Main Effects</a:t>
            </a:r>
            <a:endParaRPr lang="en-US" sz="1200" dirty="0"/>
          </a:p>
        </p:txBody>
      </p:sp>
      <p:sp>
        <p:nvSpPr>
          <p:cNvPr id="8" name="Text 6"/>
          <p:cNvSpPr/>
          <p:nvPr/>
        </p:nvSpPr>
        <p:spPr>
          <a:xfrm>
            <a:off x="3203848" y="2625726"/>
            <a:ext cx="4104456" cy="1308397"/>
          </a:xfrm>
          <a:prstGeom prst="rect">
            <a:avLst/>
          </a:prstGeom>
          <a:noFill/>
          <a:ln/>
        </p:spPr>
        <p:txBody>
          <a:bodyPr wrap="square" lIns="64008" tIns="32004" rIns="64008" bIns="32004" rtlCol="0" anchor="t"/>
          <a:lstStyle/>
          <a:p>
            <a:pPr lvl="1"/>
            <a:r>
              <a:rPr lang="en-IN" sz="1400" dirty="0"/>
              <a:t>Main effects refer to the individual effects of each demographic variable on customer loyalty indicators. In our analysis, several main effects were found to be significant, indicating that certain demographic factors independently influence customer loyalty.</a:t>
            </a:r>
          </a:p>
          <a:p>
            <a:pPr>
              <a:lnSpc>
                <a:spcPts val="1959"/>
              </a:lnSpc>
            </a:pPr>
            <a:endParaRPr lang="en-US" sz="1050" dirty="0"/>
          </a:p>
        </p:txBody>
      </p:sp>
      <p:sp>
        <p:nvSpPr>
          <p:cNvPr id="9" name="Shape 7"/>
          <p:cNvSpPr/>
          <p:nvPr/>
        </p:nvSpPr>
        <p:spPr>
          <a:xfrm>
            <a:off x="1278508" y="4051498"/>
            <a:ext cx="6591747" cy="1321717"/>
          </a:xfrm>
          <a:prstGeom prst="rect">
            <a:avLst/>
          </a:prstGeom>
          <a:solidFill>
            <a:srgbClr val="000000">
              <a:alpha val="4000"/>
            </a:srgbClr>
          </a:solidFill>
          <a:ln/>
        </p:spPr>
      </p:sp>
      <p:sp>
        <p:nvSpPr>
          <p:cNvPr id="10" name="Text 8"/>
          <p:cNvSpPr/>
          <p:nvPr/>
        </p:nvSpPr>
        <p:spPr>
          <a:xfrm>
            <a:off x="1417364" y="4168874"/>
            <a:ext cx="3013398" cy="296168"/>
          </a:xfrm>
          <a:prstGeom prst="rect">
            <a:avLst/>
          </a:prstGeom>
          <a:noFill/>
          <a:ln/>
        </p:spPr>
        <p:txBody>
          <a:bodyPr wrap="none" lIns="64008" tIns="32004" rIns="64008" bIns="32004" rtlCol="0" anchor="t"/>
          <a:lstStyle/>
          <a:p>
            <a:pPr>
              <a:lnSpc>
                <a:spcPts val="1959"/>
              </a:lnSpc>
            </a:pPr>
            <a:r>
              <a:rPr lang="en-US" sz="1200" b="1" dirty="0">
                <a:solidFill>
                  <a:srgbClr val="3B4E4E"/>
                </a:solidFill>
                <a:latin typeface="Overpass" pitchFamily="34" charset="0"/>
                <a:ea typeface="Overpass" pitchFamily="34" charset="-122"/>
                <a:cs typeface="Overpass" pitchFamily="34" charset="-120"/>
              </a:rPr>
              <a:t>2k Interaction Effects</a:t>
            </a:r>
            <a:endParaRPr lang="en-US" sz="1200" dirty="0"/>
          </a:p>
        </p:txBody>
      </p:sp>
      <p:sp>
        <p:nvSpPr>
          <p:cNvPr id="11" name="Text 9"/>
          <p:cNvSpPr/>
          <p:nvPr/>
        </p:nvSpPr>
        <p:spPr>
          <a:xfrm>
            <a:off x="4713238" y="4168875"/>
            <a:ext cx="3013398" cy="888504"/>
          </a:xfrm>
          <a:prstGeom prst="rect">
            <a:avLst/>
          </a:prstGeom>
          <a:noFill/>
          <a:ln/>
        </p:spPr>
        <p:txBody>
          <a:bodyPr wrap="square" lIns="64008" tIns="32004" rIns="64008" bIns="32004" rtlCol="0" anchor="t"/>
          <a:lstStyle/>
          <a:p>
            <a:pPr>
              <a:lnSpc>
                <a:spcPts val="1959"/>
              </a:lnSpc>
            </a:pPr>
            <a:endParaRPr lang="en-US" sz="1200" dirty="0"/>
          </a:p>
        </p:txBody>
      </p:sp>
      <p:sp>
        <p:nvSpPr>
          <p:cNvPr id="14" name="TextBox 13"/>
          <p:cNvSpPr txBox="1"/>
          <p:nvPr/>
        </p:nvSpPr>
        <p:spPr>
          <a:xfrm>
            <a:off x="3165416" y="4088618"/>
            <a:ext cx="4666407" cy="1169551"/>
          </a:xfrm>
          <a:prstGeom prst="rect">
            <a:avLst/>
          </a:prstGeom>
          <a:noFill/>
        </p:spPr>
        <p:txBody>
          <a:bodyPr wrap="square" rtlCol="0">
            <a:spAutoFit/>
          </a:bodyPr>
          <a:lstStyle/>
          <a:p>
            <a:pPr lvl="1"/>
            <a:r>
              <a:rPr lang="en-IN" sz="1400" dirty="0"/>
              <a:t>In our analysis, significant 2k interaction effects were observed, indicating that the influence of one demographic factor on customer loyalty may be moderated by another demographic characteristic.</a:t>
            </a:r>
          </a:p>
          <a:p>
            <a:endParaRPr lang="en-IN"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1887736"/>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Key Insights</a:t>
            </a:r>
            <a:endParaRPr lang="en-US" sz="3100" dirty="0"/>
          </a:p>
        </p:txBody>
      </p:sp>
      <p:pic>
        <p:nvPicPr>
          <p:cNvPr id="5" name="Image 0" descr="preencoded.png"/>
          <p:cNvPicPr>
            <a:picLocks noChangeAspect="1"/>
          </p:cNvPicPr>
          <p:nvPr/>
        </p:nvPicPr>
        <p:blipFill>
          <a:blip r:embed="rId3"/>
          <a:stretch>
            <a:fillRect/>
          </a:stretch>
        </p:blipFill>
        <p:spPr>
          <a:xfrm>
            <a:off x="1273746" y="2836665"/>
            <a:ext cx="277713" cy="370284"/>
          </a:xfrm>
          <a:prstGeom prst="rect">
            <a:avLst/>
          </a:prstGeom>
        </p:spPr>
      </p:pic>
      <p:sp>
        <p:nvSpPr>
          <p:cNvPr id="6" name="Text 3"/>
          <p:cNvSpPr/>
          <p:nvPr/>
        </p:nvSpPr>
        <p:spPr>
          <a:xfrm>
            <a:off x="1273746" y="3392091"/>
            <a:ext cx="1492895"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Purchase Channel</a:t>
            </a:r>
            <a:endParaRPr lang="en-US" sz="1500" dirty="0"/>
          </a:p>
        </p:txBody>
      </p:sp>
      <p:sp>
        <p:nvSpPr>
          <p:cNvPr id="7" name="Text 4"/>
          <p:cNvSpPr/>
          <p:nvPr/>
        </p:nvSpPr>
        <p:spPr>
          <a:xfrm>
            <a:off x="1273746" y="4081760"/>
            <a:ext cx="149289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Ticket purchase method impacts loyalty.</a:t>
            </a:r>
            <a:endParaRPr lang="en-US" sz="1200" dirty="0"/>
          </a:p>
        </p:txBody>
      </p:sp>
      <p:pic>
        <p:nvPicPr>
          <p:cNvPr id="8" name="Image 1" descr="preencoded.png"/>
          <p:cNvPicPr>
            <a:picLocks noChangeAspect="1"/>
          </p:cNvPicPr>
          <p:nvPr/>
        </p:nvPicPr>
        <p:blipFill>
          <a:blip r:embed="rId4"/>
          <a:stretch>
            <a:fillRect/>
          </a:stretch>
        </p:blipFill>
        <p:spPr>
          <a:xfrm>
            <a:off x="2974926" y="2836665"/>
            <a:ext cx="277713" cy="370284"/>
          </a:xfrm>
          <a:prstGeom prst="rect">
            <a:avLst/>
          </a:prstGeom>
        </p:spPr>
      </p:pic>
      <p:sp>
        <p:nvSpPr>
          <p:cNvPr id="9" name="Text 5"/>
          <p:cNvSpPr/>
          <p:nvPr/>
        </p:nvSpPr>
        <p:spPr>
          <a:xfrm>
            <a:off x="2974926" y="3392091"/>
            <a:ext cx="1492895"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Preferred Airline</a:t>
            </a:r>
            <a:endParaRPr lang="en-US" sz="1500" dirty="0"/>
          </a:p>
        </p:txBody>
      </p:sp>
      <p:sp>
        <p:nvSpPr>
          <p:cNvPr id="10" name="Text 6"/>
          <p:cNvSpPr/>
          <p:nvPr/>
        </p:nvSpPr>
        <p:spPr>
          <a:xfrm>
            <a:off x="2974926" y="4081760"/>
            <a:ext cx="149289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Airline choice is a strong predictor.</a:t>
            </a:r>
            <a:endParaRPr lang="en-US" sz="1200" dirty="0"/>
          </a:p>
        </p:txBody>
      </p:sp>
      <p:pic>
        <p:nvPicPr>
          <p:cNvPr id="11" name="Image 2" descr="preencoded.png"/>
          <p:cNvPicPr>
            <a:picLocks noChangeAspect="1"/>
          </p:cNvPicPr>
          <p:nvPr/>
        </p:nvPicPr>
        <p:blipFill>
          <a:blip r:embed="rId5"/>
          <a:stretch>
            <a:fillRect/>
          </a:stretch>
        </p:blipFill>
        <p:spPr>
          <a:xfrm>
            <a:off x="4676105" y="2836665"/>
            <a:ext cx="277713" cy="370284"/>
          </a:xfrm>
          <a:prstGeom prst="rect">
            <a:avLst/>
          </a:prstGeom>
        </p:spPr>
      </p:pic>
      <p:sp>
        <p:nvSpPr>
          <p:cNvPr id="12" name="Text 7"/>
          <p:cNvSpPr/>
          <p:nvPr/>
        </p:nvSpPr>
        <p:spPr>
          <a:xfrm>
            <a:off x="4676105" y="3392091"/>
            <a:ext cx="1492895"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Recommendations</a:t>
            </a:r>
            <a:endParaRPr lang="en-US" sz="1500" dirty="0"/>
          </a:p>
        </p:txBody>
      </p:sp>
      <p:sp>
        <p:nvSpPr>
          <p:cNvPr id="13" name="Text 8"/>
          <p:cNvSpPr/>
          <p:nvPr/>
        </p:nvSpPr>
        <p:spPr>
          <a:xfrm>
            <a:off x="4676105" y="4081761"/>
            <a:ext cx="149289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Willingness to recommend is influential.</a:t>
            </a:r>
            <a:endParaRPr lang="en-US" sz="1200" dirty="0"/>
          </a:p>
        </p:txBody>
      </p:sp>
      <p:pic>
        <p:nvPicPr>
          <p:cNvPr id="14" name="Image 3" descr="preencoded.png"/>
          <p:cNvPicPr>
            <a:picLocks noChangeAspect="1"/>
          </p:cNvPicPr>
          <p:nvPr/>
        </p:nvPicPr>
        <p:blipFill>
          <a:blip r:embed="rId6"/>
          <a:stretch>
            <a:fillRect/>
          </a:stretch>
        </p:blipFill>
        <p:spPr>
          <a:xfrm>
            <a:off x="6377285" y="2836665"/>
            <a:ext cx="277713" cy="370284"/>
          </a:xfrm>
          <a:prstGeom prst="rect">
            <a:avLst/>
          </a:prstGeom>
        </p:spPr>
      </p:pic>
      <p:sp>
        <p:nvSpPr>
          <p:cNvPr id="15" name="Text 9"/>
          <p:cNvSpPr/>
          <p:nvPr/>
        </p:nvSpPr>
        <p:spPr>
          <a:xfrm>
            <a:off x="6377286" y="3392091"/>
            <a:ext cx="1492969"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Repeat Purchase</a:t>
            </a:r>
            <a:endParaRPr lang="en-US" sz="1500" dirty="0"/>
          </a:p>
        </p:txBody>
      </p:sp>
      <p:sp>
        <p:nvSpPr>
          <p:cNvPr id="16" name="Text 10"/>
          <p:cNvSpPr/>
          <p:nvPr/>
        </p:nvSpPr>
        <p:spPr>
          <a:xfrm>
            <a:off x="6377286" y="4081760"/>
            <a:ext cx="1492969"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Likelihood of repurchasing is key.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5" name="Shape 2"/>
          <p:cNvSpPr/>
          <p:nvPr/>
        </p:nvSpPr>
        <p:spPr>
          <a:xfrm>
            <a:off x="0" y="0"/>
            <a:ext cx="9144000" cy="6858000"/>
          </a:xfrm>
          <a:prstGeom prst="rect">
            <a:avLst/>
          </a:prstGeom>
          <a:solidFill>
            <a:srgbClr val="FFFDE6">
              <a:alpha val="85000"/>
            </a:srgbClr>
          </a:solidFill>
          <a:ln/>
        </p:spPr>
      </p:sp>
      <p:sp>
        <p:nvSpPr>
          <p:cNvPr id="6" name="Text 3"/>
          <p:cNvSpPr/>
          <p:nvPr/>
        </p:nvSpPr>
        <p:spPr>
          <a:xfrm>
            <a:off x="771455" y="288031"/>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Conclusion</a:t>
            </a:r>
            <a:endParaRPr lang="en-US" sz="3100" dirty="0"/>
          </a:p>
        </p:txBody>
      </p:sp>
      <p:sp>
        <p:nvSpPr>
          <p:cNvPr id="7" name="Text 4"/>
          <p:cNvSpPr/>
          <p:nvPr/>
        </p:nvSpPr>
        <p:spPr>
          <a:xfrm>
            <a:off x="848924" y="980728"/>
            <a:ext cx="6596509" cy="888504"/>
          </a:xfrm>
          <a:prstGeom prst="rect">
            <a:avLst/>
          </a:prstGeom>
          <a:noFill/>
          <a:ln/>
        </p:spPr>
        <p:txBody>
          <a:bodyPr wrap="square" lIns="64008" tIns="32004" rIns="64008" bIns="32004" rtlCol="0" anchor="t"/>
          <a:lstStyle/>
          <a:p>
            <a:pPr>
              <a:lnSpc>
                <a:spcPts val="1959"/>
              </a:lnSpc>
            </a:pPr>
            <a:r>
              <a:rPr lang="en-US" sz="1400" dirty="0">
                <a:solidFill>
                  <a:srgbClr val="3B4E4E"/>
                </a:solidFill>
                <a:latin typeface="Overpass" pitchFamily="34" charset="0"/>
                <a:ea typeface="Overpass" pitchFamily="34" charset="-122"/>
                <a:cs typeface="Overpass" pitchFamily="34" charset="-120"/>
              </a:rPr>
              <a:t>The loglinear analysis reveals the complex interplay between demographic variables and customer loyalty. By retaining the most significant effects, airlines can gain valuable insights to improve customer retention strategies.</a:t>
            </a:r>
            <a:endParaRPr lang="en-US" sz="1400" dirty="0"/>
          </a:p>
        </p:txBody>
      </p:sp>
      <p:pic>
        <p:nvPicPr>
          <p:cNvPr id="9" name="Image 0" descr="preencoded.png"/>
          <p:cNvPicPr>
            <a:picLocks noChangeAspect="1"/>
          </p:cNvPicPr>
          <p:nvPr/>
        </p:nvPicPr>
        <p:blipFill>
          <a:blip r:embed="rId4"/>
          <a:stretch>
            <a:fillRect/>
          </a:stretch>
        </p:blipFill>
        <p:spPr>
          <a:xfrm>
            <a:off x="1558414" y="2255625"/>
            <a:ext cx="277713" cy="370284"/>
          </a:xfrm>
          <a:prstGeom prst="rect">
            <a:avLst/>
          </a:prstGeom>
        </p:spPr>
      </p:pic>
      <p:pic>
        <p:nvPicPr>
          <p:cNvPr id="11" name="Image 1" descr="preencoded.png"/>
          <p:cNvPicPr>
            <a:picLocks noChangeAspect="1"/>
          </p:cNvPicPr>
          <p:nvPr/>
        </p:nvPicPr>
        <p:blipFill>
          <a:blip r:embed="rId5"/>
          <a:stretch>
            <a:fillRect/>
          </a:stretch>
        </p:blipFill>
        <p:spPr>
          <a:xfrm>
            <a:off x="3868046" y="2258364"/>
            <a:ext cx="277713" cy="370284"/>
          </a:xfrm>
          <a:prstGeom prst="rect">
            <a:avLst/>
          </a:prstGeom>
        </p:spPr>
      </p:pic>
      <p:pic>
        <p:nvPicPr>
          <p:cNvPr id="12" name="Image 2" descr="preencoded.png"/>
          <p:cNvPicPr>
            <a:picLocks noChangeAspect="1"/>
          </p:cNvPicPr>
          <p:nvPr/>
        </p:nvPicPr>
        <p:blipFill>
          <a:blip r:embed="rId6"/>
          <a:stretch>
            <a:fillRect/>
          </a:stretch>
        </p:blipFill>
        <p:spPr>
          <a:xfrm>
            <a:off x="5940152" y="2238588"/>
            <a:ext cx="277713" cy="370284"/>
          </a:xfrm>
          <a:prstGeom prst="rect">
            <a:avLst/>
          </a:prstGeom>
        </p:spPr>
      </p:pic>
      <p:sp>
        <p:nvSpPr>
          <p:cNvPr id="14" name="TextBox 13"/>
          <p:cNvSpPr txBox="1"/>
          <p:nvPr/>
        </p:nvSpPr>
        <p:spPr>
          <a:xfrm>
            <a:off x="604283" y="2924942"/>
            <a:ext cx="2304256" cy="584775"/>
          </a:xfrm>
          <a:prstGeom prst="rect">
            <a:avLst/>
          </a:prstGeom>
          <a:noFill/>
        </p:spPr>
        <p:txBody>
          <a:bodyPr wrap="square" rtlCol="0">
            <a:spAutoFit/>
          </a:bodyPr>
          <a:lstStyle/>
          <a:p>
            <a:r>
              <a:rPr lang="en-US" sz="1600" b="1" dirty="0">
                <a:solidFill>
                  <a:srgbClr val="3B4E4E"/>
                </a:solidFill>
                <a:latin typeface="Syne" pitchFamily="34" charset="0"/>
                <a:ea typeface="Syne" pitchFamily="34" charset="-122"/>
                <a:cs typeface="Syne" pitchFamily="34" charset="-120"/>
              </a:rPr>
              <a:t>Actionable Insights</a:t>
            </a:r>
            <a:endParaRPr lang="en-US" sz="1600" dirty="0"/>
          </a:p>
          <a:p>
            <a:endParaRPr lang="en-IN" sz="1600" dirty="0"/>
          </a:p>
        </p:txBody>
      </p:sp>
      <p:sp>
        <p:nvSpPr>
          <p:cNvPr id="15" name="TextBox 14"/>
          <p:cNvSpPr txBox="1"/>
          <p:nvPr/>
        </p:nvSpPr>
        <p:spPr>
          <a:xfrm>
            <a:off x="3029635" y="2924943"/>
            <a:ext cx="2232248" cy="584775"/>
          </a:xfrm>
          <a:prstGeom prst="rect">
            <a:avLst/>
          </a:prstGeom>
          <a:noFill/>
        </p:spPr>
        <p:txBody>
          <a:bodyPr wrap="square" rtlCol="0">
            <a:spAutoFit/>
          </a:bodyPr>
          <a:lstStyle/>
          <a:p>
            <a:r>
              <a:rPr lang="en-US" sz="1600" b="1" dirty="0">
                <a:solidFill>
                  <a:srgbClr val="3B4E4E"/>
                </a:solidFill>
                <a:latin typeface="Syne" pitchFamily="34" charset="0"/>
                <a:ea typeface="Syne" pitchFamily="34" charset="-122"/>
                <a:cs typeface="Syne" pitchFamily="34" charset="-120"/>
              </a:rPr>
              <a:t>Tailored Strategies</a:t>
            </a:r>
            <a:endParaRPr lang="en-US" sz="1600" dirty="0"/>
          </a:p>
          <a:p>
            <a:endParaRPr lang="en-IN" sz="1600" dirty="0"/>
          </a:p>
        </p:txBody>
      </p:sp>
      <p:sp>
        <p:nvSpPr>
          <p:cNvPr id="16" name="TextBox 15"/>
          <p:cNvSpPr txBox="1"/>
          <p:nvPr/>
        </p:nvSpPr>
        <p:spPr>
          <a:xfrm>
            <a:off x="5436096" y="2839560"/>
            <a:ext cx="2100775" cy="584775"/>
          </a:xfrm>
          <a:prstGeom prst="rect">
            <a:avLst/>
          </a:prstGeom>
          <a:noFill/>
        </p:spPr>
        <p:txBody>
          <a:bodyPr wrap="square" rtlCol="0">
            <a:spAutoFit/>
          </a:bodyPr>
          <a:lstStyle/>
          <a:p>
            <a:r>
              <a:rPr lang="en-US" sz="1600" b="1" dirty="0">
                <a:solidFill>
                  <a:srgbClr val="3B4E4E"/>
                </a:solidFill>
                <a:latin typeface="Syne" pitchFamily="34" charset="0"/>
                <a:ea typeface="Syne" pitchFamily="34" charset="-122"/>
                <a:cs typeface="Syne" pitchFamily="34" charset="-120"/>
              </a:rPr>
              <a:t>Sustainable Growth</a:t>
            </a:r>
            <a:endParaRPr lang="en-US" sz="1600" dirty="0"/>
          </a:p>
          <a:p>
            <a:endParaRPr lang="en-IN" sz="1600" dirty="0"/>
          </a:p>
        </p:txBody>
      </p:sp>
      <p:sp>
        <p:nvSpPr>
          <p:cNvPr id="17" name="TextBox 16"/>
          <p:cNvSpPr txBox="1"/>
          <p:nvPr/>
        </p:nvSpPr>
        <p:spPr>
          <a:xfrm>
            <a:off x="676291" y="3498142"/>
            <a:ext cx="2160240" cy="1169551"/>
          </a:xfrm>
          <a:prstGeom prst="rect">
            <a:avLst/>
          </a:prstGeom>
          <a:noFill/>
        </p:spPr>
        <p:txBody>
          <a:bodyPr wrap="square" rtlCol="0">
            <a:spAutoFit/>
          </a:bodyPr>
          <a:lstStyle/>
          <a:p>
            <a:r>
              <a:rPr lang="en-US" sz="1400" dirty="0">
                <a:solidFill>
                  <a:srgbClr val="3B4E4E"/>
                </a:solidFill>
                <a:latin typeface="Overpass" pitchFamily="34" charset="0"/>
                <a:ea typeface="Overpass" pitchFamily="34" charset="-122"/>
                <a:cs typeface="Overpass" pitchFamily="34" charset="-120"/>
              </a:rPr>
              <a:t>Findings offer actionable insights for airlines to enhance customer satisfaction and loyalty.</a:t>
            </a:r>
            <a:endParaRPr lang="en-US" sz="1400" dirty="0"/>
          </a:p>
          <a:p>
            <a:endParaRPr lang="en-IN" sz="1400" dirty="0"/>
          </a:p>
        </p:txBody>
      </p:sp>
      <p:sp>
        <p:nvSpPr>
          <p:cNvPr id="18" name="TextBox 17"/>
          <p:cNvSpPr txBox="1"/>
          <p:nvPr/>
        </p:nvSpPr>
        <p:spPr>
          <a:xfrm>
            <a:off x="3224753" y="3498142"/>
            <a:ext cx="2037130" cy="1384995"/>
          </a:xfrm>
          <a:prstGeom prst="rect">
            <a:avLst/>
          </a:prstGeom>
          <a:noFill/>
        </p:spPr>
        <p:txBody>
          <a:bodyPr wrap="square" rtlCol="0">
            <a:spAutoFit/>
          </a:bodyPr>
          <a:lstStyle/>
          <a:p>
            <a:r>
              <a:rPr lang="en-US" sz="1400" dirty="0">
                <a:solidFill>
                  <a:srgbClr val="3B4E4E"/>
                </a:solidFill>
                <a:latin typeface="Overpass" pitchFamily="34" charset="0"/>
                <a:ea typeface="Overpass" pitchFamily="34" charset="-122"/>
                <a:cs typeface="Overpass" pitchFamily="34" charset="-120"/>
              </a:rPr>
              <a:t>Airlines can tailor services and marketing efforts to different demographic segments.</a:t>
            </a:r>
            <a:endParaRPr lang="en-US" sz="1400" dirty="0"/>
          </a:p>
          <a:p>
            <a:endParaRPr lang="en-IN" sz="1400" dirty="0"/>
          </a:p>
        </p:txBody>
      </p:sp>
      <p:sp>
        <p:nvSpPr>
          <p:cNvPr id="19" name="TextBox 18"/>
          <p:cNvSpPr txBox="1"/>
          <p:nvPr/>
        </p:nvSpPr>
        <p:spPr>
          <a:xfrm>
            <a:off x="5694394" y="3424335"/>
            <a:ext cx="2117965" cy="1600438"/>
          </a:xfrm>
          <a:prstGeom prst="rect">
            <a:avLst/>
          </a:prstGeom>
          <a:noFill/>
        </p:spPr>
        <p:txBody>
          <a:bodyPr wrap="square" rtlCol="0">
            <a:spAutoFit/>
          </a:bodyPr>
          <a:lstStyle/>
          <a:p>
            <a:r>
              <a:rPr lang="en-US" sz="1400" dirty="0">
                <a:solidFill>
                  <a:srgbClr val="3B4E4E"/>
                </a:solidFill>
                <a:latin typeface="Overpass" pitchFamily="34" charset="0"/>
                <a:ea typeface="Overpass" pitchFamily="34" charset="-122"/>
                <a:cs typeface="Overpass" pitchFamily="34" charset="-120"/>
              </a:rPr>
              <a:t>Understanding customer loyalty drivers can foster long-term relationships and growth in the competitive aviation market.</a:t>
            </a:r>
            <a:endParaRPr lang="en-US" sz="1400" dirty="0"/>
          </a:p>
          <a:p>
            <a:endParaRPr lang="en-IN"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3429000" cy="6858000"/>
          </a:xfrm>
          <a:prstGeom prst="rect">
            <a:avLst/>
          </a:prstGeom>
        </p:spPr>
      </p:pic>
      <p:sp>
        <p:nvSpPr>
          <p:cNvPr id="5" name="Text 2"/>
          <p:cNvSpPr/>
          <p:nvPr/>
        </p:nvSpPr>
        <p:spPr>
          <a:xfrm>
            <a:off x="3949750" y="1533624"/>
            <a:ext cx="4673501" cy="1735932"/>
          </a:xfrm>
          <a:prstGeom prst="rect">
            <a:avLst/>
          </a:prstGeom>
          <a:noFill/>
          <a:ln/>
        </p:spPr>
        <p:txBody>
          <a:bodyPr wrap="squar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Cluster Analysis: Uncovering Passenger Preferences</a:t>
            </a:r>
            <a:endParaRPr lang="en-US" sz="3100" dirty="0"/>
          </a:p>
        </p:txBody>
      </p:sp>
      <p:sp>
        <p:nvSpPr>
          <p:cNvPr id="6" name="Text 3"/>
          <p:cNvSpPr/>
          <p:nvPr/>
        </p:nvSpPr>
        <p:spPr>
          <a:xfrm>
            <a:off x="3949749" y="3286770"/>
            <a:ext cx="4673501" cy="1777008"/>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Cluster analysis is a powerful technique that enables businesses to uncover hidden patterns and group customers based on their preferences and behaviors. In the airline industry, this approach can provide invaluable insights into passenger satisfaction levels and service expectations, allowing airlines to tailor their offerings and enhance the overall customer experience.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5" name="Shape 2"/>
          <p:cNvSpPr/>
          <p:nvPr/>
        </p:nvSpPr>
        <p:spPr>
          <a:xfrm>
            <a:off x="0" y="0"/>
            <a:ext cx="9144000" cy="6858000"/>
          </a:xfrm>
          <a:prstGeom prst="rect">
            <a:avLst/>
          </a:prstGeom>
          <a:solidFill>
            <a:srgbClr val="FFFDE6">
              <a:alpha val="85000"/>
            </a:srgbClr>
          </a:solidFill>
          <a:ln/>
        </p:spPr>
      </p:sp>
      <p:sp>
        <p:nvSpPr>
          <p:cNvPr id="6" name="Text 3"/>
          <p:cNvSpPr/>
          <p:nvPr/>
        </p:nvSpPr>
        <p:spPr>
          <a:xfrm>
            <a:off x="1950839" y="405011"/>
            <a:ext cx="3791396" cy="459879"/>
          </a:xfrm>
          <a:prstGeom prst="rect">
            <a:avLst/>
          </a:prstGeom>
          <a:noFill/>
          <a:ln/>
        </p:spPr>
        <p:txBody>
          <a:bodyPr wrap="none" lIns="64008" tIns="32004" rIns="64008" bIns="32004" rtlCol="0" anchor="t"/>
          <a:lstStyle/>
          <a:p>
            <a:pPr>
              <a:lnSpc>
                <a:spcPts val="3042"/>
              </a:lnSpc>
            </a:pPr>
            <a:r>
              <a:rPr lang="en-US" sz="2400" b="1" dirty="0">
                <a:solidFill>
                  <a:srgbClr val="233939"/>
                </a:solidFill>
                <a:latin typeface="Syne" pitchFamily="34" charset="0"/>
                <a:ea typeface="Syne" pitchFamily="34" charset="-122"/>
                <a:cs typeface="Syne" pitchFamily="34" charset="-120"/>
              </a:rPr>
              <a:t>What is Cluster Analysis?</a:t>
            </a:r>
            <a:endParaRPr lang="en-US" sz="2400" dirty="0"/>
          </a:p>
        </p:txBody>
      </p:sp>
      <p:sp>
        <p:nvSpPr>
          <p:cNvPr id="7" name="Shape 4"/>
          <p:cNvSpPr/>
          <p:nvPr/>
        </p:nvSpPr>
        <p:spPr>
          <a:xfrm>
            <a:off x="4560913" y="1085553"/>
            <a:ext cx="22027" cy="5367338"/>
          </a:xfrm>
          <a:prstGeom prst="roundRect">
            <a:avLst>
              <a:gd name="adj" fmla="val 225469"/>
            </a:avLst>
          </a:prstGeom>
          <a:solidFill>
            <a:srgbClr val="C3D4CC"/>
          </a:solidFill>
          <a:ln/>
        </p:spPr>
      </p:sp>
      <p:sp>
        <p:nvSpPr>
          <p:cNvPr id="8" name="Shape 5"/>
          <p:cNvSpPr/>
          <p:nvPr/>
        </p:nvSpPr>
        <p:spPr>
          <a:xfrm>
            <a:off x="4061594" y="1351261"/>
            <a:ext cx="386209" cy="29369"/>
          </a:xfrm>
          <a:prstGeom prst="roundRect">
            <a:avLst>
              <a:gd name="adj" fmla="val 225469"/>
            </a:avLst>
          </a:prstGeom>
          <a:solidFill>
            <a:srgbClr val="C3D4CC"/>
          </a:solidFill>
          <a:ln/>
        </p:spPr>
      </p:sp>
      <p:sp>
        <p:nvSpPr>
          <p:cNvPr id="9" name="Shape 6"/>
          <p:cNvSpPr/>
          <p:nvPr/>
        </p:nvSpPr>
        <p:spPr>
          <a:xfrm>
            <a:off x="4447803" y="1200547"/>
            <a:ext cx="248246" cy="330994"/>
          </a:xfrm>
          <a:prstGeom prst="roundRect">
            <a:avLst>
              <a:gd name="adj" fmla="val 20006"/>
            </a:avLst>
          </a:prstGeom>
          <a:solidFill>
            <a:srgbClr val="DDEEE6"/>
          </a:solidFill>
          <a:ln w="7620">
            <a:solidFill>
              <a:srgbClr val="C3D4CC"/>
            </a:solidFill>
            <a:prstDash val="solid"/>
          </a:ln>
        </p:spPr>
      </p:sp>
      <p:sp>
        <p:nvSpPr>
          <p:cNvPr id="10" name="Text 7"/>
          <p:cNvSpPr/>
          <p:nvPr/>
        </p:nvSpPr>
        <p:spPr>
          <a:xfrm>
            <a:off x="4539630" y="1228031"/>
            <a:ext cx="64591" cy="275928"/>
          </a:xfrm>
          <a:prstGeom prst="rect">
            <a:avLst/>
          </a:prstGeom>
          <a:noFill/>
          <a:ln/>
        </p:spPr>
        <p:txBody>
          <a:bodyPr wrap="none" lIns="64008" tIns="32004" rIns="64008" bIns="32004" rtlCol="0" anchor="t"/>
          <a:lstStyle/>
          <a:p>
            <a:pPr algn="ctr">
              <a:lnSpc>
                <a:spcPts val="1825"/>
              </a:lnSpc>
            </a:pPr>
            <a:r>
              <a:rPr lang="en-US" sz="1500" b="1" dirty="0">
                <a:solidFill>
                  <a:srgbClr val="3B4E4E"/>
                </a:solidFill>
                <a:latin typeface="Syne" pitchFamily="34" charset="0"/>
                <a:ea typeface="Syne" pitchFamily="34" charset="-122"/>
                <a:cs typeface="Syne" pitchFamily="34" charset="-120"/>
              </a:rPr>
              <a:t>1</a:t>
            </a:r>
            <a:endParaRPr lang="en-US" sz="1500" dirty="0"/>
          </a:p>
        </p:txBody>
      </p:sp>
      <p:sp>
        <p:nvSpPr>
          <p:cNvPr id="11" name="Text 8"/>
          <p:cNvSpPr/>
          <p:nvPr/>
        </p:nvSpPr>
        <p:spPr>
          <a:xfrm>
            <a:off x="2585442" y="1232694"/>
            <a:ext cx="1379488" cy="229890"/>
          </a:xfrm>
          <a:prstGeom prst="rect">
            <a:avLst/>
          </a:prstGeom>
          <a:noFill/>
          <a:ln/>
        </p:spPr>
        <p:txBody>
          <a:bodyPr wrap="none" lIns="64008" tIns="32004" rIns="64008" bIns="32004" rtlCol="0" anchor="t"/>
          <a:lstStyle/>
          <a:p>
            <a:pPr algn="r">
              <a:lnSpc>
                <a:spcPts val="1521"/>
              </a:lnSpc>
            </a:pPr>
            <a:r>
              <a:rPr lang="en-US" sz="1200" b="1" dirty="0">
                <a:solidFill>
                  <a:srgbClr val="3B4E4E"/>
                </a:solidFill>
                <a:latin typeface="Syne" pitchFamily="34" charset="0"/>
                <a:ea typeface="Syne" pitchFamily="34" charset="-122"/>
                <a:cs typeface="Syne" pitchFamily="34" charset="-120"/>
              </a:rPr>
              <a:t>Grouping Objects</a:t>
            </a:r>
            <a:endParaRPr lang="en-US" sz="1200" dirty="0"/>
          </a:p>
        </p:txBody>
      </p:sp>
      <p:sp>
        <p:nvSpPr>
          <p:cNvPr id="12" name="Text 9"/>
          <p:cNvSpPr/>
          <p:nvPr/>
        </p:nvSpPr>
        <p:spPr>
          <a:xfrm>
            <a:off x="1950839" y="1550789"/>
            <a:ext cx="2014091" cy="1647428"/>
          </a:xfrm>
          <a:prstGeom prst="rect">
            <a:avLst/>
          </a:prstGeom>
          <a:noFill/>
          <a:ln/>
        </p:spPr>
        <p:txBody>
          <a:bodyPr wrap="square" lIns="64008" tIns="32004" rIns="64008" bIns="32004" rtlCol="0" anchor="t"/>
          <a:lstStyle/>
          <a:p>
            <a:pPr algn="r">
              <a:lnSpc>
                <a:spcPts val="1558"/>
              </a:lnSpc>
            </a:pPr>
            <a:r>
              <a:rPr lang="en-US" sz="1000" dirty="0">
                <a:solidFill>
                  <a:srgbClr val="3B4E4E"/>
                </a:solidFill>
                <a:latin typeface="Overpass" pitchFamily="34" charset="0"/>
                <a:ea typeface="Overpass" pitchFamily="34" charset="-122"/>
                <a:cs typeface="Overpass" pitchFamily="34" charset="-120"/>
              </a:rPr>
              <a:t>Cluster analysis is the process of grouping a set of objects, whether physical or abstract, into classes of similar items. Each cluster consists of data objects that share similarities within the same group while being dissimilar to objects in other clusters.</a:t>
            </a:r>
            <a:endParaRPr lang="en-US" sz="1000" dirty="0"/>
          </a:p>
        </p:txBody>
      </p:sp>
      <p:sp>
        <p:nvSpPr>
          <p:cNvPr id="13" name="Shape 10"/>
          <p:cNvSpPr/>
          <p:nvPr/>
        </p:nvSpPr>
        <p:spPr>
          <a:xfrm>
            <a:off x="4696048" y="2086968"/>
            <a:ext cx="386209" cy="29369"/>
          </a:xfrm>
          <a:prstGeom prst="roundRect">
            <a:avLst>
              <a:gd name="adj" fmla="val 225469"/>
            </a:avLst>
          </a:prstGeom>
          <a:solidFill>
            <a:srgbClr val="C3D4CC"/>
          </a:solidFill>
          <a:ln/>
        </p:spPr>
      </p:sp>
      <p:sp>
        <p:nvSpPr>
          <p:cNvPr id="14" name="Shape 11"/>
          <p:cNvSpPr/>
          <p:nvPr/>
        </p:nvSpPr>
        <p:spPr>
          <a:xfrm>
            <a:off x="4447803" y="1936255"/>
            <a:ext cx="248246" cy="330994"/>
          </a:xfrm>
          <a:prstGeom prst="roundRect">
            <a:avLst>
              <a:gd name="adj" fmla="val 20006"/>
            </a:avLst>
          </a:prstGeom>
          <a:solidFill>
            <a:srgbClr val="DDEEE6"/>
          </a:solidFill>
          <a:ln w="7620">
            <a:solidFill>
              <a:srgbClr val="C3D4CC"/>
            </a:solidFill>
            <a:prstDash val="solid"/>
          </a:ln>
        </p:spPr>
      </p:sp>
      <p:sp>
        <p:nvSpPr>
          <p:cNvPr id="15" name="Text 12"/>
          <p:cNvSpPr/>
          <p:nvPr/>
        </p:nvSpPr>
        <p:spPr>
          <a:xfrm>
            <a:off x="4520283" y="1963738"/>
            <a:ext cx="103287" cy="275928"/>
          </a:xfrm>
          <a:prstGeom prst="rect">
            <a:avLst/>
          </a:prstGeom>
          <a:noFill/>
          <a:ln/>
        </p:spPr>
        <p:txBody>
          <a:bodyPr wrap="none" lIns="64008" tIns="32004" rIns="64008" bIns="32004" rtlCol="0" anchor="t"/>
          <a:lstStyle/>
          <a:p>
            <a:pPr algn="ctr">
              <a:lnSpc>
                <a:spcPts val="1825"/>
              </a:lnSpc>
            </a:pPr>
            <a:r>
              <a:rPr lang="en-US" sz="1500" b="1" dirty="0">
                <a:solidFill>
                  <a:srgbClr val="3B4E4E"/>
                </a:solidFill>
                <a:latin typeface="Syne" pitchFamily="34" charset="0"/>
                <a:ea typeface="Syne" pitchFamily="34" charset="-122"/>
                <a:cs typeface="Syne" pitchFamily="34" charset="-120"/>
              </a:rPr>
              <a:t>2</a:t>
            </a:r>
            <a:endParaRPr lang="en-US" sz="1500" dirty="0"/>
          </a:p>
        </p:txBody>
      </p:sp>
      <p:sp>
        <p:nvSpPr>
          <p:cNvPr id="16" name="Text 13"/>
          <p:cNvSpPr/>
          <p:nvPr/>
        </p:nvSpPr>
        <p:spPr>
          <a:xfrm>
            <a:off x="5178921" y="1968401"/>
            <a:ext cx="1487463" cy="229890"/>
          </a:xfrm>
          <a:prstGeom prst="rect">
            <a:avLst/>
          </a:prstGeom>
          <a:noFill/>
          <a:ln/>
        </p:spPr>
        <p:txBody>
          <a:bodyPr wrap="none" lIns="64008" tIns="32004" rIns="64008" bIns="32004" rtlCol="0" anchor="t"/>
          <a:lstStyle/>
          <a:p>
            <a:pPr>
              <a:lnSpc>
                <a:spcPts val="1521"/>
              </a:lnSpc>
            </a:pPr>
            <a:r>
              <a:rPr lang="en-US" sz="1200" b="1" dirty="0">
                <a:solidFill>
                  <a:srgbClr val="3B4E4E"/>
                </a:solidFill>
                <a:latin typeface="Syne" pitchFamily="34" charset="0"/>
                <a:ea typeface="Syne" pitchFamily="34" charset="-122"/>
                <a:cs typeface="Syne" pitchFamily="34" charset="-120"/>
              </a:rPr>
              <a:t>Identifying Patterns</a:t>
            </a:r>
            <a:endParaRPr lang="en-US" sz="1200" dirty="0"/>
          </a:p>
        </p:txBody>
      </p:sp>
      <p:sp>
        <p:nvSpPr>
          <p:cNvPr id="17" name="Text 14"/>
          <p:cNvSpPr/>
          <p:nvPr/>
        </p:nvSpPr>
        <p:spPr>
          <a:xfrm>
            <a:off x="5178921" y="2286496"/>
            <a:ext cx="2014166" cy="1882775"/>
          </a:xfrm>
          <a:prstGeom prst="rect">
            <a:avLst/>
          </a:prstGeom>
          <a:noFill/>
          <a:ln/>
        </p:spPr>
        <p:txBody>
          <a:bodyPr wrap="square" lIns="64008" tIns="32004" rIns="64008" bIns="32004" rtlCol="0" anchor="t"/>
          <a:lstStyle/>
          <a:p>
            <a:pPr>
              <a:lnSpc>
                <a:spcPts val="1558"/>
              </a:lnSpc>
            </a:pPr>
            <a:r>
              <a:rPr lang="en-US" sz="1000" dirty="0">
                <a:solidFill>
                  <a:srgbClr val="3B4E4E"/>
                </a:solidFill>
                <a:latin typeface="Overpass" pitchFamily="34" charset="0"/>
                <a:ea typeface="Overpass" pitchFamily="34" charset="-122"/>
                <a:cs typeface="Overpass" pitchFamily="34" charset="-120"/>
              </a:rPr>
              <a:t>By applying cluster analysis, businesses can identify dense and sparse regions in their data, uncovering overall distribution patterns and interesting correlations among various attributes. This technique is widely used in numerous applications, including market research, pattern recognition, and data analysis.</a:t>
            </a:r>
            <a:endParaRPr lang="en-US" sz="1000" dirty="0"/>
          </a:p>
        </p:txBody>
      </p:sp>
      <p:sp>
        <p:nvSpPr>
          <p:cNvPr id="18" name="Shape 15"/>
          <p:cNvSpPr/>
          <p:nvPr/>
        </p:nvSpPr>
        <p:spPr>
          <a:xfrm>
            <a:off x="4061594" y="3758208"/>
            <a:ext cx="386209" cy="29369"/>
          </a:xfrm>
          <a:prstGeom prst="roundRect">
            <a:avLst>
              <a:gd name="adj" fmla="val 225469"/>
            </a:avLst>
          </a:prstGeom>
          <a:solidFill>
            <a:srgbClr val="C3D4CC"/>
          </a:solidFill>
          <a:ln/>
        </p:spPr>
      </p:sp>
      <p:sp>
        <p:nvSpPr>
          <p:cNvPr id="19" name="Shape 16"/>
          <p:cNvSpPr/>
          <p:nvPr/>
        </p:nvSpPr>
        <p:spPr>
          <a:xfrm>
            <a:off x="4447803" y="3607495"/>
            <a:ext cx="248246" cy="330994"/>
          </a:xfrm>
          <a:prstGeom prst="roundRect">
            <a:avLst>
              <a:gd name="adj" fmla="val 20006"/>
            </a:avLst>
          </a:prstGeom>
          <a:solidFill>
            <a:srgbClr val="DDEEE6"/>
          </a:solidFill>
          <a:ln w="7620">
            <a:solidFill>
              <a:srgbClr val="C3D4CC"/>
            </a:solidFill>
            <a:prstDash val="solid"/>
          </a:ln>
        </p:spPr>
      </p:sp>
      <p:sp>
        <p:nvSpPr>
          <p:cNvPr id="20" name="Text 17"/>
          <p:cNvSpPr/>
          <p:nvPr/>
        </p:nvSpPr>
        <p:spPr>
          <a:xfrm>
            <a:off x="4518869" y="3634979"/>
            <a:ext cx="106114" cy="275928"/>
          </a:xfrm>
          <a:prstGeom prst="rect">
            <a:avLst/>
          </a:prstGeom>
          <a:noFill/>
          <a:ln/>
        </p:spPr>
        <p:txBody>
          <a:bodyPr wrap="none" lIns="64008" tIns="32004" rIns="64008" bIns="32004" rtlCol="0" anchor="t"/>
          <a:lstStyle/>
          <a:p>
            <a:pPr algn="ctr">
              <a:lnSpc>
                <a:spcPts val="1825"/>
              </a:lnSpc>
            </a:pPr>
            <a:r>
              <a:rPr lang="en-US" sz="1500" b="1" dirty="0">
                <a:solidFill>
                  <a:srgbClr val="3B4E4E"/>
                </a:solidFill>
                <a:latin typeface="Syne" pitchFamily="34" charset="0"/>
                <a:ea typeface="Syne" pitchFamily="34" charset="-122"/>
                <a:cs typeface="Syne" pitchFamily="34" charset="-120"/>
              </a:rPr>
              <a:t>3</a:t>
            </a:r>
            <a:endParaRPr lang="en-US" sz="1500" dirty="0"/>
          </a:p>
        </p:txBody>
      </p:sp>
      <p:sp>
        <p:nvSpPr>
          <p:cNvPr id="21" name="Text 18"/>
          <p:cNvSpPr/>
          <p:nvPr/>
        </p:nvSpPr>
        <p:spPr>
          <a:xfrm>
            <a:off x="1950839" y="3639642"/>
            <a:ext cx="2014091" cy="459780"/>
          </a:xfrm>
          <a:prstGeom prst="rect">
            <a:avLst/>
          </a:prstGeom>
          <a:noFill/>
          <a:ln/>
        </p:spPr>
        <p:txBody>
          <a:bodyPr wrap="square" lIns="64008" tIns="32004" rIns="64008" bIns="32004" rtlCol="0" anchor="t"/>
          <a:lstStyle/>
          <a:p>
            <a:pPr algn="r">
              <a:lnSpc>
                <a:spcPts val="1521"/>
              </a:lnSpc>
            </a:pPr>
            <a:r>
              <a:rPr lang="en-US" sz="1200" b="1" dirty="0">
                <a:solidFill>
                  <a:srgbClr val="3B4E4E"/>
                </a:solidFill>
                <a:latin typeface="Syne" pitchFamily="34" charset="0"/>
                <a:ea typeface="Syne" pitchFamily="34" charset="-122"/>
                <a:cs typeface="Syne" pitchFamily="34" charset="-120"/>
              </a:rPr>
              <a:t>Enhancing Customer Understanding</a:t>
            </a:r>
            <a:endParaRPr lang="en-US" sz="1200" dirty="0"/>
          </a:p>
        </p:txBody>
      </p:sp>
      <p:sp>
        <p:nvSpPr>
          <p:cNvPr id="22" name="Text 19"/>
          <p:cNvSpPr/>
          <p:nvPr/>
        </p:nvSpPr>
        <p:spPr>
          <a:xfrm>
            <a:off x="1950839" y="4187627"/>
            <a:ext cx="2014091" cy="2118122"/>
          </a:xfrm>
          <a:prstGeom prst="rect">
            <a:avLst/>
          </a:prstGeom>
          <a:noFill/>
          <a:ln/>
        </p:spPr>
        <p:txBody>
          <a:bodyPr wrap="square" lIns="64008" tIns="32004" rIns="64008" bIns="32004" rtlCol="0" anchor="t"/>
          <a:lstStyle/>
          <a:p>
            <a:pPr algn="r">
              <a:lnSpc>
                <a:spcPts val="1558"/>
              </a:lnSpc>
            </a:pPr>
            <a:r>
              <a:rPr lang="en-US" sz="1000" dirty="0">
                <a:solidFill>
                  <a:srgbClr val="3B4E4E"/>
                </a:solidFill>
                <a:latin typeface="Overpass" pitchFamily="34" charset="0"/>
                <a:ea typeface="Overpass" pitchFamily="34" charset="-122"/>
                <a:cs typeface="Overpass" pitchFamily="34" charset="-120"/>
              </a:rPr>
              <a:t>In the context of the airline industry, cluster analysis can help marketers discover distinct groups within their customer base and characterize these groups based on purchasing patterns and travel preferences. This deeper understanding of customer segments can inform targeted strategies and service improvements.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254920"/>
            <a:ext cx="5227290"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Methodology and Variables</a:t>
            </a:r>
            <a:endParaRPr lang="en-US" sz="3100" dirty="0"/>
          </a:p>
        </p:txBody>
      </p:sp>
      <p:sp>
        <p:nvSpPr>
          <p:cNvPr id="5" name="Text 3"/>
          <p:cNvSpPr/>
          <p:nvPr/>
        </p:nvSpPr>
        <p:spPr>
          <a:xfrm>
            <a:off x="1273746" y="2296418"/>
            <a:ext cx="2228180" cy="289322"/>
          </a:xfrm>
          <a:prstGeom prst="rect">
            <a:avLst/>
          </a:prstGeom>
          <a:noFill/>
          <a:ln/>
        </p:spPr>
        <p:txBody>
          <a:bodyPr wrap="non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Research Methodology</a:t>
            </a:r>
            <a:endParaRPr lang="en-US" sz="1500" dirty="0"/>
          </a:p>
        </p:txBody>
      </p:sp>
      <p:sp>
        <p:nvSpPr>
          <p:cNvPr id="6" name="Text 4"/>
          <p:cNvSpPr/>
          <p:nvPr/>
        </p:nvSpPr>
        <p:spPr>
          <a:xfrm>
            <a:off x="1273746" y="2770882"/>
            <a:ext cx="3128888" cy="266551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To study the travel preferences and purchasing patterns of domestic airline passengers, the research employed hierarchical clustering using SPSS 26.0. This method involved analyzing an agglomeration schedule, distance matrix, and cluster membership to determine the approximate number of clusters. Subsequently, a non-hierarchical k-means clustering approach was applied to identify the final cluster centers.</a:t>
            </a:r>
            <a:endParaRPr lang="en-US" sz="1200" dirty="0"/>
          </a:p>
        </p:txBody>
      </p:sp>
      <p:sp>
        <p:nvSpPr>
          <p:cNvPr id="7" name="Text 5"/>
          <p:cNvSpPr/>
          <p:nvPr/>
        </p:nvSpPr>
        <p:spPr>
          <a:xfrm>
            <a:off x="4746129" y="2296418"/>
            <a:ext cx="2349178" cy="289322"/>
          </a:xfrm>
          <a:prstGeom prst="rect">
            <a:avLst/>
          </a:prstGeom>
          <a:noFill/>
          <a:ln/>
        </p:spPr>
        <p:txBody>
          <a:bodyPr wrap="none" lIns="64008" tIns="32004" rIns="64008" bIns="32004" rtlCol="0" anchor="t"/>
          <a:lstStyle/>
          <a:p>
            <a:pPr>
              <a:lnSpc>
                <a:spcPts val="1914"/>
              </a:lnSpc>
            </a:pPr>
            <a:r>
              <a:rPr lang="en-US" sz="1500" b="1" dirty="0">
                <a:solidFill>
                  <a:srgbClr val="233939"/>
                </a:solidFill>
                <a:latin typeface="Syne" pitchFamily="34" charset="0"/>
                <a:ea typeface="Syne" pitchFamily="34" charset="-122"/>
                <a:cs typeface="Syne" pitchFamily="34" charset="-120"/>
              </a:rPr>
              <a:t>Service Quality Variables</a:t>
            </a:r>
            <a:endParaRPr lang="en-US" sz="1500" dirty="0"/>
          </a:p>
        </p:txBody>
      </p:sp>
      <p:sp>
        <p:nvSpPr>
          <p:cNvPr id="8" name="Text 6"/>
          <p:cNvSpPr/>
          <p:nvPr/>
        </p:nvSpPr>
        <p:spPr>
          <a:xfrm>
            <a:off x="4746129" y="2770882"/>
            <a:ext cx="3128888" cy="236934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study included 38 service quality variables, encompassing various aspects of the airline experience, such as flight delays, boarding procedures, check-in processes, cabin cleanliness, in-flight entertainment, staff attitudes, luggage handling, and more. These variables were carefully selected to capture a comprehensive understanding of passenger satisfaction levels.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6858000" y="0"/>
            <a:ext cx="2286000" cy="6858000"/>
          </a:xfrm>
          <a:prstGeom prst="rect">
            <a:avLst/>
          </a:prstGeom>
        </p:spPr>
      </p:pic>
      <p:sp>
        <p:nvSpPr>
          <p:cNvPr id="5" name="Text 2"/>
          <p:cNvSpPr/>
          <p:nvPr/>
        </p:nvSpPr>
        <p:spPr>
          <a:xfrm>
            <a:off x="520749" y="1070968"/>
            <a:ext cx="4478164"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Cluster Analysis Results</a:t>
            </a:r>
            <a:endParaRPr lang="en-US" sz="3100" dirty="0"/>
          </a:p>
        </p:txBody>
      </p:sp>
      <p:sp>
        <p:nvSpPr>
          <p:cNvPr id="6" name="Shape 3"/>
          <p:cNvSpPr/>
          <p:nvPr/>
        </p:nvSpPr>
        <p:spPr>
          <a:xfrm>
            <a:off x="520750" y="2071986"/>
            <a:ext cx="312464" cy="416619"/>
          </a:xfrm>
          <a:prstGeom prst="roundRect">
            <a:avLst>
              <a:gd name="adj" fmla="val 20000"/>
            </a:avLst>
          </a:prstGeom>
          <a:solidFill>
            <a:srgbClr val="DDEEE6"/>
          </a:solidFill>
          <a:ln w="7620">
            <a:solidFill>
              <a:srgbClr val="C3D4CC"/>
            </a:solidFill>
            <a:prstDash val="solid"/>
          </a:ln>
        </p:spPr>
      </p:sp>
      <p:sp>
        <p:nvSpPr>
          <p:cNvPr id="7" name="Text 4"/>
          <p:cNvSpPr/>
          <p:nvPr/>
        </p:nvSpPr>
        <p:spPr>
          <a:xfrm>
            <a:off x="636314" y="2106712"/>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8" name="Text 5"/>
          <p:cNvSpPr/>
          <p:nvPr/>
        </p:nvSpPr>
        <p:spPr>
          <a:xfrm>
            <a:off x="972071" y="2135585"/>
            <a:ext cx="2387501"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Reliability and Significance</a:t>
            </a:r>
            <a:endParaRPr lang="en-US" sz="1500" dirty="0"/>
          </a:p>
        </p:txBody>
      </p:sp>
      <p:sp>
        <p:nvSpPr>
          <p:cNvPr id="9" name="Text 6"/>
          <p:cNvSpPr/>
          <p:nvPr/>
        </p:nvSpPr>
        <p:spPr>
          <a:xfrm>
            <a:off x="972071" y="2825254"/>
            <a:ext cx="2387501" cy="2961680"/>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reliability test conducted on the scale yielded a Cronbach's Alpha value of 0.985, indicating an exceptionally high level of internal consistency among the items. Additionally, the analysis of variance (ANOVA) showed that the variables were significant at a 95% confidence level (F = 8.208, p = 0.0001), validating the robustness of the findings.</a:t>
            </a:r>
            <a:endParaRPr lang="en-US" sz="1200" dirty="0"/>
          </a:p>
        </p:txBody>
      </p:sp>
      <p:sp>
        <p:nvSpPr>
          <p:cNvPr id="10" name="Shape 7"/>
          <p:cNvSpPr/>
          <p:nvPr/>
        </p:nvSpPr>
        <p:spPr>
          <a:xfrm>
            <a:off x="3498429" y="2071986"/>
            <a:ext cx="312464" cy="416619"/>
          </a:xfrm>
          <a:prstGeom prst="roundRect">
            <a:avLst>
              <a:gd name="adj" fmla="val 20000"/>
            </a:avLst>
          </a:prstGeom>
          <a:solidFill>
            <a:srgbClr val="DDEEE6"/>
          </a:solidFill>
          <a:ln w="7620">
            <a:solidFill>
              <a:srgbClr val="C3D4CC"/>
            </a:solidFill>
            <a:prstDash val="solid"/>
          </a:ln>
        </p:spPr>
      </p:sp>
      <p:sp>
        <p:nvSpPr>
          <p:cNvPr id="11" name="Text 8"/>
          <p:cNvSpPr/>
          <p:nvPr/>
        </p:nvSpPr>
        <p:spPr>
          <a:xfrm>
            <a:off x="3589660" y="2106712"/>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2" name="Text 9"/>
          <p:cNvSpPr/>
          <p:nvPr/>
        </p:nvSpPr>
        <p:spPr>
          <a:xfrm>
            <a:off x="3949750" y="2135584"/>
            <a:ext cx="213799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Three Distinct Clusters</a:t>
            </a:r>
            <a:endParaRPr lang="en-US" sz="1500" dirty="0"/>
          </a:p>
        </p:txBody>
      </p:sp>
      <p:sp>
        <p:nvSpPr>
          <p:cNvPr id="13" name="Text 10"/>
          <p:cNvSpPr/>
          <p:nvPr/>
        </p:nvSpPr>
        <p:spPr>
          <a:xfrm>
            <a:off x="3949750" y="2535932"/>
            <a:ext cx="2387501" cy="266551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agglomeration schedule indicated the formation of three distinct clusters, which were further analyzed using k-means clustering. The final cluster centers describe the mean value of each variable for each of the three clusters, revealing unique patterns and preferences among the passenger segments.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xmlns="" id="{39831C88-6FC6-16F8-7139-3F59AE20406C}"/>
              </a:ext>
            </a:extLst>
          </p:cNvPr>
          <p:cNvGraphicFramePr/>
          <p:nvPr>
            <p:extLst>
              <p:ext uri="{D42A27DB-BD31-4B8C-83A1-F6EECF244321}">
                <p14:modId xmlns:p14="http://schemas.microsoft.com/office/powerpoint/2010/main" val="2551453922"/>
              </p:ext>
            </p:extLst>
          </p:nvPr>
        </p:nvGraphicFramePr>
        <p:xfrm>
          <a:off x="255241" y="-21790"/>
          <a:ext cx="4083242" cy="3831790"/>
        </p:xfrm>
        <a:graphic>
          <a:graphicData uri="http://schemas.openxmlformats.org/drawingml/2006/chart">
            <c:chart xmlns:c="http://schemas.openxmlformats.org/drawingml/2006/chart" xmlns:r="http://schemas.openxmlformats.org/officeDocument/2006/relationships" r:id="rId2"/>
          </a:graphicData>
        </a:graphic>
      </p:graphicFrame>
      <p:pic>
        <p:nvPicPr>
          <p:cNvPr id="3" name="Picture 2">
            <a:extLst>
              <a:ext uri="{FF2B5EF4-FFF2-40B4-BE49-F238E27FC236}">
                <a16:creationId xmlns:a16="http://schemas.microsoft.com/office/drawing/2014/main" xmlns="" id="{666D9025-B9DC-4191-A8BB-B51BD44DC9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38483" y="2710460"/>
            <a:ext cx="4689383" cy="3705088"/>
          </a:xfrm>
          <a:prstGeom prst="rect">
            <a:avLst/>
          </a:prstGeom>
          <a:noFill/>
        </p:spPr>
      </p:pic>
    </p:spTree>
    <p:extLst>
      <p:ext uri="{BB962C8B-B14F-4D97-AF65-F5344CB8AC3E}">
        <p14:creationId xmlns:p14="http://schemas.microsoft.com/office/powerpoint/2010/main" val="868044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2286000" cy="6858000"/>
          </a:xfrm>
          <a:prstGeom prst="rect">
            <a:avLst/>
          </a:prstGeom>
        </p:spPr>
      </p:pic>
      <p:sp>
        <p:nvSpPr>
          <p:cNvPr id="5" name="Text 2"/>
          <p:cNvSpPr/>
          <p:nvPr/>
        </p:nvSpPr>
        <p:spPr>
          <a:xfrm>
            <a:off x="2802359" y="837407"/>
            <a:ext cx="3852863" cy="510977"/>
          </a:xfrm>
          <a:prstGeom prst="rect">
            <a:avLst/>
          </a:prstGeom>
          <a:noFill/>
          <a:ln/>
        </p:spPr>
        <p:txBody>
          <a:bodyPr wrap="none" lIns="64008" tIns="32004" rIns="64008" bIns="32004" rtlCol="0" anchor="t"/>
          <a:lstStyle/>
          <a:p>
            <a:pPr>
              <a:lnSpc>
                <a:spcPts val="3380"/>
              </a:lnSpc>
            </a:pPr>
            <a:r>
              <a:rPr lang="en-US" sz="2700" b="1" dirty="0">
                <a:solidFill>
                  <a:srgbClr val="233939"/>
                </a:solidFill>
                <a:latin typeface="Syne" pitchFamily="34" charset="0"/>
                <a:ea typeface="Syne" pitchFamily="34" charset="-122"/>
                <a:cs typeface="Syne" pitchFamily="34" charset="-120"/>
              </a:rPr>
              <a:t>Cluster Characteristics</a:t>
            </a:r>
            <a:endParaRPr lang="en-US" sz="2700" dirty="0"/>
          </a:p>
        </p:txBody>
      </p:sp>
      <p:sp>
        <p:nvSpPr>
          <p:cNvPr id="6" name="Shape 3"/>
          <p:cNvSpPr/>
          <p:nvPr/>
        </p:nvSpPr>
        <p:spPr>
          <a:xfrm>
            <a:off x="2802359" y="1593652"/>
            <a:ext cx="2851324" cy="2785567"/>
          </a:xfrm>
          <a:prstGeom prst="roundRect">
            <a:avLst>
              <a:gd name="adj" fmla="val 2642"/>
            </a:avLst>
          </a:prstGeom>
          <a:solidFill>
            <a:srgbClr val="DDEEE6"/>
          </a:solidFill>
          <a:ln w="7620">
            <a:solidFill>
              <a:srgbClr val="C3D4CC"/>
            </a:solidFill>
            <a:prstDash val="solid"/>
          </a:ln>
        </p:spPr>
      </p:sp>
      <p:sp>
        <p:nvSpPr>
          <p:cNvPr id="7" name="Text 4"/>
          <p:cNvSpPr/>
          <p:nvPr/>
        </p:nvSpPr>
        <p:spPr>
          <a:xfrm>
            <a:off x="2929756" y="1763514"/>
            <a:ext cx="2191048" cy="255488"/>
          </a:xfrm>
          <a:prstGeom prst="rect">
            <a:avLst/>
          </a:prstGeom>
          <a:noFill/>
          <a:ln/>
        </p:spPr>
        <p:txBody>
          <a:bodyPr wrap="none" lIns="64008" tIns="32004" rIns="64008" bIns="32004" rtlCol="0" anchor="t"/>
          <a:lstStyle/>
          <a:p>
            <a:pPr>
              <a:lnSpc>
                <a:spcPts val="1690"/>
              </a:lnSpc>
            </a:pPr>
            <a:r>
              <a:rPr lang="en-US" sz="1400" b="1" dirty="0">
                <a:solidFill>
                  <a:srgbClr val="3B4E4E"/>
                </a:solidFill>
                <a:latin typeface="Syne" pitchFamily="34" charset="0"/>
                <a:ea typeface="Syne" pitchFamily="34" charset="-122"/>
                <a:cs typeface="Syne" pitchFamily="34" charset="-120"/>
              </a:rPr>
              <a:t>Cluster 1: Low Satisfaction</a:t>
            </a:r>
            <a:endParaRPr lang="en-US" sz="1400" dirty="0"/>
          </a:p>
        </p:txBody>
      </p:sp>
      <p:sp>
        <p:nvSpPr>
          <p:cNvPr id="8" name="Text 5"/>
          <p:cNvSpPr/>
          <p:nvPr/>
        </p:nvSpPr>
        <p:spPr>
          <a:xfrm>
            <a:off x="2929756" y="2117031"/>
            <a:ext cx="2596530" cy="1830784"/>
          </a:xfrm>
          <a:prstGeom prst="rect">
            <a:avLst/>
          </a:prstGeom>
          <a:noFill/>
          <a:ln/>
        </p:spPr>
        <p:txBody>
          <a:bodyPr wrap="square" lIns="64008" tIns="32004" rIns="64008" bIns="32004" rtlCol="0" anchor="t"/>
          <a:lstStyle/>
          <a:p>
            <a:pPr>
              <a:lnSpc>
                <a:spcPts val="1730"/>
              </a:lnSpc>
            </a:pPr>
            <a:r>
              <a:rPr lang="en-US" sz="1100" dirty="0">
                <a:solidFill>
                  <a:srgbClr val="3B4E4E"/>
                </a:solidFill>
                <a:latin typeface="Overpass" pitchFamily="34" charset="0"/>
                <a:ea typeface="Overpass" pitchFamily="34" charset="-122"/>
                <a:cs typeface="Overpass" pitchFamily="34" charset="-120"/>
              </a:rPr>
              <a:t>Cluster 1, the largest segment comprising 42% of passengers, exhibits notably low satisfaction scores across a range of airline service attributes. This group expresses dissatisfaction with aspects such as waiting times during check-in and in-flight entertainment, indicating areas for immediate improvement.</a:t>
            </a:r>
            <a:endParaRPr lang="en-US" sz="1100" dirty="0"/>
          </a:p>
        </p:txBody>
      </p:sp>
      <p:sp>
        <p:nvSpPr>
          <p:cNvPr id="9" name="Shape 6"/>
          <p:cNvSpPr/>
          <p:nvPr/>
        </p:nvSpPr>
        <p:spPr>
          <a:xfrm>
            <a:off x="5776317" y="1593652"/>
            <a:ext cx="2851324" cy="2785567"/>
          </a:xfrm>
          <a:prstGeom prst="roundRect">
            <a:avLst>
              <a:gd name="adj" fmla="val 2642"/>
            </a:avLst>
          </a:prstGeom>
          <a:solidFill>
            <a:srgbClr val="DDEEE6"/>
          </a:solidFill>
          <a:ln w="7620">
            <a:solidFill>
              <a:srgbClr val="C3D4CC"/>
            </a:solidFill>
            <a:prstDash val="solid"/>
          </a:ln>
        </p:spPr>
      </p:sp>
      <p:sp>
        <p:nvSpPr>
          <p:cNvPr id="10" name="Text 7"/>
          <p:cNvSpPr/>
          <p:nvPr/>
        </p:nvSpPr>
        <p:spPr>
          <a:xfrm>
            <a:off x="5903714" y="1763514"/>
            <a:ext cx="2257128" cy="255488"/>
          </a:xfrm>
          <a:prstGeom prst="rect">
            <a:avLst/>
          </a:prstGeom>
          <a:noFill/>
          <a:ln/>
        </p:spPr>
        <p:txBody>
          <a:bodyPr wrap="none" lIns="64008" tIns="32004" rIns="64008" bIns="32004" rtlCol="0" anchor="t"/>
          <a:lstStyle/>
          <a:p>
            <a:pPr>
              <a:lnSpc>
                <a:spcPts val="1690"/>
              </a:lnSpc>
            </a:pPr>
            <a:r>
              <a:rPr lang="en-US" sz="1400" b="1" dirty="0">
                <a:solidFill>
                  <a:srgbClr val="3B4E4E"/>
                </a:solidFill>
                <a:latin typeface="Syne" pitchFamily="34" charset="0"/>
                <a:ea typeface="Syne" pitchFamily="34" charset="-122"/>
                <a:cs typeface="Syne" pitchFamily="34" charset="-120"/>
              </a:rPr>
              <a:t>Cluster 2: High Satisfaction</a:t>
            </a:r>
            <a:endParaRPr lang="en-US" sz="1400" dirty="0"/>
          </a:p>
        </p:txBody>
      </p:sp>
      <p:sp>
        <p:nvSpPr>
          <p:cNvPr id="11" name="Text 8"/>
          <p:cNvSpPr/>
          <p:nvPr/>
        </p:nvSpPr>
        <p:spPr>
          <a:xfrm>
            <a:off x="5903714" y="2117031"/>
            <a:ext cx="2596530" cy="2092325"/>
          </a:xfrm>
          <a:prstGeom prst="rect">
            <a:avLst/>
          </a:prstGeom>
          <a:noFill/>
          <a:ln/>
        </p:spPr>
        <p:txBody>
          <a:bodyPr wrap="square" lIns="64008" tIns="32004" rIns="64008" bIns="32004" rtlCol="0" anchor="t"/>
          <a:lstStyle/>
          <a:p>
            <a:pPr>
              <a:lnSpc>
                <a:spcPts val="1730"/>
              </a:lnSpc>
            </a:pPr>
            <a:r>
              <a:rPr lang="en-US" sz="1100" dirty="0">
                <a:solidFill>
                  <a:srgbClr val="3B4E4E"/>
                </a:solidFill>
                <a:latin typeface="Overpass" pitchFamily="34" charset="0"/>
                <a:ea typeface="Overpass" pitchFamily="34" charset="-122"/>
                <a:cs typeface="Overpass" pitchFamily="34" charset="-120"/>
              </a:rPr>
              <a:t>Cluster 2, consisting of 38% of passengers, demonstrates moderate to high levels of satisfaction across various service attributes. This segment rates significantly higher compared to the other clusters, reflecting overall positive experiences with airline services, particularly in areas like cabin cleanliness and staff communication.</a:t>
            </a:r>
            <a:endParaRPr lang="en-US" sz="1100" dirty="0"/>
          </a:p>
        </p:txBody>
      </p:sp>
      <p:sp>
        <p:nvSpPr>
          <p:cNvPr id="12" name="Shape 9"/>
          <p:cNvSpPr/>
          <p:nvPr/>
        </p:nvSpPr>
        <p:spPr>
          <a:xfrm>
            <a:off x="2802359" y="4542731"/>
            <a:ext cx="5825282" cy="1774495"/>
          </a:xfrm>
          <a:prstGeom prst="roundRect">
            <a:avLst>
              <a:gd name="adj" fmla="val 4979"/>
            </a:avLst>
          </a:prstGeom>
          <a:solidFill>
            <a:srgbClr val="DDEEE6"/>
          </a:solidFill>
          <a:ln w="7620">
            <a:solidFill>
              <a:srgbClr val="C3D4CC"/>
            </a:solidFill>
            <a:prstDash val="solid"/>
          </a:ln>
        </p:spPr>
      </p:sp>
      <p:sp>
        <p:nvSpPr>
          <p:cNvPr id="13" name="Text 10"/>
          <p:cNvSpPr/>
          <p:nvPr/>
        </p:nvSpPr>
        <p:spPr>
          <a:xfrm>
            <a:off x="2929756" y="4712594"/>
            <a:ext cx="2706961" cy="255488"/>
          </a:xfrm>
          <a:prstGeom prst="rect">
            <a:avLst/>
          </a:prstGeom>
          <a:noFill/>
          <a:ln/>
        </p:spPr>
        <p:txBody>
          <a:bodyPr wrap="none" lIns="64008" tIns="32004" rIns="64008" bIns="32004" rtlCol="0" anchor="t"/>
          <a:lstStyle/>
          <a:p>
            <a:pPr>
              <a:lnSpc>
                <a:spcPts val="1690"/>
              </a:lnSpc>
            </a:pPr>
            <a:r>
              <a:rPr lang="en-US" sz="1400" b="1" dirty="0">
                <a:solidFill>
                  <a:srgbClr val="3B4E4E"/>
                </a:solidFill>
                <a:latin typeface="Syne" pitchFamily="34" charset="0"/>
                <a:ea typeface="Syne" pitchFamily="34" charset="-122"/>
                <a:cs typeface="Syne" pitchFamily="34" charset="-120"/>
              </a:rPr>
              <a:t>Cluster 3: Moderate Satisfaction</a:t>
            </a:r>
            <a:endParaRPr lang="en-US" sz="1400" dirty="0"/>
          </a:p>
        </p:txBody>
      </p:sp>
      <p:sp>
        <p:nvSpPr>
          <p:cNvPr id="14" name="Text 11"/>
          <p:cNvSpPr/>
          <p:nvPr/>
        </p:nvSpPr>
        <p:spPr>
          <a:xfrm>
            <a:off x="2929756" y="5066109"/>
            <a:ext cx="5570414" cy="784622"/>
          </a:xfrm>
          <a:prstGeom prst="rect">
            <a:avLst/>
          </a:prstGeom>
          <a:noFill/>
          <a:ln/>
        </p:spPr>
        <p:txBody>
          <a:bodyPr wrap="square" lIns="64008" tIns="32004" rIns="64008" bIns="32004" rtlCol="0" anchor="t"/>
          <a:lstStyle/>
          <a:p>
            <a:pPr>
              <a:lnSpc>
                <a:spcPts val="1730"/>
              </a:lnSpc>
            </a:pPr>
            <a:r>
              <a:rPr lang="en-US" sz="1100" dirty="0">
                <a:solidFill>
                  <a:srgbClr val="3B4E4E"/>
                </a:solidFill>
                <a:latin typeface="Overpass" pitchFamily="34" charset="0"/>
                <a:ea typeface="Overpass" pitchFamily="34" charset="-122"/>
                <a:cs typeface="Overpass" pitchFamily="34" charset="-120"/>
              </a:rPr>
              <a:t>Cluster 3, comprising 20% of passengers, exhibits moderate satisfaction scores across various airline service attributes. While not as dissatisfied as Cluster 1, this segment presents an opportunity for targeted improvements in areas such as ease of getting tickets and communication skills of staff.</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9191"/>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9144000" cy="6859191"/>
          </a:xfrm>
          <a:prstGeom prst="rect">
            <a:avLst/>
          </a:prstGeom>
        </p:spPr>
      </p:pic>
      <p:sp>
        <p:nvSpPr>
          <p:cNvPr id="5" name="Shape 2"/>
          <p:cNvSpPr/>
          <p:nvPr/>
        </p:nvSpPr>
        <p:spPr>
          <a:xfrm>
            <a:off x="0" y="0"/>
            <a:ext cx="9144000" cy="6859191"/>
          </a:xfrm>
          <a:prstGeom prst="rect">
            <a:avLst/>
          </a:prstGeom>
          <a:solidFill>
            <a:srgbClr val="FFFDE6">
              <a:alpha val="85000"/>
            </a:srgbClr>
          </a:solidFill>
          <a:ln/>
        </p:spPr>
      </p:sp>
      <p:sp>
        <p:nvSpPr>
          <p:cNvPr id="6" name="Text 3"/>
          <p:cNvSpPr/>
          <p:nvPr/>
        </p:nvSpPr>
        <p:spPr>
          <a:xfrm>
            <a:off x="1479873" y="477342"/>
            <a:ext cx="5657329" cy="542429"/>
          </a:xfrm>
          <a:prstGeom prst="rect">
            <a:avLst/>
          </a:prstGeom>
          <a:noFill/>
          <a:ln/>
        </p:spPr>
        <p:txBody>
          <a:bodyPr wrap="none" lIns="64008" tIns="32004" rIns="64008" bIns="32004" rtlCol="0" anchor="t"/>
          <a:lstStyle/>
          <a:p>
            <a:pPr>
              <a:lnSpc>
                <a:spcPts val="3588"/>
              </a:lnSpc>
            </a:pPr>
            <a:r>
              <a:rPr lang="en-US" sz="2900" b="1" dirty="0">
                <a:solidFill>
                  <a:srgbClr val="233939"/>
                </a:solidFill>
                <a:latin typeface="Syne" pitchFamily="34" charset="0"/>
                <a:ea typeface="Syne" pitchFamily="34" charset="-122"/>
                <a:cs typeface="Syne" pitchFamily="34" charset="-120"/>
              </a:rPr>
              <a:t>Tailored Service Enhancements</a:t>
            </a:r>
            <a:endParaRPr lang="en-US" sz="2900" dirty="0"/>
          </a:p>
        </p:txBody>
      </p:sp>
      <p:pic>
        <p:nvPicPr>
          <p:cNvPr id="7" name="Image 1" descr="preencoded.png"/>
          <p:cNvPicPr>
            <a:picLocks noChangeAspect="1"/>
          </p:cNvPicPr>
          <p:nvPr/>
        </p:nvPicPr>
        <p:blipFill>
          <a:blip r:embed="rId4"/>
          <a:stretch>
            <a:fillRect/>
          </a:stretch>
        </p:blipFill>
        <p:spPr>
          <a:xfrm>
            <a:off x="1479873" y="1280120"/>
            <a:ext cx="2061418" cy="694333"/>
          </a:xfrm>
          <a:prstGeom prst="rect">
            <a:avLst/>
          </a:prstGeom>
        </p:spPr>
      </p:pic>
      <p:sp>
        <p:nvSpPr>
          <p:cNvPr id="8" name="Text 4"/>
          <p:cNvSpPr/>
          <p:nvPr/>
        </p:nvSpPr>
        <p:spPr>
          <a:xfrm>
            <a:off x="1610023" y="2234803"/>
            <a:ext cx="1722686" cy="271165"/>
          </a:xfrm>
          <a:prstGeom prst="rect">
            <a:avLst/>
          </a:prstGeom>
          <a:noFill/>
          <a:ln/>
        </p:spPr>
        <p:txBody>
          <a:bodyPr wrap="none" lIns="64008" tIns="32004" rIns="64008" bIns="32004" rtlCol="0" anchor="t"/>
          <a:lstStyle/>
          <a:p>
            <a:pPr>
              <a:lnSpc>
                <a:spcPts val="1794"/>
              </a:lnSpc>
            </a:pPr>
            <a:r>
              <a:rPr lang="en-US" sz="1400" b="1" dirty="0">
                <a:solidFill>
                  <a:srgbClr val="3B4E4E"/>
                </a:solidFill>
                <a:latin typeface="Syne" pitchFamily="34" charset="0"/>
                <a:ea typeface="Syne" pitchFamily="34" charset="-122"/>
                <a:cs typeface="Syne" pitchFamily="34" charset="-120"/>
              </a:rPr>
              <a:t>Identify Pain Points</a:t>
            </a:r>
            <a:endParaRPr lang="en-US" sz="1400" dirty="0"/>
          </a:p>
        </p:txBody>
      </p:sp>
      <p:sp>
        <p:nvSpPr>
          <p:cNvPr id="9" name="Text 5"/>
          <p:cNvSpPr/>
          <p:nvPr/>
        </p:nvSpPr>
        <p:spPr>
          <a:xfrm>
            <a:off x="1610023" y="2610048"/>
            <a:ext cx="1801118" cy="2778125"/>
          </a:xfrm>
          <a:prstGeom prst="rect">
            <a:avLst/>
          </a:prstGeom>
          <a:noFill/>
          <a:ln/>
        </p:spPr>
        <p:txBody>
          <a:bodyPr wrap="square" lIns="64008" tIns="32004" rIns="64008" bIns="32004" rtlCol="0" anchor="t"/>
          <a:lstStyle/>
          <a:p>
            <a:pPr>
              <a:lnSpc>
                <a:spcPts val="1837"/>
              </a:lnSpc>
            </a:pPr>
            <a:r>
              <a:rPr lang="en-US" sz="1100" dirty="0">
                <a:solidFill>
                  <a:srgbClr val="3B4E4E"/>
                </a:solidFill>
                <a:latin typeface="Overpass" pitchFamily="34" charset="0"/>
                <a:ea typeface="Overpass" pitchFamily="34" charset="-122"/>
                <a:cs typeface="Overpass" pitchFamily="34" charset="-120"/>
              </a:rPr>
              <a:t>Airlines should prioritize addressing the specific pain points and areas of dissatisfaction identified within each passenger cluster. For Cluster 1, this may involve reducing waiting times during check-in and enhancing in-flight entertainment to elevate overall satisfaction levels.</a:t>
            </a:r>
            <a:endParaRPr lang="en-US" sz="1100" dirty="0"/>
          </a:p>
        </p:txBody>
      </p:sp>
      <p:pic>
        <p:nvPicPr>
          <p:cNvPr id="10" name="Image 2" descr="preencoded.png"/>
          <p:cNvPicPr>
            <a:picLocks noChangeAspect="1"/>
          </p:cNvPicPr>
          <p:nvPr/>
        </p:nvPicPr>
        <p:blipFill>
          <a:blip r:embed="rId5"/>
          <a:stretch>
            <a:fillRect/>
          </a:stretch>
        </p:blipFill>
        <p:spPr>
          <a:xfrm>
            <a:off x="3541291" y="1280120"/>
            <a:ext cx="2061418" cy="694333"/>
          </a:xfrm>
          <a:prstGeom prst="rect">
            <a:avLst/>
          </a:prstGeom>
        </p:spPr>
      </p:pic>
      <p:sp>
        <p:nvSpPr>
          <p:cNvPr id="11" name="Text 6"/>
          <p:cNvSpPr/>
          <p:nvPr/>
        </p:nvSpPr>
        <p:spPr>
          <a:xfrm>
            <a:off x="3671442" y="2234803"/>
            <a:ext cx="1721569" cy="271165"/>
          </a:xfrm>
          <a:prstGeom prst="rect">
            <a:avLst/>
          </a:prstGeom>
          <a:noFill/>
          <a:ln/>
        </p:spPr>
        <p:txBody>
          <a:bodyPr wrap="none" lIns="64008" tIns="32004" rIns="64008" bIns="32004" rtlCol="0" anchor="t"/>
          <a:lstStyle/>
          <a:p>
            <a:pPr>
              <a:lnSpc>
                <a:spcPts val="1794"/>
              </a:lnSpc>
            </a:pPr>
            <a:r>
              <a:rPr lang="en-US" sz="1400" b="1" dirty="0">
                <a:solidFill>
                  <a:srgbClr val="3B4E4E"/>
                </a:solidFill>
                <a:latin typeface="Syne" pitchFamily="34" charset="0"/>
                <a:ea typeface="Syne" pitchFamily="34" charset="-122"/>
                <a:cs typeface="Syne" pitchFamily="34" charset="-120"/>
              </a:rPr>
              <a:t>Leverage Strengths</a:t>
            </a:r>
            <a:endParaRPr lang="en-US" sz="1400" dirty="0"/>
          </a:p>
        </p:txBody>
      </p:sp>
      <p:sp>
        <p:nvSpPr>
          <p:cNvPr id="12" name="Text 7"/>
          <p:cNvSpPr/>
          <p:nvPr/>
        </p:nvSpPr>
        <p:spPr>
          <a:xfrm>
            <a:off x="3671442" y="2610048"/>
            <a:ext cx="1801118" cy="2778125"/>
          </a:xfrm>
          <a:prstGeom prst="rect">
            <a:avLst/>
          </a:prstGeom>
          <a:noFill/>
          <a:ln/>
        </p:spPr>
        <p:txBody>
          <a:bodyPr wrap="square" lIns="64008" tIns="32004" rIns="64008" bIns="32004" rtlCol="0" anchor="t"/>
          <a:lstStyle/>
          <a:p>
            <a:pPr>
              <a:lnSpc>
                <a:spcPts val="1837"/>
              </a:lnSpc>
            </a:pPr>
            <a:r>
              <a:rPr lang="en-US" sz="1100" dirty="0">
                <a:solidFill>
                  <a:srgbClr val="3B4E4E"/>
                </a:solidFill>
                <a:latin typeface="Overpass" pitchFamily="34" charset="0"/>
                <a:ea typeface="Overpass" pitchFamily="34" charset="-122"/>
                <a:cs typeface="Overpass" pitchFamily="34" charset="-120"/>
              </a:rPr>
              <a:t>By leveraging the strengths highlighted by Cluster 2, such as cabin cleanliness and effective staff communication, airlines can reinforce positive experiences and differentiate themselves in the competitive landscape, fostering greater brand loyalty within this valuable customer segment.</a:t>
            </a:r>
            <a:endParaRPr lang="en-US" sz="1100" dirty="0"/>
          </a:p>
        </p:txBody>
      </p:sp>
      <p:pic>
        <p:nvPicPr>
          <p:cNvPr id="13" name="Image 3" descr="preencoded.png"/>
          <p:cNvPicPr>
            <a:picLocks noChangeAspect="1"/>
          </p:cNvPicPr>
          <p:nvPr/>
        </p:nvPicPr>
        <p:blipFill>
          <a:blip r:embed="rId6"/>
          <a:stretch>
            <a:fillRect/>
          </a:stretch>
        </p:blipFill>
        <p:spPr>
          <a:xfrm>
            <a:off x="5602710" y="1280120"/>
            <a:ext cx="2061418" cy="694333"/>
          </a:xfrm>
          <a:prstGeom prst="rect">
            <a:avLst/>
          </a:prstGeom>
        </p:spPr>
      </p:pic>
      <p:sp>
        <p:nvSpPr>
          <p:cNvPr id="14" name="Text 8"/>
          <p:cNvSpPr/>
          <p:nvPr/>
        </p:nvSpPr>
        <p:spPr>
          <a:xfrm>
            <a:off x="5732860" y="2234804"/>
            <a:ext cx="1801118" cy="813494"/>
          </a:xfrm>
          <a:prstGeom prst="rect">
            <a:avLst/>
          </a:prstGeom>
          <a:noFill/>
          <a:ln/>
        </p:spPr>
        <p:txBody>
          <a:bodyPr wrap="square" lIns="64008" tIns="32004" rIns="64008" bIns="32004" rtlCol="0" anchor="t"/>
          <a:lstStyle/>
          <a:p>
            <a:pPr>
              <a:lnSpc>
                <a:spcPts val="1794"/>
              </a:lnSpc>
            </a:pPr>
            <a:r>
              <a:rPr lang="en-US" sz="1400" b="1" dirty="0">
                <a:solidFill>
                  <a:srgbClr val="3B4E4E"/>
                </a:solidFill>
                <a:latin typeface="Syne" pitchFamily="34" charset="0"/>
                <a:ea typeface="Syne" pitchFamily="34" charset="-122"/>
                <a:cs typeface="Syne" pitchFamily="34" charset="-120"/>
              </a:rPr>
              <a:t>Implement Targeted Improvements</a:t>
            </a:r>
            <a:endParaRPr lang="en-US" sz="1400" dirty="0"/>
          </a:p>
        </p:txBody>
      </p:sp>
      <p:sp>
        <p:nvSpPr>
          <p:cNvPr id="15" name="Text 9"/>
          <p:cNvSpPr/>
          <p:nvPr/>
        </p:nvSpPr>
        <p:spPr>
          <a:xfrm>
            <a:off x="5732860" y="2888258"/>
            <a:ext cx="1801118" cy="3055938"/>
          </a:xfrm>
          <a:prstGeom prst="rect">
            <a:avLst/>
          </a:prstGeom>
          <a:noFill/>
          <a:ln/>
        </p:spPr>
        <p:txBody>
          <a:bodyPr wrap="square" lIns="64008" tIns="32004" rIns="64008" bIns="32004" rtlCol="0" anchor="t"/>
          <a:lstStyle/>
          <a:p>
            <a:pPr>
              <a:lnSpc>
                <a:spcPts val="1837"/>
              </a:lnSpc>
            </a:pPr>
            <a:r>
              <a:rPr lang="en-US" sz="1100" dirty="0">
                <a:solidFill>
                  <a:srgbClr val="3B4E4E"/>
                </a:solidFill>
                <a:latin typeface="Overpass" pitchFamily="34" charset="0"/>
                <a:ea typeface="Overpass" pitchFamily="34" charset="-122"/>
                <a:cs typeface="Overpass" pitchFamily="34" charset="-120"/>
              </a:rPr>
              <a:t>For Cluster 3, implementing targeted improvements based on customer feedback is crucial to meeting evolving passenger preferences and maintaining high levels of satisfaction. Addressing areas like ease of getting tickets and staff communication skills can help elevate the overall experience for this segment.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857944"/>
            <a:ext cx="6596509" cy="1157288"/>
          </a:xfrm>
          <a:prstGeom prst="rect">
            <a:avLst/>
          </a:prstGeom>
          <a:noFill/>
          <a:ln/>
        </p:spPr>
        <p:txBody>
          <a:bodyPr wrap="squar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Competitive Advantage through Customer-Centricity</a:t>
            </a:r>
            <a:endParaRPr lang="en-US" sz="3100" dirty="0"/>
          </a:p>
        </p:txBody>
      </p:sp>
      <p:pic>
        <p:nvPicPr>
          <p:cNvPr id="5" name="Image 0" descr="preencoded.png"/>
          <p:cNvPicPr>
            <a:picLocks noChangeAspect="1"/>
          </p:cNvPicPr>
          <p:nvPr/>
        </p:nvPicPr>
        <p:blipFill>
          <a:blip r:embed="rId3"/>
          <a:stretch>
            <a:fillRect/>
          </a:stretch>
        </p:blipFill>
        <p:spPr>
          <a:xfrm>
            <a:off x="1273746" y="2385517"/>
            <a:ext cx="277713" cy="370284"/>
          </a:xfrm>
          <a:prstGeom prst="rect">
            <a:avLst/>
          </a:prstGeom>
        </p:spPr>
      </p:pic>
      <p:sp>
        <p:nvSpPr>
          <p:cNvPr id="6" name="Text 3"/>
          <p:cNvSpPr/>
          <p:nvPr/>
        </p:nvSpPr>
        <p:spPr>
          <a:xfrm>
            <a:off x="1273746" y="2940944"/>
            <a:ext cx="2059930"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Segmented Strategies</a:t>
            </a:r>
            <a:endParaRPr lang="en-US" sz="1500" dirty="0"/>
          </a:p>
        </p:txBody>
      </p:sp>
      <p:sp>
        <p:nvSpPr>
          <p:cNvPr id="7" name="Text 4"/>
          <p:cNvSpPr/>
          <p:nvPr/>
        </p:nvSpPr>
        <p:spPr>
          <a:xfrm>
            <a:off x="1273746" y="3630613"/>
            <a:ext cx="2059930" cy="236934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By adopting a segmented approach based on the distinct passenger clusters, airlines can effectively address varying levels of satisfaction and tailor their strategies to meet the specific needs and preferences of each group.</a:t>
            </a:r>
            <a:endParaRPr lang="en-US" sz="1200" dirty="0"/>
          </a:p>
        </p:txBody>
      </p:sp>
      <p:pic>
        <p:nvPicPr>
          <p:cNvPr id="8" name="Image 1" descr="preencoded.png"/>
          <p:cNvPicPr>
            <a:picLocks noChangeAspect="1"/>
          </p:cNvPicPr>
          <p:nvPr/>
        </p:nvPicPr>
        <p:blipFill>
          <a:blip r:embed="rId4"/>
          <a:stretch>
            <a:fillRect/>
          </a:stretch>
        </p:blipFill>
        <p:spPr>
          <a:xfrm>
            <a:off x="3541961" y="2385517"/>
            <a:ext cx="277713" cy="370284"/>
          </a:xfrm>
          <a:prstGeom prst="rect">
            <a:avLst/>
          </a:prstGeom>
        </p:spPr>
      </p:pic>
      <p:sp>
        <p:nvSpPr>
          <p:cNvPr id="9" name="Text 5"/>
          <p:cNvSpPr/>
          <p:nvPr/>
        </p:nvSpPr>
        <p:spPr>
          <a:xfrm>
            <a:off x="3541961" y="2940944"/>
            <a:ext cx="2060004"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Exceptional Experiences</a:t>
            </a:r>
            <a:endParaRPr lang="en-US" sz="1500" dirty="0"/>
          </a:p>
        </p:txBody>
      </p:sp>
      <p:sp>
        <p:nvSpPr>
          <p:cNvPr id="10" name="Text 6"/>
          <p:cNvSpPr/>
          <p:nvPr/>
        </p:nvSpPr>
        <p:spPr>
          <a:xfrm>
            <a:off x="3541961" y="3630613"/>
            <a:ext cx="2060004" cy="236934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Consistently delivering exceptional experiences tailored to the unique needs of each passenger cluster can strengthen brand loyalty, attract new customers, and ultimately enhance the airline's market position and profitability.</a:t>
            </a:r>
            <a:endParaRPr lang="en-US" sz="1200" dirty="0"/>
          </a:p>
        </p:txBody>
      </p:sp>
      <p:pic>
        <p:nvPicPr>
          <p:cNvPr id="11" name="Image 2" descr="preencoded.png"/>
          <p:cNvPicPr>
            <a:picLocks noChangeAspect="1"/>
          </p:cNvPicPr>
          <p:nvPr/>
        </p:nvPicPr>
        <p:blipFill>
          <a:blip r:embed="rId5"/>
          <a:stretch>
            <a:fillRect/>
          </a:stretch>
        </p:blipFill>
        <p:spPr>
          <a:xfrm>
            <a:off x="5810250" y="2385517"/>
            <a:ext cx="277713" cy="370284"/>
          </a:xfrm>
          <a:prstGeom prst="rect">
            <a:avLst/>
          </a:prstGeom>
        </p:spPr>
      </p:pic>
      <p:sp>
        <p:nvSpPr>
          <p:cNvPr id="12" name="Text 7"/>
          <p:cNvSpPr/>
          <p:nvPr/>
        </p:nvSpPr>
        <p:spPr>
          <a:xfrm>
            <a:off x="5810250" y="2940944"/>
            <a:ext cx="2060004"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Data-Driven Decisions</a:t>
            </a:r>
            <a:endParaRPr lang="en-US" sz="1500" dirty="0"/>
          </a:p>
        </p:txBody>
      </p:sp>
      <p:sp>
        <p:nvSpPr>
          <p:cNvPr id="13" name="Text 8"/>
          <p:cNvSpPr/>
          <p:nvPr/>
        </p:nvSpPr>
        <p:spPr>
          <a:xfrm>
            <a:off x="5810250" y="3630613"/>
            <a:ext cx="2060004" cy="207317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insights gained from cluster analysis empower airlines to make data-driven decisions, optimizing service delivery and resource allocation based on a deep understanding of customer preferences and behaviors.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67624"/>
          </a:xfrm>
          <a:prstGeom prst="rect">
            <a:avLst/>
          </a:prstGeom>
          <a:solidFill>
            <a:srgbClr val="FFFDE6"/>
          </a:solidFill>
          <a:ln/>
        </p:spPr>
      </p:sp>
      <p:sp>
        <p:nvSpPr>
          <p:cNvPr id="4" name="Text 2"/>
          <p:cNvSpPr/>
          <p:nvPr/>
        </p:nvSpPr>
        <p:spPr>
          <a:xfrm>
            <a:off x="1744936" y="436365"/>
            <a:ext cx="5654129" cy="991791"/>
          </a:xfrm>
          <a:prstGeom prst="rect">
            <a:avLst/>
          </a:prstGeom>
          <a:noFill/>
          <a:ln/>
        </p:spPr>
        <p:txBody>
          <a:bodyPr wrap="square" lIns="64008" tIns="32004" rIns="64008" bIns="32004" rtlCol="0" anchor="t"/>
          <a:lstStyle/>
          <a:p>
            <a:pPr>
              <a:lnSpc>
                <a:spcPts val="3280"/>
              </a:lnSpc>
            </a:pPr>
            <a:r>
              <a:rPr lang="en-US" sz="2600" b="1" dirty="0">
                <a:solidFill>
                  <a:srgbClr val="233939"/>
                </a:solidFill>
                <a:latin typeface="Syne" pitchFamily="34" charset="0"/>
                <a:ea typeface="Syne" pitchFamily="34" charset="-122"/>
                <a:cs typeface="Syne" pitchFamily="34" charset="-120"/>
              </a:rPr>
              <a:t>Conclusion: Soaring to New Heights</a:t>
            </a:r>
            <a:endParaRPr lang="en-US" sz="2600" dirty="0"/>
          </a:p>
        </p:txBody>
      </p:sp>
      <p:sp>
        <p:nvSpPr>
          <p:cNvPr id="5" name="Shape 3"/>
          <p:cNvSpPr/>
          <p:nvPr/>
        </p:nvSpPr>
        <p:spPr>
          <a:xfrm>
            <a:off x="1744936" y="1319162"/>
            <a:ext cx="5924226" cy="5112099"/>
          </a:xfrm>
          <a:prstGeom prst="roundRect">
            <a:avLst>
              <a:gd name="adj" fmla="val 1524"/>
            </a:avLst>
          </a:prstGeom>
          <a:noFill/>
          <a:ln w="7620">
            <a:solidFill>
              <a:srgbClr val="000000">
                <a:alpha val="8000"/>
              </a:srgbClr>
            </a:solidFill>
            <a:prstDash val="solid"/>
          </a:ln>
        </p:spPr>
      </p:sp>
      <p:sp>
        <p:nvSpPr>
          <p:cNvPr id="6" name="Shape 4"/>
          <p:cNvSpPr/>
          <p:nvPr/>
        </p:nvSpPr>
        <p:spPr>
          <a:xfrm>
            <a:off x="1749699" y="1751906"/>
            <a:ext cx="5644604" cy="1473002"/>
          </a:xfrm>
          <a:prstGeom prst="rect">
            <a:avLst/>
          </a:prstGeom>
          <a:solidFill>
            <a:srgbClr val="FFFFFF">
              <a:alpha val="4000"/>
            </a:srgbClr>
          </a:solidFill>
          <a:ln/>
        </p:spPr>
      </p:sp>
      <p:sp>
        <p:nvSpPr>
          <p:cNvPr id="7" name="Text 5"/>
          <p:cNvSpPr/>
          <p:nvPr/>
        </p:nvSpPr>
        <p:spPr>
          <a:xfrm>
            <a:off x="1868686" y="1853406"/>
            <a:ext cx="2581945" cy="254000"/>
          </a:xfrm>
          <a:prstGeom prst="rect">
            <a:avLst/>
          </a:prstGeom>
          <a:noFill/>
          <a:ln/>
        </p:spPr>
        <p:txBody>
          <a:bodyPr wrap="none" lIns="64008" tIns="32004" rIns="64008" bIns="32004" rtlCol="0" anchor="t"/>
          <a:lstStyle/>
          <a:p>
            <a:pPr>
              <a:lnSpc>
                <a:spcPts val="1679"/>
              </a:lnSpc>
            </a:pPr>
            <a:r>
              <a:rPr lang="en-US" sz="1100" b="1" dirty="0">
                <a:solidFill>
                  <a:srgbClr val="3B4E4E"/>
                </a:solidFill>
                <a:latin typeface="Overpass" pitchFamily="34" charset="0"/>
                <a:ea typeface="Overpass" pitchFamily="34" charset="-122"/>
                <a:cs typeface="Overpass" pitchFamily="34" charset="-120"/>
              </a:rPr>
              <a:t>Key Takeaway</a:t>
            </a:r>
            <a:endParaRPr lang="en-US" sz="1100" dirty="0"/>
          </a:p>
        </p:txBody>
      </p:sp>
      <p:sp>
        <p:nvSpPr>
          <p:cNvPr id="8" name="Text 6"/>
          <p:cNvSpPr/>
          <p:nvPr/>
        </p:nvSpPr>
        <p:spPr>
          <a:xfrm>
            <a:off x="4693369" y="1742282"/>
            <a:ext cx="2705696" cy="1381124"/>
          </a:xfrm>
          <a:prstGeom prst="rect">
            <a:avLst/>
          </a:prstGeom>
          <a:noFill/>
          <a:ln/>
        </p:spPr>
        <p:txBody>
          <a:bodyPr wrap="square" lIns="64008" tIns="32004" rIns="64008" bIns="32004" rtlCol="0" anchor="t"/>
          <a:lstStyle/>
          <a:p>
            <a:pPr>
              <a:lnSpc>
                <a:spcPts val="1679"/>
              </a:lnSpc>
            </a:pPr>
            <a:r>
              <a:rPr lang="en-US" sz="1100" dirty="0">
                <a:solidFill>
                  <a:srgbClr val="3B4E4E"/>
                </a:solidFill>
                <a:latin typeface="Overpass" pitchFamily="34" charset="0"/>
                <a:ea typeface="Overpass" pitchFamily="34" charset="-122"/>
                <a:cs typeface="Overpass" pitchFamily="34" charset="-120"/>
              </a:rPr>
              <a:t>By understanding and addressing the diverse satisfaction levels and preferences of passenger clusters, airlines can optimize service delivery, drive customer satisfaction, and ultimately enhance their market position and profitability.</a:t>
            </a:r>
            <a:endParaRPr lang="en-US" sz="1100" dirty="0"/>
          </a:p>
        </p:txBody>
      </p:sp>
      <p:sp>
        <p:nvSpPr>
          <p:cNvPr id="9" name="Shape 7"/>
          <p:cNvSpPr/>
          <p:nvPr/>
        </p:nvSpPr>
        <p:spPr>
          <a:xfrm>
            <a:off x="1749699" y="3224907"/>
            <a:ext cx="5644604" cy="1473002"/>
          </a:xfrm>
          <a:prstGeom prst="rect">
            <a:avLst/>
          </a:prstGeom>
          <a:solidFill>
            <a:srgbClr val="000000">
              <a:alpha val="4000"/>
            </a:srgbClr>
          </a:solidFill>
          <a:ln/>
        </p:spPr>
      </p:sp>
      <p:sp>
        <p:nvSpPr>
          <p:cNvPr id="10" name="Text 8"/>
          <p:cNvSpPr/>
          <p:nvPr/>
        </p:nvSpPr>
        <p:spPr>
          <a:xfrm>
            <a:off x="1868686" y="3326408"/>
            <a:ext cx="2581945" cy="254000"/>
          </a:xfrm>
          <a:prstGeom prst="rect">
            <a:avLst/>
          </a:prstGeom>
          <a:noFill/>
          <a:ln/>
        </p:spPr>
        <p:txBody>
          <a:bodyPr wrap="none" lIns="64008" tIns="32004" rIns="64008" bIns="32004" rtlCol="0" anchor="t"/>
          <a:lstStyle/>
          <a:p>
            <a:pPr>
              <a:lnSpc>
                <a:spcPts val="1679"/>
              </a:lnSpc>
            </a:pPr>
            <a:r>
              <a:rPr lang="en-US" sz="1100" b="1" dirty="0">
                <a:solidFill>
                  <a:srgbClr val="3B4E4E"/>
                </a:solidFill>
                <a:latin typeface="Overpass" pitchFamily="34" charset="0"/>
                <a:ea typeface="Overpass" pitchFamily="34" charset="-122"/>
                <a:cs typeface="Overpass" pitchFamily="34" charset="-120"/>
              </a:rPr>
              <a:t>Competitive Edge</a:t>
            </a:r>
            <a:endParaRPr lang="en-US" sz="1100" dirty="0"/>
          </a:p>
        </p:txBody>
      </p:sp>
      <p:sp>
        <p:nvSpPr>
          <p:cNvPr id="11" name="Text 9"/>
          <p:cNvSpPr/>
          <p:nvPr/>
        </p:nvSpPr>
        <p:spPr>
          <a:xfrm>
            <a:off x="4693369" y="3326408"/>
            <a:ext cx="2581945" cy="1270000"/>
          </a:xfrm>
          <a:prstGeom prst="rect">
            <a:avLst/>
          </a:prstGeom>
          <a:noFill/>
          <a:ln/>
        </p:spPr>
        <p:txBody>
          <a:bodyPr wrap="square" lIns="64008" tIns="32004" rIns="64008" bIns="32004" rtlCol="0" anchor="t"/>
          <a:lstStyle/>
          <a:p>
            <a:pPr>
              <a:lnSpc>
                <a:spcPts val="1679"/>
              </a:lnSpc>
            </a:pPr>
            <a:r>
              <a:rPr lang="en-US" sz="1100" dirty="0">
                <a:solidFill>
                  <a:srgbClr val="3B4E4E"/>
                </a:solidFill>
                <a:latin typeface="Overpass" pitchFamily="34" charset="0"/>
                <a:ea typeface="Overpass" pitchFamily="34" charset="-122"/>
                <a:cs typeface="Overpass" pitchFamily="34" charset="-120"/>
              </a:rPr>
              <a:t>Implementing customer-centric strategies based on cluster analysis insights can provide airlines with a significant competitive edge in the industry, enabling them to differentiate their offerings and foster long-term customer loyalty.</a:t>
            </a:r>
            <a:endParaRPr lang="en-US" sz="1100" dirty="0"/>
          </a:p>
        </p:txBody>
      </p:sp>
      <p:sp>
        <p:nvSpPr>
          <p:cNvPr id="12" name="Shape 10"/>
          <p:cNvSpPr/>
          <p:nvPr/>
        </p:nvSpPr>
        <p:spPr>
          <a:xfrm>
            <a:off x="1749699" y="4697908"/>
            <a:ext cx="5644604" cy="1727002"/>
          </a:xfrm>
          <a:prstGeom prst="rect">
            <a:avLst/>
          </a:prstGeom>
          <a:solidFill>
            <a:srgbClr val="FFFFFF">
              <a:alpha val="4000"/>
            </a:srgbClr>
          </a:solidFill>
          <a:ln/>
        </p:spPr>
      </p:sp>
      <p:sp>
        <p:nvSpPr>
          <p:cNvPr id="13" name="Text 11"/>
          <p:cNvSpPr/>
          <p:nvPr/>
        </p:nvSpPr>
        <p:spPr>
          <a:xfrm>
            <a:off x="1868686" y="4799409"/>
            <a:ext cx="2581945" cy="254000"/>
          </a:xfrm>
          <a:prstGeom prst="rect">
            <a:avLst/>
          </a:prstGeom>
          <a:noFill/>
          <a:ln/>
        </p:spPr>
        <p:txBody>
          <a:bodyPr wrap="none" lIns="64008" tIns="32004" rIns="64008" bIns="32004" rtlCol="0" anchor="t"/>
          <a:lstStyle/>
          <a:p>
            <a:pPr>
              <a:lnSpc>
                <a:spcPts val="1679"/>
              </a:lnSpc>
            </a:pPr>
            <a:r>
              <a:rPr lang="en-US" sz="1100" b="1" dirty="0">
                <a:solidFill>
                  <a:srgbClr val="3B4E4E"/>
                </a:solidFill>
                <a:latin typeface="Overpass" pitchFamily="34" charset="0"/>
                <a:ea typeface="Overpass" pitchFamily="34" charset="-122"/>
                <a:cs typeface="Overpass" pitchFamily="34" charset="-120"/>
              </a:rPr>
              <a:t>Continuous Improvement</a:t>
            </a:r>
            <a:endParaRPr lang="en-US" sz="1100" dirty="0"/>
          </a:p>
        </p:txBody>
      </p:sp>
      <p:sp>
        <p:nvSpPr>
          <p:cNvPr id="14" name="Text 12"/>
          <p:cNvSpPr/>
          <p:nvPr/>
        </p:nvSpPr>
        <p:spPr>
          <a:xfrm>
            <a:off x="4693369" y="4799409"/>
            <a:ext cx="2581945" cy="1524000"/>
          </a:xfrm>
          <a:prstGeom prst="rect">
            <a:avLst/>
          </a:prstGeom>
          <a:noFill/>
          <a:ln/>
        </p:spPr>
        <p:txBody>
          <a:bodyPr wrap="square" lIns="64008" tIns="32004" rIns="64008" bIns="32004" rtlCol="0" anchor="t"/>
          <a:lstStyle/>
          <a:p>
            <a:pPr>
              <a:lnSpc>
                <a:spcPts val="1679"/>
              </a:lnSpc>
            </a:pPr>
            <a:r>
              <a:rPr lang="en-US" sz="1100" dirty="0">
                <a:solidFill>
                  <a:srgbClr val="3B4E4E"/>
                </a:solidFill>
                <a:latin typeface="Overpass" pitchFamily="34" charset="0"/>
                <a:ea typeface="Overpass" pitchFamily="34" charset="-122"/>
                <a:cs typeface="Overpass" pitchFamily="34" charset="-120"/>
              </a:rPr>
              <a:t>As customer preferences and market dynamics evolve, airlines should continuously monitor and analyze passenger data, refining their cluster analysis and adapting their strategies to maintain a customer-centric approach and stay ahead of the competition.</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3429000" cy="6858000"/>
          </a:xfrm>
          <a:prstGeom prst="rect">
            <a:avLst/>
          </a:prstGeom>
        </p:spPr>
      </p:pic>
      <p:sp>
        <p:nvSpPr>
          <p:cNvPr id="5" name="Text 2"/>
          <p:cNvSpPr/>
          <p:nvPr/>
        </p:nvSpPr>
        <p:spPr>
          <a:xfrm>
            <a:off x="3949750" y="583407"/>
            <a:ext cx="4673501" cy="3992563"/>
          </a:xfrm>
          <a:prstGeom prst="rect">
            <a:avLst/>
          </a:prstGeom>
          <a:noFill/>
          <a:ln/>
        </p:spPr>
        <p:txBody>
          <a:bodyPr wrap="square" lIns="64008" tIns="32004" rIns="64008" bIns="32004" rtlCol="0" anchor="t"/>
          <a:lstStyle/>
          <a:p>
            <a:pPr>
              <a:lnSpc>
                <a:spcPts val="5282"/>
              </a:lnSpc>
            </a:pPr>
            <a:r>
              <a:rPr lang="en-US" sz="4200" b="1" dirty="0">
                <a:solidFill>
                  <a:srgbClr val="233939"/>
                </a:solidFill>
                <a:latin typeface="Syne" pitchFamily="34" charset="0"/>
                <a:ea typeface="Syne" pitchFamily="34" charset="-122"/>
                <a:cs typeface="Syne" pitchFamily="34" charset="-120"/>
              </a:rPr>
              <a:t>Passenger Loyalty Insights: Decision Tree Analysis in Indian Aviation</a:t>
            </a:r>
            <a:endParaRPr lang="en-US" sz="4200" dirty="0"/>
          </a:p>
        </p:txBody>
      </p:sp>
      <p:sp>
        <p:nvSpPr>
          <p:cNvPr id="6" name="Text 3"/>
          <p:cNvSpPr/>
          <p:nvPr/>
        </p:nvSpPr>
        <p:spPr>
          <a:xfrm>
            <a:off x="3949750" y="4853682"/>
            <a:ext cx="4673501"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This chapter explores factors influencing passenger loyalty in Indian aviation. Through decision tree analysis, we aim to uncover hidden patterns and insights into passenger preferences and satisfaction.</a:t>
            </a:r>
            <a:endParaRPr lang="en-US" sz="1200" dirty="0"/>
          </a:p>
        </p:txBody>
      </p:sp>
      <p:sp>
        <p:nvSpPr>
          <p:cNvPr id="7" name="Shape 4"/>
          <p:cNvSpPr/>
          <p:nvPr/>
        </p:nvSpPr>
        <p:spPr>
          <a:xfrm>
            <a:off x="3949750" y="5964337"/>
            <a:ext cx="222126" cy="296168"/>
          </a:xfrm>
          <a:prstGeom prst="roundRect">
            <a:avLst>
              <a:gd name="adj" fmla="val 25726039"/>
            </a:avLst>
          </a:prstGeom>
          <a:noFill/>
          <a:ln w="7620">
            <a:solidFill>
              <a:srgbClr val="FFFFFF"/>
            </a:solidFill>
            <a:prstDash val="solid"/>
          </a:ln>
        </p:spPr>
      </p:sp>
      <p:pic>
        <p:nvPicPr>
          <p:cNvPr id="8" name="Image 1" descr="preencoded.png"/>
          <p:cNvPicPr>
            <a:picLocks noChangeAspect="1"/>
          </p:cNvPicPr>
          <p:nvPr/>
        </p:nvPicPr>
        <p:blipFill>
          <a:blip r:embed="rId4"/>
          <a:stretch>
            <a:fillRect/>
          </a:stretch>
        </p:blipFill>
        <p:spPr>
          <a:xfrm>
            <a:off x="3954512" y="5970687"/>
            <a:ext cx="212601" cy="2834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6858000" y="0"/>
            <a:ext cx="2286000" cy="6858000"/>
          </a:xfrm>
          <a:prstGeom prst="rect">
            <a:avLst/>
          </a:prstGeom>
        </p:spPr>
      </p:pic>
      <p:sp>
        <p:nvSpPr>
          <p:cNvPr id="5" name="Text 2"/>
          <p:cNvSpPr/>
          <p:nvPr/>
        </p:nvSpPr>
        <p:spPr>
          <a:xfrm>
            <a:off x="520749" y="771228"/>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Data Collection</a:t>
            </a:r>
            <a:endParaRPr lang="en-US" sz="3100" dirty="0"/>
          </a:p>
        </p:txBody>
      </p:sp>
      <p:sp>
        <p:nvSpPr>
          <p:cNvPr id="6" name="Shape 3"/>
          <p:cNvSpPr/>
          <p:nvPr/>
        </p:nvSpPr>
        <p:spPr>
          <a:xfrm>
            <a:off x="715194" y="1627584"/>
            <a:ext cx="27756" cy="4459188"/>
          </a:xfrm>
          <a:prstGeom prst="roundRect">
            <a:avLst>
              <a:gd name="adj" fmla="val 225151"/>
            </a:avLst>
          </a:prstGeom>
          <a:solidFill>
            <a:srgbClr val="C3D4CC"/>
          </a:solidFill>
          <a:ln/>
        </p:spPr>
      </p:sp>
      <p:sp>
        <p:nvSpPr>
          <p:cNvPr id="7" name="Shape 4"/>
          <p:cNvSpPr/>
          <p:nvPr/>
        </p:nvSpPr>
        <p:spPr>
          <a:xfrm>
            <a:off x="885267" y="1962001"/>
            <a:ext cx="485998" cy="37008"/>
          </a:xfrm>
          <a:prstGeom prst="roundRect">
            <a:avLst>
              <a:gd name="adj" fmla="val 225151"/>
            </a:avLst>
          </a:prstGeom>
          <a:solidFill>
            <a:srgbClr val="C3D4CC"/>
          </a:solidFill>
          <a:ln/>
        </p:spPr>
      </p:sp>
      <p:sp>
        <p:nvSpPr>
          <p:cNvPr id="8" name="Shape 5"/>
          <p:cNvSpPr/>
          <p:nvPr/>
        </p:nvSpPr>
        <p:spPr>
          <a:xfrm>
            <a:off x="572803" y="1772245"/>
            <a:ext cx="312464" cy="416619"/>
          </a:xfrm>
          <a:prstGeom prst="roundRect">
            <a:avLst>
              <a:gd name="adj" fmla="val 20000"/>
            </a:avLst>
          </a:prstGeom>
          <a:solidFill>
            <a:srgbClr val="DDEEE6"/>
          </a:solidFill>
          <a:ln w="7620">
            <a:solidFill>
              <a:srgbClr val="C3D4CC"/>
            </a:solidFill>
            <a:prstDash val="solid"/>
          </a:ln>
        </p:spPr>
      </p:sp>
      <p:sp>
        <p:nvSpPr>
          <p:cNvPr id="9" name="Text 6"/>
          <p:cNvSpPr/>
          <p:nvPr/>
        </p:nvSpPr>
        <p:spPr>
          <a:xfrm>
            <a:off x="688368" y="1806972"/>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10" name="Text 7"/>
          <p:cNvSpPr/>
          <p:nvPr/>
        </p:nvSpPr>
        <p:spPr>
          <a:xfrm>
            <a:off x="1492821" y="1812727"/>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Survey</a:t>
            </a:r>
            <a:endParaRPr lang="en-US" sz="1500" dirty="0"/>
          </a:p>
        </p:txBody>
      </p:sp>
      <p:sp>
        <p:nvSpPr>
          <p:cNvPr id="11" name="Text 8"/>
          <p:cNvSpPr/>
          <p:nvPr/>
        </p:nvSpPr>
        <p:spPr>
          <a:xfrm>
            <a:off x="1492821" y="2213075"/>
            <a:ext cx="4844430"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 structured survey captured service quality variables from 440 passengers in Indian domestic aviation.</a:t>
            </a:r>
            <a:endParaRPr lang="en-US" sz="1200" dirty="0"/>
          </a:p>
        </p:txBody>
      </p:sp>
      <p:sp>
        <p:nvSpPr>
          <p:cNvPr id="12" name="Shape 9"/>
          <p:cNvSpPr/>
          <p:nvPr/>
        </p:nvSpPr>
        <p:spPr>
          <a:xfrm>
            <a:off x="885267" y="3510112"/>
            <a:ext cx="485998" cy="37008"/>
          </a:xfrm>
          <a:prstGeom prst="roundRect">
            <a:avLst>
              <a:gd name="adj" fmla="val 225151"/>
            </a:avLst>
          </a:prstGeom>
          <a:solidFill>
            <a:srgbClr val="C3D4CC"/>
          </a:solidFill>
          <a:ln/>
        </p:spPr>
      </p:sp>
      <p:sp>
        <p:nvSpPr>
          <p:cNvPr id="13" name="Shape 10"/>
          <p:cNvSpPr/>
          <p:nvPr/>
        </p:nvSpPr>
        <p:spPr>
          <a:xfrm>
            <a:off x="572803" y="3320356"/>
            <a:ext cx="312464" cy="416619"/>
          </a:xfrm>
          <a:prstGeom prst="roundRect">
            <a:avLst>
              <a:gd name="adj" fmla="val 20000"/>
            </a:avLst>
          </a:prstGeom>
          <a:solidFill>
            <a:srgbClr val="DDEEE6"/>
          </a:solidFill>
          <a:ln w="7620">
            <a:solidFill>
              <a:srgbClr val="C3D4CC"/>
            </a:solidFill>
            <a:prstDash val="solid"/>
          </a:ln>
        </p:spPr>
      </p:sp>
      <p:sp>
        <p:nvSpPr>
          <p:cNvPr id="14" name="Text 11"/>
          <p:cNvSpPr/>
          <p:nvPr/>
        </p:nvSpPr>
        <p:spPr>
          <a:xfrm>
            <a:off x="664034" y="3355082"/>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5" name="Text 12"/>
          <p:cNvSpPr/>
          <p:nvPr/>
        </p:nvSpPr>
        <p:spPr>
          <a:xfrm>
            <a:off x="1492821" y="3360837"/>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Software</a:t>
            </a:r>
            <a:endParaRPr lang="en-US" sz="1500" dirty="0"/>
          </a:p>
        </p:txBody>
      </p:sp>
      <p:sp>
        <p:nvSpPr>
          <p:cNvPr id="16" name="Text 13"/>
          <p:cNvSpPr/>
          <p:nvPr/>
        </p:nvSpPr>
        <p:spPr>
          <a:xfrm>
            <a:off x="1492821" y="3761185"/>
            <a:ext cx="4844430"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IBM SPSS was utilized for decision tree analysis using CHAID and CRT methods.</a:t>
            </a:r>
            <a:endParaRPr lang="en-US" sz="1200" dirty="0"/>
          </a:p>
        </p:txBody>
      </p:sp>
      <p:sp>
        <p:nvSpPr>
          <p:cNvPr id="17" name="Shape 14"/>
          <p:cNvSpPr/>
          <p:nvPr/>
        </p:nvSpPr>
        <p:spPr>
          <a:xfrm>
            <a:off x="885267" y="5058222"/>
            <a:ext cx="485998" cy="37008"/>
          </a:xfrm>
          <a:prstGeom prst="roundRect">
            <a:avLst>
              <a:gd name="adj" fmla="val 225151"/>
            </a:avLst>
          </a:prstGeom>
          <a:solidFill>
            <a:srgbClr val="C3D4CC"/>
          </a:solidFill>
          <a:ln/>
        </p:spPr>
      </p:sp>
      <p:sp>
        <p:nvSpPr>
          <p:cNvPr id="18" name="Shape 15"/>
          <p:cNvSpPr/>
          <p:nvPr/>
        </p:nvSpPr>
        <p:spPr>
          <a:xfrm>
            <a:off x="572803" y="4868466"/>
            <a:ext cx="312464" cy="416619"/>
          </a:xfrm>
          <a:prstGeom prst="roundRect">
            <a:avLst>
              <a:gd name="adj" fmla="val 20000"/>
            </a:avLst>
          </a:prstGeom>
          <a:solidFill>
            <a:srgbClr val="DDEEE6"/>
          </a:solidFill>
          <a:ln w="7620">
            <a:solidFill>
              <a:srgbClr val="C3D4CC"/>
            </a:solidFill>
            <a:prstDash val="solid"/>
          </a:ln>
        </p:spPr>
      </p:sp>
      <p:sp>
        <p:nvSpPr>
          <p:cNvPr id="19" name="Text 16"/>
          <p:cNvSpPr/>
          <p:nvPr/>
        </p:nvSpPr>
        <p:spPr>
          <a:xfrm>
            <a:off x="662249" y="4903193"/>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20" name="Text 17"/>
          <p:cNvSpPr/>
          <p:nvPr/>
        </p:nvSpPr>
        <p:spPr>
          <a:xfrm>
            <a:off x="1492821" y="4908947"/>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Interpretation</a:t>
            </a:r>
            <a:endParaRPr lang="en-US" sz="1500" dirty="0"/>
          </a:p>
        </p:txBody>
      </p:sp>
      <p:sp>
        <p:nvSpPr>
          <p:cNvPr id="21" name="Text 18"/>
          <p:cNvSpPr/>
          <p:nvPr/>
        </p:nvSpPr>
        <p:spPr>
          <a:xfrm>
            <a:off x="1492821" y="5309295"/>
            <a:ext cx="4844430"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Decision tree models were analyzed to identify key predictors and decision rules influencing passenger loyalty.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5" name="Shape 2"/>
          <p:cNvSpPr/>
          <p:nvPr/>
        </p:nvSpPr>
        <p:spPr>
          <a:xfrm>
            <a:off x="0" y="0"/>
            <a:ext cx="9144000" cy="6858000"/>
          </a:xfrm>
          <a:prstGeom prst="rect">
            <a:avLst/>
          </a:prstGeom>
          <a:solidFill>
            <a:srgbClr val="FFFDE6">
              <a:alpha val="85000"/>
            </a:srgbClr>
          </a:solidFill>
          <a:ln/>
        </p:spPr>
      </p:sp>
      <p:sp>
        <p:nvSpPr>
          <p:cNvPr id="6" name="Text 3"/>
          <p:cNvSpPr/>
          <p:nvPr/>
        </p:nvSpPr>
        <p:spPr>
          <a:xfrm>
            <a:off x="1273745" y="1249066"/>
            <a:ext cx="3471863" cy="578644"/>
          </a:xfrm>
          <a:prstGeom prst="rect">
            <a:avLst/>
          </a:prstGeom>
          <a:noFill/>
          <a:ln/>
        </p:spPr>
        <p:txBody>
          <a:bodyPr wrap="none" lIns="64008" tIns="32004" rIns="64008" bIns="32004" rtlCol="0" anchor="t"/>
          <a:lstStyle/>
          <a:p>
            <a:pPr defTabSz="640080">
              <a:lnSpc>
                <a:spcPts val="3828"/>
              </a:lnSpc>
              <a:defRPr/>
            </a:pPr>
            <a:r>
              <a:rPr lang="en-US" sz="3100" b="1" dirty="0">
                <a:solidFill>
                  <a:srgbClr val="233939"/>
                </a:solidFill>
                <a:latin typeface="Syne" pitchFamily="34" charset="0"/>
                <a:ea typeface="Syne" pitchFamily="34" charset="-122"/>
                <a:cs typeface="Syne" pitchFamily="34" charset="-120"/>
              </a:rPr>
              <a:t>Data Preparation</a:t>
            </a:r>
            <a:endParaRPr lang="en-US" sz="3100" dirty="0">
              <a:solidFill>
                <a:prstClr val="black"/>
              </a:solidFill>
              <a:latin typeface="Calibri" panose="020F0502020204030204"/>
            </a:endParaRPr>
          </a:p>
        </p:txBody>
      </p:sp>
      <p:sp>
        <p:nvSpPr>
          <p:cNvPr id="7" name="Shape 4"/>
          <p:cNvSpPr/>
          <p:nvPr/>
        </p:nvSpPr>
        <p:spPr>
          <a:xfrm>
            <a:off x="4558159" y="2105422"/>
            <a:ext cx="27756" cy="3503414"/>
          </a:xfrm>
          <a:prstGeom prst="roundRect">
            <a:avLst>
              <a:gd name="adj" fmla="val 225151"/>
            </a:avLst>
          </a:prstGeom>
          <a:solidFill>
            <a:srgbClr val="C3D4CC"/>
          </a:solidFill>
          <a:ln/>
        </p:spPr>
      </p:sp>
      <p:sp>
        <p:nvSpPr>
          <p:cNvPr id="8" name="Shape 5"/>
          <p:cNvSpPr/>
          <p:nvPr/>
        </p:nvSpPr>
        <p:spPr>
          <a:xfrm>
            <a:off x="3929770" y="2439839"/>
            <a:ext cx="485998" cy="37008"/>
          </a:xfrm>
          <a:prstGeom prst="roundRect">
            <a:avLst>
              <a:gd name="adj" fmla="val 225151"/>
            </a:avLst>
          </a:prstGeom>
          <a:solidFill>
            <a:srgbClr val="C3D4CC"/>
          </a:solidFill>
          <a:ln/>
        </p:spPr>
      </p:sp>
      <p:sp>
        <p:nvSpPr>
          <p:cNvPr id="9" name="Shape 6"/>
          <p:cNvSpPr/>
          <p:nvPr/>
        </p:nvSpPr>
        <p:spPr>
          <a:xfrm>
            <a:off x="4415768" y="2250083"/>
            <a:ext cx="312464" cy="416619"/>
          </a:xfrm>
          <a:prstGeom prst="roundRect">
            <a:avLst>
              <a:gd name="adj" fmla="val 20000"/>
            </a:avLst>
          </a:prstGeom>
          <a:solidFill>
            <a:srgbClr val="DDEEE6"/>
          </a:solidFill>
          <a:ln w="7620">
            <a:solidFill>
              <a:srgbClr val="C3D4CC"/>
            </a:solidFill>
            <a:prstDash val="solid"/>
          </a:ln>
        </p:spPr>
      </p:sp>
      <p:sp>
        <p:nvSpPr>
          <p:cNvPr id="10" name="Text 7"/>
          <p:cNvSpPr/>
          <p:nvPr/>
        </p:nvSpPr>
        <p:spPr>
          <a:xfrm>
            <a:off x="4531333" y="2284809"/>
            <a:ext cx="81260" cy="347068"/>
          </a:xfrm>
          <a:prstGeom prst="rect">
            <a:avLst/>
          </a:prstGeom>
          <a:noFill/>
          <a:ln/>
        </p:spPr>
        <p:txBody>
          <a:bodyPr wrap="none" lIns="64008" tIns="32004" rIns="64008" bIns="32004" rtlCol="0" anchor="t"/>
          <a:lstStyle/>
          <a:p>
            <a:pPr algn="ctr" defTabSz="640080">
              <a:lnSpc>
                <a:spcPts val="2297"/>
              </a:lnSpc>
              <a:defRPr/>
            </a:pPr>
            <a:r>
              <a:rPr lang="en-US" b="1" dirty="0">
                <a:solidFill>
                  <a:srgbClr val="3B4E4E"/>
                </a:solidFill>
                <a:latin typeface="Syne" pitchFamily="34" charset="0"/>
                <a:ea typeface="Syne" pitchFamily="34" charset="-122"/>
                <a:cs typeface="Syne" pitchFamily="34" charset="-120"/>
              </a:rPr>
              <a:t>1</a:t>
            </a:r>
            <a:endParaRPr lang="en-US" dirty="0">
              <a:solidFill>
                <a:prstClr val="black"/>
              </a:solidFill>
              <a:latin typeface="Calibri" panose="020F0502020204030204"/>
            </a:endParaRPr>
          </a:p>
        </p:txBody>
      </p:sp>
      <p:sp>
        <p:nvSpPr>
          <p:cNvPr id="11" name="Text 8"/>
          <p:cNvSpPr/>
          <p:nvPr/>
        </p:nvSpPr>
        <p:spPr>
          <a:xfrm>
            <a:off x="2072283" y="2290564"/>
            <a:ext cx="1735931" cy="289322"/>
          </a:xfrm>
          <a:prstGeom prst="rect">
            <a:avLst/>
          </a:prstGeom>
          <a:noFill/>
          <a:ln/>
        </p:spPr>
        <p:txBody>
          <a:bodyPr wrap="none" lIns="64008" tIns="32004" rIns="64008" bIns="32004" rtlCol="0" anchor="t"/>
          <a:lstStyle/>
          <a:p>
            <a:pPr algn="r" defTabSz="640080">
              <a:lnSpc>
                <a:spcPts val="1914"/>
              </a:lnSpc>
              <a:defRPr/>
            </a:pPr>
            <a:r>
              <a:rPr lang="en-US" sz="1500" b="1" dirty="0">
                <a:solidFill>
                  <a:srgbClr val="3B4E4E"/>
                </a:solidFill>
                <a:latin typeface="Syne" pitchFamily="34" charset="0"/>
                <a:ea typeface="Syne" pitchFamily="34" charset="-122"/>
                <a:cs typeface="Syne" pitchFamily="34" charset="-120"/>
              </a:rPr>
              <a:t>Data Collection</a:t>
            </a:r>
            <a:endParaRPr lang="en-US" sz="1500" dirty="0">
              <a:solidFill>
                <a:prstClr val="black"/>
              </a:solidFill>
              <a:latin typeface="Calibri" panose="020F0502020204030204"/>
            </a:endParaRPr>
          </a:p>
        </p:txBody>
      </p:sp>
      <p:sp>
        <p:nvSpPr>
          <p:cNvPr id="12" name="Text 9"/>
          <p:cNvSpPr/>
          <p:nvPr/>
        </p:nvSpPr>
        <p:spPr>
          <a:xfrm>
            <a:off x="1273746" y="2690912"/>
            <a:ext cx="2534469" cy="888504"/>
          </a:xfrm>
          <a:prstGeom prst="rect">
            <a:avLst/>
          </a:prstGeom>
          <a:noFill/>
          <a:ln/>
        </p:spPr>
        <p:txBody>
          <a:bodyPr wrap="square" lIns="64008" tIns="32004" rIns="64008" bIns="32004" rtlCol="0" anchor="t"/>
          <a:lstStyle/>
          <a:p>
            <a:pPr algn="r" defTabSz="640080">
              <a:lnSpc>
                <a:spcPts val="1959"/>
              </a:lnSpc>
              <a:defRPr/>
            </a:pPr>
            <a:r>
              <a:rPr lang="en-US" sz="1200" dirty="0">
                <a:solidFill>
                  <a:srgbClr val="3B4E4E"/>
                </a:solidFill>
                <a:latin typeface="Overpass" pitchFamily="34" charset="0"/>
                <a:ea typeface="Overpass" pitchFamily="34" charset="-122"/>
                <a:cs typeface="Overpass" pitchFamily="34" charset="-120"/>
              </a:rPr>
              <a:t>Survey data was collected from 440 respondents and imported into SPSS as an Excel file.</a:t>
            </a:r>
            <a:endParaRPr lang="en-US" sz="1200" dirty="0">
              <a:solidFill>
                <a:prstClr val="black"/>
              </a:solidFill>
              <a:latin typeface="Calibri" panose="020F0502020204030204"/>
            </a:endParaRPr>
          </a:p>
        </p:txBody>
      </p:sp>
      <p:sp>
        <p:nvSpPr>
          <p:cNvPr id="13" name="Shape 10"/>
          <p:cNvSpPr/>
          <p:nvPr/>
        </p:nvSpPr>
        <p:spPr>
          <a:xfrm>
            <a:off x="4728233" y="3365550"/>
            <a:ext cx="485998" cy="37008"/>
          </a:xfrm>
          <a:prstGeom prst="roundRect">
            <a:avLst>
              <a:gd name="adj" fmla="val 225151"/>
            </a:avLst>
          </a:prstGeom>
          <a:solidFill>
            <a:srgbClr val="C3D4CC"/>
          </a:solidFill>
          <a:ln/>
        </p:spPr>
      </p:sp>
      <p:sp>
        <p:nvSpPr>
          <p:cNvPr id="14" name="Shape 11"/>
          <p:cNvSpPr/>
          <p:nvPr/>
        </p:nvSpPr>
        <p:spPr>
          <a:xfrm>
            <a:off x="4415768" y="3175795"/>
            <a:ext cx="312464" cy="416619"/>
          </a:xfrm>
          <a:prstGeom prst="roundRect">
            <a:avLst>
              <a:gd name="adj" fmla="val 20000"/>
            </a:avLst>
          </a:prstGeom>
          <a:solidFill>
            <a:srgbClr val="DDEEE6"/>
          </a:solidFill>
          <a:ln w="7620">
            <a:solidFill>
              <a:srgbClr val="C3D4CC"/>
            </a:solidFill>
            <a:prstDash val="solid"/>
          </a:ln>
        </p:spPr>
      </p:sp>
      <p:sp>
        <p:nvSpPr>
          <p:cNvPr id="15" name="Text 12"/>
          <p:cNvSpPr/>
          <p:nvPr/>
        </p:nvSpPr>
        <p:spPr>
          <a:xfrm>
            <a:off x="4507000" y="3210520"/>
            <a:ext cx="130001" cy="347068"/>
          </a:xfrm>
          <a:prstGeom prst="rect">
            <a:avLst/>
          </a:prstGeom>
          <a:noFill/>
          <a:ln/>
        </p:spPr>
        <p:txBody>
          <a:bodyPr wrap="none" lIns="64008" tIns="32004" rIns="64008" bIns="32004" rtlCol="0" anchor="t"/>
          <a:lstStyle/>
          <a:p>
            <a:pPr algn="ctr" defTabSz="640080">
              <a:lnSpc>
                <a:spcPts val="2297"/>
              </a:lnSpc>
              <a:defRPr/>
            </a:pPr>
            <a:r>
              <a:rPr lang="en-US" b="1" dirty="0">
                <a:solidFill>
                  <a:srgbClr val="3B4E4E"/>
                </a:solidFill>
                <a:latin typeface="Syne" pitchFamily="34" charset="0"/>
                <a:ea typeface="Syne" pitchFamily="34" charset="-122"/>
                <a:cs typeface="Syne" pitchFamily="34" charset="-120"/>
              </a:rPr>
              <a:t>2</a:t>
            </a:r>
            <a:endParaRPr lang="en-US" dirty="0">
              <a:solidFill>
                <a:prstClr val="black"/>
              </a:solidFill>
              <a:latin typeface="Calibri" panose="020F0502020204030204"/>
            </a:endParaRPr>
          </a:p>
        </p:txBody>
      </p:sp>
      <p:sp>
        <p:nvSpPr>
          <p:cNvPr id="16" name="Text 13"/>
          <p:cNvSpPr/>
          <p:nvPr/>
        </p:nvSpPr>
        <p:spPr>
          <a:xfrm>
            <a:off x="5335786" y="3216275"/>
            <a:ext cx="1735931"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Data Cleaning</a:t>
            </a:r>
            <a:endParaRPr lang="en-US" sz="1500" dirty="0">
              <a:solidFill>
                <a:prstClr val="black"/>
              </a:solidFill>
              <a:latin typeface="Calibri" panose="020F0502020204030204"/>
            </a:endParaRPr>
          </a:p>
        </p:txBody>
      </p:sp>
      <p:sp>
        <p:nvSpPr>
          <p:cNvPr id="17" name="Text 14"/>
          <p:cNvSpPr/>
          <p:nvPr/>
        </p:nvSpPr>
        <p:spPr>
          <a:xfrm>
            <a:off x="5335786" y="3616623"/>
            <a:ext cx="2534469" cy="592336"/>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data was cleaned, organized, recoded and transformed in SPSS.</a:t>
            </a:r>
            <a:endParaRPr lang="en-US" sz="1200" dirty="0">
              <a:solidFill>
                <a:prstClr val="black"/>
              </a:solidFill>
              <a:latin typeface="Calibri" panose="020F0502020204030204"/>
            </a:endParaRPr>
          </a:p>
        </p:txBody>
      </p:sp>
      <p:sp>
        <p:nvSpPr>
          <p:cNvPr id="18" name="Shape 15"/>
          <p:cNvSpPr/>
          <p:nvPr/>
        </p:nvSpPr>
        <p:spPr>
          <a:xfrm>
            <a:off x="3929770" y="4284117"/>
            <a:ext cx="485998" cy="37008"/>
          </a:xfrm>
          <a:prstGeom prst="roundRect">
            <a:avLst>
              <a:gd name="adj" fmla="val 225151"/>
            </a:avLst>
          </a:prstGeom>
          <a:solidFill>
            <a:srgbClr val="C3D4CC"/>
          </a:solidFill>
          <a:ln/>
        </p:spPr>
      </p:sp>
      <p:sp>
        <p:nvSpPr>
          <p:cNvPr id="19" name="Shape 16"/>
          <p:cNvSpPr/>
          <p:nvPr/>
        </p:nvSpPr>
        <p:spPr>
          <a:xfrm>
            <a:off x="4415768" y="4094361"/>
            <a:ext cx="312464" cy="416619"/>
          </a:xfrm>
          <a:prstGeom prst="roundRect">
            <a:avLst>
              <a:gd name="adj" fmla="val 20000"/>
            </a:avLst>
          </a:prstGeom>
          <a:solidFill>
            <a:srgbClr val="DDEEE6"/>
          </a:solidFill>
          <a:ln w="7620">
            <a:solidFill>
              <a:srgbClr val="C3D4CC"/>
            </a:solidFill>
            <a:prstDash val="solid"/>
          </a:ln>
        </p:spPr>
      </p:sp>
      <p:sp>
        <p:nvSpPr>
          <p:cNvPr id="20" name="Text 17"/>
          <p:cNvSpPr/>
          <p:nvPr/>
        </p:nvSpPr>
        <p:spPr>
          <a:xfrm>
            <a:off x="4505214" y="4129088"/>
            <a:ext cx="133573" cy="347068"/>
          </a:xfrm>
          <a:prstGeom prst="rect">
            <a:avLst/>
          </a:prstGeom>
          <a:noFill/>
          <a:ln/>
        </p:spPr>
        <p:txBody>
          <a:bodyPr wrap="none" lIns="64008" tIns="32004" rIns="64008" bIns="32004" rtlCol="0" anchor="t"/>
          <a:lstStyle/>
          <a:p>
            <a:pPr algn="ctr" defTabSz="640080">
              <a:lnSpc>
                <a:spcPts val="2297"/>
              </a:lnSpc>
              <a:defRPr/>
            </a:pPr>
            <a:r>
              <a:rPr lang="en-US" b="1" dirty="0">
                <a:solidFill>
                  <a:srgbClr val="3B4E4E"/>
                </a:solidFill>
                <a:latin typeface="Syne" pitchFamily="34" charset="0"/>
                <a:ea typeface="Syne" pitchFamily="34" charset="-122"/>
                <a:cs typeface="Syne" pitchFamily="34" charset="-120"/>
              </a:rPr>
              <a:t>3</a:t>
            </a:r>
            <a:endParaRPr lang="en-US" dirty="0">
              <a:solidFill>
                <a:prstClr val="black"/>
              </a:solidFill>
              <a:latin typeface="Calibri" panose="020F0502020204030204"/>
            </a:endParaRPr>
          </a:p>
        </p:txBody>
      </p:sp>
      <p:sp>
        <p:nvSpPr>
          <p:cNvPr id="21" name="Text 18"/>
          <p:cNvSpPr/>
          <p:nvPr/>
        </p:nvSpPr>
        <p:spPr>
          <a:xfrm>
            <a:off x="2072283" y="4134842"/>
            <a:ext cx="1735931" cy="289322"/>
          </a:xfrm>
          <a:prstGeom prst="rect">
            <a:avLst/>
          </a:prstGeom>
          <a:noFill/>
          <a:ln/>
        </p:spPr>
        <p:txBody>
          <a:bodyPr wrap="none" lIns="64008" tIns="32004" rIns="64008" bIns="32004" rtlCol="0" anchor="t"/>
          <a:lstStyle/>
          <a:p>
            <a:pPr algn="r" defTabSz="640080">
              <a:lnSpc>
                <a:spcPts val="1914"/>
              </a:lnSpc>
              <a:defRPr/>
            </a:pPr>
            <a:r>
              <a:rPr lang="en-US" sz="1500" b="1" dirty="0">
                <a:solidFill>
                  <a:srgbClr val="3B4E4E"/>
                </a:solidFill>
                <a:latin typeface="Syne" pitchFamily="34" charset="0"/>
                <a:ea typeface="Syne" pitchFamily="34" charset="-122"/>
                <a:cs typeface="Syne" pitchFamily="34" charset="-120"/>
              </a:rPr>
              <a:t>Variable Selection</a:t>
            </a:r>
            <a:endParaRPr lang="en-US" sz="1500" dirty="0">
              <a:solidFill>
                <a:prstClr val="black"/>
              </a:solidFill>
              <a:latin typeface="Calibri" panose="020F0502020204030204"/>
            </a:endParaRPr>
          </a:p>
        </p:txBody>
      </p:sp>
      <p:sp>
        <p:nvSpPr>
          <p:cNvPr id="22" name="Text 19"/>
          <p:cNvSpPr/>
          <p:nvPr/>
        </p:nvSpPr>
        <p:spPr>
          <a:xfrm>
            <a:off x="1273746" y="4535191"/>
            <a:ext cx="2534469" cy="888504"/>
          </a:xfrm>
          <a:prstGeom prst="rect">
            <a:avLst/>
          </a:prstGeom>
          <a:noFill/>
          <a:ln/>
        </p:spPr>
        <p:txBody>
          <a:bodyPr wrap="square" lIns="64008" tIns="32004" rIns="64008" bIns="32004" rtlCol="0" anchor="t"/>
          <a:lstStyle/>
          <a:p>
            <a:pPr algn="r" defTabSz="640080">
              <a:lnSpc>
                <a:spcPts val="1959"/>
              </a:lnSpc>
              <a:defRPr/>
            </a:pPr>
            <a:r>
              <a:rPr lang="en-US" sz="1200" dirty="0">
                <a:solidFill>
                  <a:srgbClr val="3B4E4E"/>
                </a:solidFill>
                <a:latin typeface="Overpass" pitchFamily="34" charset="0"/>
                <a:ea typeface="Overpass" pitchFamily="34" charset="-122"/>
                <a:cs typeface="Overpass" pitchFamily="34" charset="-120"/>
              </a:rPr>
              <a:t>Variables positively correlated with the dependent variables were selected as independent variables.</a:t>
            </a:r>
            <a:endParaRPr lang="en-US" sz="1200" dirty="0">
              <a:solidFill>
                <a:prstClr val="black"/>
              </a:solidFill>
              <a:latin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593812" y="179734"/>
            <a:ext cx="9144000" cy="6858000"/>
          </a:xfrm>
          <a:prstGeom prst="rect">
            <a:avLst/>
          </a:prstGeom>
          <a:solidFill>
            <a:srgbClr val="FFFDE6"/>
          </a:solidFill>
          <a:ln/>
        </p:spPr>
      </p:sp>
      <p:sp>
        <p:nvSpPr>
          <p:cNvPr id="4" name="Text 2"/>
          <p:cNvSpPr/>
          <p:nvPr/>
        </p:nvSpPr>
        <p:spPr>
          <a:xfrm>
            <a:off x="2242821" y="0"/>
            <a:ext cx="4323457" cy="495201"/>
          </a:xfrm>
          <a:prstGeom prst="rect">
            <a:avLst/>
          </a:prstGeom>
          <a:noFill/>
          <a:ln/>
        </p:spPr>
        <p:txBody>
          <a:bodyPr wrap="none" lIns="64008" tIns="32004" rIns="64008" bIns="32004" rtlCol="0" anchor="t"/>
          <a:lstStyle/>
          <a:p>
            <a:pPr>
              <a:lnSpc>
                <a:spcPts val="3275"/>
              </a:lnSpc>
            </a:pPr>
            <a:r>
              <a:rPr lang="en-US" sz="2600" b="1" dirty="0">
                <a:solidFill>
                  <a:srgbClr val="233939"/>
                </a:solidFill>
                <a:latin typeface="Syne" pitchFamily="34" charset="0"/>
                <a:ea typeface="Syne" pitchFamily="34" charset="-122"/>
                <a:cs typeface="Syne" pitchFamily="34" charset="-120"/>
              </a:rPr>
              <a:t>Normal Approach Analysis</a:t>
            </a:r>
            <a:endParaRPr lang="en-US" sz="2600" dirty="0"/>
          </a:p>
        </p:txBody>
      </p:sp>
      <p:sp>
        <p:nvSpPr>
          <p:cNvPr id="5" name="Text 3"/>
          <p:cNvSpPr/>
          <p:nvPr/>
        </p:nvSpPr>
        <p:spPr>
          <a:xfrm>
            <a:off x="234112" y="692696"/>
            <a:ext cx="1485528" cy="247551"/>
          </a:xfrm>
          <a:prstGeom prst="rect">
            <a:avLst/>
          </a:prstGeom>
          <a:noFill/>
          <a:ln/>
        </p:spPr>
        <p:txBody>
          <a:bodyPr wrap="none" lIns="64008" tIns="32004" rIns="64008" bIns="32004" rtlCol="0" anchor="t"/>
          <a:lstStyle/>
          <a:p>
            <a:pPr>
              <a:lnSpc>
                <a:spcPts val="1638"/>
              </a:lnSpc>
            </a:pPr>
            <a:r>
              <a:rPr lang="en-US" sz="1300" b="1" dirty="0">
                <a:solidFill>
                  <a:srgbClr val="233939"/>
                </a:solidFill>
                <a:latin typeface="Syne" pitchFamily="34" charset="0"/>
                <a:ea typeface="Syne" pitchFamily="34" charset="-122"/>
                <a:cs typeface="Syne" pitchFamily="34" charset="-120"/>
              </a:rPr>
              <a:t>Travel Again</a:t>
            </a:r>
            <a:endParaRPr lang="en-US" sz="1300" dirty="0"/>
          </a:p>
        </p:txBody>
      </p:sp>
      <p:sp>
        <p:nvSpPr>
          <p:cNvPr id="6" name="Text 4"/>
          <p:cNvSpPr/>
          <p:nvPr/>
        </p:nvSpPr>
        <p:spPr>
          <a:xfrm>
            <a:off x="234112" y="1091790"/>
            <a:ext cx="2677641" cy="507008"/>
          </a:xfrm>
          <a:prstGeom prst="rect">
            <a:avLst/>
          </a:prstGeom>
          <a:noFill/>
          <a:ln/>
        </p:spPr>
        <p:txBody>
          <a:bodyPr wrap="square" lIns="64008" tIns="32004" rIns="64008" bIns="32004" rtlCol="0" anchor="t"/>
          <a:lstStyle/>
          <a:p>
            <a:pPr>
              <a:lnSpc>
                <a:spcPts val="1677"/>
              </a:lnSpc>
            </a:pPr>
            <a:r>
              <a:rPr lang="en-US" sz="1000" dirty="0">
                <a:solidFill>
                  <a:srgbClr val="3B4E4E"/>
                </a:solidFill>
                <a:latin typeface="Overpass" pitchFamily="34" charset="0"/>
                <a:ea typeface="Overpass" pitchFamily="34" charset="-122"/>
                <a:cs typeface="Overpass" pitchFamily="34" charset="-120"/>
              </a:rPr>
              <a:t>Smooth take-off/landing and cabin cleanliness were most important for likelihood to travel again.</a:t>
            </a:r>
            <a:endParaRPr lang="en-US" sz="1000" dirty="0"/>
          </a:p>
        </p:txBody>
      </p:sp>
      <p:sp>
        <p:nvSpPr>
          <p:cNvPr id="8" name="Text 5"/>
          <p:cNvSpPr/>
          <p:nvPr/>
        </p:nvSpPr>
        <p:spPr>
          <a:xfrm>
            <a:off x="7092280" y="692695"/>
            <a:ext cx="1614562" cy="247551"/>
          </a:xfrm>
          <a:prstGeom prst="rect">
            <a:avLst/>
          </a:prstGeom>
          <a:noFill/>
          <a:ln/>
        </p:spPr>
        <p:txBody>
          <a:bodyPr wrap="none" lIns="64008" tIns="32004" rIns="64008" bIns="32004" rtlCol="0" anchor="t"/>
          <a:lstStyle/>
          <a:p>
            <a:pPr>
              <a:lnSpc>
                <a:spcPts val="1638"/>
              </a:lnSpc>
            </a:pPr>
            <a:r>
              <a:rPr lang="en-US" sz="1300" b="1" dirty="0">
                <a:solidFill>
                  <a:srgbClr val="233939"/>
                </a:solidFill>
                <a:latin typeface="Syne" pitchFamily="34" charset="0"/>
                <a:ea typeface="Syne" pitchFamily="34" charset="-122"/>
                <a:cs typeface="Syne" pitchFamily="34" charset="-120"/>
              </a:rPr>
              <a:t>Recommend Airline</a:t>
            </a:r>
            <a:endParaRPr lang="en-US" sz="1300" dirty="0"/>
          </a:p>
        </p:txBody>
      </p:sp>
      <p:sp>
        <p:nvSpPr>
          <p:cNvPr id="9" name="Text 6"/>
          <p:cNvSpPr/>
          <p:nvPr/>
        </p:nvSpPr>
        <p:spPr>
          <a:xfrm>
            <a:off x="6228184" y="1091009"/>
            <a:ext cx="2677641" cy="760512"/>
          </a:xfrm>
          <a:prstGeom prst="rect">
            <a:avLst/>
          </a:prstGeom>
          <a:noFill/>
          <a:ln/>
        </p:spPr>
        <p:txBody>
          <a:bodyPr wrap="square" lIns="64008" tIns="32004" rIns="64008" bIns="32004" rtlCol="0" anchor="t"/>
          <a:lstStyle/>
          <a:p>
            <a:pPr>
              <a:lnSpc>
                <a:spcPts val="1677"/>
              </a:lnSpc>
            </a:pPr>
            <a:r>
              <a:rPr lang="en-US" sz="1000" dirty="0">
                <a:solidFill>
                  <a:srgbClr val="3B4E4E"/>
                </a:solidFill>
                <a:latin typeface="Overpass" pitchFamily="34" charset="0"/>
                <a:ea typeface="Overpass" pitchFamily="34" charset="-122"/>
                <a:cs typeface="Overpass" pitchFamily="34" charset="-120"/>
              </a:rPr>
              <a:t>Willingness to travel again and lounge comfort/space were key factors for recommending the airline.</a:t>
            </a:r>
            <a:endParaRPr lang="en-US" sz="1000" dirty="0"/>
          </a:p>
        </p:txBody>
      </p:sp>
      <p:pic>
        <p:nvPicPr>
          <p:cNvPr id="11" name="Picture 10"/>
          <p:cNvPicPr>
            <a:picLocks noChangeAspect="1"/>
          </p:cNvPicPr>
          <p:nvPr/>
        </p:nvPicPr>
        <p:blipFill>
          <a:blip r:embed="rId3"/>
          <a:stretch>
            <a:fillRect/>
          </a:stretch>
        </p:blipFill>
        <p:spPr>
          <a:xfrm>
            <a:off x="185155" y="1851521"/>
            <a:ext cx="3068969" cy="5067481"/>
          </a:xfrm>
          <a:prstGeom prst="rect">
            <a:avLst/>
          </a:prstGeom>
        </p:spPr>
      </p:pic>
      <p:pic>
        <p:nvPicPr>
          <p:cNvPr id="12" name="Picture 11"/>
          <p:cNvPicPr>
            <a:picLocks noChangeAspect="1"/>
          </p:cNvPicPr>
          <p:nvPr/>
        </p:nvPicPr>
        <p:blipFill>
          <a:blip r:embed="rId4"/>
          <a:stretch>
            <a:fillRect/>
          </a:stretch>
        </p:blipFill>
        <p:spPr>
          <a:xfrm>
            <a:off x="5583601" y="1851521"/>
            <a:ext cx="3123241" cy="514885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5" name="Shape 2"/>
          <p:cNvSpPr/>
          <p:nvPr/>
        </p:nvSpPr>
        <p:spPr>
          <a:xfrm>
            <a:off x="0" y="0"/>
            <a:ext cx="9144000" cy="6858000"/>
          </a:xfrm>
          <a:prstGeom prst="rect">
            <a:avLst/>
          </a:prstGeom>
          <a:solidFill>
            <a:srgbClr val="FFFDE6">
              <a:alpha val="85000"/>
            </a:srgbClr>
          </a:solidFill>
          <a:ln/>
        </p:spPr>
      </p:sp>
      <p:sp>
        <p:nvSpPr>
          <p:cNvPr id="6" name="Text 3"/>
          <p:cNvSpPr/>
          <p:nvPr/>
        </p:nvSpPr>
        <p:spPr>
          <a:xfrm>
            <a:off x="1273745" y="1606550"/>
            <a:ext cx="549875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Correlation-Based Approach</a:t>
            </a:r>
            <a:endParaRPr lang="en-US" sz="3100" dirty="0"/>
          </a:p>
        </p:txBody>
      </p:sp>
      <p:pic>
        <p:nvPicPr>
          <p:cNvPr id="7" name="Image 1" descr="preencoded.png"/>
          <p:cNvPicPr>
            <a:picLocks noChangeAspect="1"/>
          </p:cNvPicPr>
          <p:nvPr/>
        </p:nvPicPr>
        <p:blipFill>
          <a:blip r:embed="rId4"/>
          <a:stretch>
            <a:fillRect/>
          </a:stretch>
        </p:blipFill>
        <p:spPr>
          <a:xfrm>
            <a:off x="1273746" y="2462907"/>
            <a:ext cx="2198787" cy="740568"/>
          </a:xfrm>
          <a:prstGeom prst="rect">
            <a:avLst/>
          </a:prstGeom>
        </p:spPr>
      </p:pic>
      <p:sp>
        <p:nvSpPr>
          <p:cNvPr id="8" name="Text 4"/>
          <p:cNvSpPr/>
          <p:nvPr/>
        </p:nvSpPr>
        <p:spPr>
          <a:xfrm>
            <a:off x="1412602" y="3481189"/>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Variable Selection</a:t>
            </a:r>
            <a:endParaRPr lang="en-US" sz="1500" dirty="0"/>
          </a:p>
        </p:txBody>
      </p:sp>
      <p:sp>
        <p:nvSpPr>
          <p:cNvPr id="9" name="Text 5"/>
          <p:cNvSpPr/>
          <p:nvPr/>
        </p:nvSpPr>
        <p:spPr>
          <a:xfrm>
            <a:off x="1412602" y="3881536"/>
            <a:ext cx="1921074" cy="118467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Variables positively correlated with dependent variables were selected as independent variables.</a:t>
            </a:r>
            <a:endParaRPr lang="en-US" sz="1200" dirty="0"/>
          </a:p>
        </p:txBody>
      </p:sp>
      <p:pic>
        <p:nvPicPr>
          <p:cNvPr id="10" name="Image 2" descr="preencoded.png"/>
          <p:cNvPicPr>
            <a:picLocks noChangeAspect="1"/>
          </p:cNvPicPr>
          <p:nvPr/>
        </p:nvPicPr>
        <p:blipFill>
          <a:blip r:embed="rId5"/>
          <a:stretch>
            <a:fillRect/>
          </a:stretch>
        </p:blipFill>
        <p:spPr>
          <a:xfrm>
            <a:off x="3472533" y="2462907"/>
            <a:ext cx="2198861" cy="740568"/>
          </a:xfrm>
          <a:prstGeom prst="rect">
            <a:avLst/>
          </a:prstGeom>
        </p:spPr>
      </p:pic>
      <p:sp>
        <p:nvSpPr>
          <p:cNvPr id="11" name="Text 6"/>
          <p:cNvSpPr/>
          <p:nvPr/>
        </p:nvSpPr>
        <p:spPr>
          <a:xfrm>
            <a:off x="3611389" y="3481189"/>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Travel Again</a:t>
            </a:r>
            <a:endParaRPr lang="en-US" sz="1500" dirty="0"/>
          </a:p>
        </p:txBody>
      </p:sp>
      <p:sp>
        <p:nvSpPr>
          <p:cNvPr id="12" name="Text 7"/>
          <p:cNvSpPr/>
          <p:nvPr/>
        </p:nvSpPr>
        <p:spPr>
          <a:xfrm>
            <a:off x="3611389" y="3881537"/>
            <a:ext cx="1921148"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Choice decided by and age were most important for likelihood to travel again.</a:t>
            </a:r>
            <a:endParaRPr lang="en-US" sz="1200" dirty="0"/>
          </a:p>
        </p:txBody>
      </p:sp>
      <p:pic>
        <p:nvPicPr>
          <p:cNvPr id="13" name="Image 3" descr="preencoded.png"/>
          <p:cNvPicPr>
            <a:picLocks noChangeAspect="1"/>
          </p:cNvPicPr>
          <p:nvPr/>
        </p:nvPicPr>
        <p:blipFill>
          <a:blip r:embed="rId6"/>
          <a:stretch>
            <a:fillRect/>
          </a:stretch>
        </p:blipFill>
        <p:spPr>
          <a:xfrm>
            <a:off x="5671393" y="2462907"/>
            <a:ext cx="2198861" cy="740568"/>
          </a:xfrm>
          <a:prstGeom prst="rect">
            <a:avLst/>
          </a:prstGeom>
        </p:spPr>
      </p:pic>
      <p:sp>
        <p:nvSpPr>
          <p:cNvPr id="14" name="Text 8"/>
          <p:cNvSpPr/>
          <p:nvPr/>
        </p:nvSpPr>
        <p:spPr>
          <a:xfrm>
            <a:off x="5810250" y="3481189"/>
            <a:ext cx="1886322"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Recommend Airline</a:t>
            </a:r>
            <a:endParaRPr lang="en-US" sz="1500" dirty="0"/>
          </a:p>
        </p:txBody>
      </p:sp>
      <p:sp>
        <p:nvSpPr>
          <p:cNvPr id="15" name="Text 9"/>
          <p:cNvSpPr/>
          <p:nvPr/>
        </p:nvSpPr>
        <p:spPr>
          <a:xfrm>
            <a:off x="5810250" y="3881537"/>
            <a:ext cx="1921148"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Willingness to travel again was the primary factor for recommending the airline.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2032397"/>
            <a:ext cx="3471863" cy="578644"/>
          </a:xfrm>
          <a:prstGeom prst="rect">
            <a:avLst/>
          </a:prstGeom>
          <a:noFill/>
          <a:ln/>
        </p:spPr>
        <p:txBody>
          <a:bodyPr wrap="none" lIns="64008" tIns="32004" rIns="64008" bIns="32004" rtlCol="0" anchor="t"/>
          <a:lstStyle/>
          <a:p>
            <a:pPr defTabSz="640080">
              <a:lnSpc>
                <a:spcPts val="3828"/>
              </a:lnSpc>
              <a:defRPr/>
            </a:pPr>
            <a:r>
              <a:rPr lang="en-US" sz="3100" b="1" dirty="0">
                <a:solidFill>
                  <a:srgbClr val="233939"/>
                </a:solidFill>
                <a:latin typeface="Syne" pitchFamily="34" charset="0"/>
                <a:ea typeface="Syne" pitchFamily="34" charset="-122"/>
                <a:cs typeface="Syne" pitchFamily="34" charset="-120"/>
              </a:rPr>
              <a:t>Methodology</a:t>
            </a:r>
            <a:endParaRPr lang="en-US" sz="3100" dirty="0">
              <a:solidFill>
                <a:prstClr val="black"/>
              </a:solidFill>
              <a:latin typeface="Calibri" panose="020F0502020204030204"/>
            </a:endParaRPr>
          </a:p>
        </p:txBody>
      </p:sp>
      <p:pic>
        <p:nvPicPr>
          <p:cNvPr id="5" name="Image 0" descr="preencoded.png"/>
          <p:cNvPicPr>
            <a:picLocks noChangeAspect="1"/>
          </p:cNvPicPr>
          <p:nvPr/>
        </p:nvPicPr>
        <p:blipFill>
          <a:blip r:embed="rId3"/>
          <a:stretch>
            <a:fillRect/>
          </a:stretch>
        </p:blipFill>
        <p:spPr>
          <a:xfrm>
            <a:off x="1273746" y="2981326"/>
            <a:ext cx="277713" cy="370284"/>
          </a:xfrm>
          <a:prstGeom prst="rect">
            <a:avLst/>
          </a:prstGeom>
        </p:spPr>
      </p:pic>
      <p:sp>
        <p:nvSpPr>
          <p:cNvPr id="6" name="Text 3"/>
          <p:cNvSpPr/>
          <p:nvPr/>
        </p:nvSpPr>
        <p:spPr>
          <a:xfrm>
            <a:off x="1273746" y="3536752"/>
            <a:ext cx="1735931"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Decision Trees</a:t>
            </a:r>
            <a:endParaRPr lang="en-US" sz="1500" dirty="0">
              <a:solidFill>
                <a:prstClr val="black"/>
              </a:solidFill>
              <a:latin typeface="Calibri" panose="020F0502020204030204"/>
            </a:endParaRPr>
          </a:p>
        </p:txBody>
      </p:sp>
      <p:sp>
        <p:nvSpPr>
          <p:cNvPr id="7" name="Text 4"/>
          <p:cNvSpPr/>
          <p:nvPr/>
        </p:nvSpPr>
        <p:spPr>
          <a:xfrm>
            <a:off x="1273746" y="3937100"/>
            <a:ext cx="2059930" cy="592336"/>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CHAID and CRT decision trees were used as growing methods.</a:t>
            </a:r>
            <a:endParaRPr lang="en-US" sz="1200" dirty="0">
              <a:solidFill>
                <a:prstClr val="black"/>
              </a:solidFill>
              <a:latin typeface="Calibri" panose="020F0502020204030204"/>
            </a:endParaRPr>
          </a:p>
        </p:txBody>
      </p:sp>
      <p:pic>
        <p:nvPicPr>
          <p:cNvPr id="8" name="Image 1" descr="preencoded.png"/>
          <p:cNvPicPr>
            <a:picLocks noChangeAspect="1"/>
          </p:cNvPicPr>
          <p:nvPr/>
        </p:nvPicPr>
        <p:blipFill>
          <a:blip r:embed="rId4"/>
          <a:stretch>
            <a:fillRect/>
          </a:stretch>
        </p:blipFill>
        <p:spPr>
          <a:xfrm>
            <a:off x="3541961" y="2981326"/>
            <a:ext cx="277713" cy="370284"/>
          </a:xfrm>
          <a:prstGeom prst="rect">
            <a:avLst/>
          </a:prstGeom>
        </p:spPr>
      </p:pic>
      <p:sp>
        <p:nvSpPr>
          <p:cNvPr id="9" name="Text 5"/>
          <p:cNvSpPr/>
          <p:nvPr/>
        </p:nvSpPr>
        <p:spPr>
          <a:xfrm>
            <a:off x="3541960" y="3536752"/>
            <a:ext cx="1890713"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Correlation Analysis</a:t>
            </a:r>
            <a:endParaRPr lang="en-US" sz="1500" dirty="0">
              <a:solidFill>
                <a:prstClr val="black"/>
              </a:solidFill>
              <a:latin typeface="Calibri" panose="020F0502020204030204"/>
            </a:endParaRPr>
          </a:p>
        </p:txBody>
      </p:sp>
      <p:sp>
        <p:nvSpPr>
          <p:cNvPr id="10" name="Text 6"/>
          <p:cNvSpPr/>
          <p:nvPr/>
        </p:nvSpPr>
        <p:spPr>
          <a:xfrm>
            <a:off x="3541961" y="3937100"/>
            <a:ext cx="2060004"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Spearman's Rho correlation was used to select independent variables.</a:t>
            </a:r>
            <a:endParaRPr lang="en-US" sz="1200" dirty="0">
              <a:solidFill>
                <a:prstClr val="black"/>
              </a:solidFill>
              <a:latin typeface="Calibri" panose="020F0502020204030204"/>
            </a:endParaRPr>
          </a:p>
        </p:txBody>
      </p:sp>
      <p:pic>
        <p:nvPicPr>
          <p:cNvPr id="11" name="Image 2" descr="preencoded.png"/>
          <p:cNvPicPr>
            <a:picLocks noChangeAspect="1"/>
          </p:cNvPicPr>
          <p:nvPr/>
        </p:nvPicPr>
        <p:blipFill>
          <a:blip r:embed="rId5"/>
          <a:stretch>
            <a:fillRect/>
          </a:stretch>
        </p:blipFill>
        <p:spPr>
          <a:xfrm>
            <a:off x="5810250" y="2981326"/>
            <a:ext cx="277713" cy="370284"/>
          </a:xfrm>
          <a:prstGeom prst="rect">
            <a:avLst/>
          </a:prstGeom>
        </p:spPr>
      </p:pic>
      <p:sp>
        <p:nvSpPr>
          <p:cNvPr id="12" name="Text 7"/>
          <p:cNvSpPr/>
          <p:nvPr/>
        </p:nvSpPr>
        <p:spPr>
          <a:xfrm>
            <a:off x="5810250" y="3536752"/>
            <a:ext cx="1735931"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Data Split</a:t>
            </a:r>
            <a:endParaRPr lang="en-US" sz="1500" dirty="0">
              <a:solidFill>
                <a:prstClr val="black"/>
              </a:solidFill>
              <a:latin typeface="Calibri" panose="020F0502020204030204"/>
            </a:endParaRPr>
          </a:p>
        </p:txBody>
      </p:sp>
      <p:sp>
        <p:nvSpPr>
          <p:cNvPr id="13" name="Text 8"/>
          <p:cNvSpPr/>
          <p:nvPr/>
        </p:nvSpPr>
        <p:spPr>
          <a:xfrm>
            <a:off x="5810250" y="3937100"/>
            <a:ext cx="2060004"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data was split into training and test sets for model evaluation.</a:t>
            </a:r>
            <a:endParaRPr lang="en-US" sz="1200" dirty="0">
              <a:solidFill>
                <a:prstClr val="black"/>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615877"/>
            <a:ext cx="4051176" cy="578644"/>
          </a:xfrm>
          <a:prstGeom prst="rect">
            <a:avLst/>
          </a:prstGeom>
          <a:noFill/>
          <a:ln/>
        </p:spPr>
        <p:txBody>
          <a:bodyPr wrap="none" lIns="64008" tIns="32004" rIns="64008" bIns="32004" rtlCol="0" anchor="t"/>
          <a:lstStyle/>
          <a:p>
            <a:pPr defTabSz="640080">
              <a:lnSpc>
                <a:spcPts val="3828"/>
              </a:lnSpc>
              <a:defRPr/>
            </a:pPr>
            <a:r>
              <a:rPr lang="en-US" sz="3100" b="1" dirty="0">
                <a:solidFill>
                  <a:srgbClr val="233939"/>
                </a:solidFill>
                <a:latin typeface="Syne" pitchFamily="34" charset="0"/>
                <a:ea typeface="Syne" pitchFamily="34" charset="-122"/>
                <a:cs typeface="Syne" pitchFamily="34" charset="-120"/>
              </a:rPr>
              <a:t>Decision Tree Models</a:t>
            </a:r>
            <a:endParaRPr lang="en-US" sz="3100" dirty="0">
              <a:solidFill>
                <a:prstClr val="black"/>
              </a:solidFill>
              <a:latin typeface="Calibri" panose="020F0502020204030204"/>
            </a:endParaRPr>
          </a:p>
        </p:txBody>
      </p:sp>
      <p:sp>
        <p:nvSpPr>
          <p:cNvPr id="5" name="Text 3"/>
          <p:cNvSpPr/>
          <p:nvPr/>
        </p:nvSpPr>
        <p:spPr>
          <a:xfrm>
            <a:off x="1273746" y="2657376"/>
            <a:ext cx="1735931"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233939"/>
                </a:solidFill>
                <a:latin typeface="Syne" pitchFamily="34" charset="0"/>
                <a:ea typeface="Syne" pitchFamily="34" charset="-122"/>
                <a:cs typeface="Syne" pitchFamily="34" charset="-120"/>
              </a:rPr>
              <a:t>Travel Again</a:t>
            </a:r>
            <a:endParaRPr lang="en-US" sz="1500" dirty="0">
              <a:solidFill>
                <a:prstClr val="black"/>
              </a:solidFill>
              <a:latin typeface="Calibri" panose="020F0502020204030204"/>
            </a:endParaRPr>
          </a:p>
        </p:txBody>
      </p:sp>
      <p:sp>
        <p:nvSpPr>
          <p:cNvPr id="6" name="Text 4"/>
          <p:cNvSpPr/>
          <p:nvPr/>
        </p:nvSpPr>
        <p:spPr>
          <a:xfrm>
            <a:off x="1273746" y="3131841"/>
            <a:ext cx="3128888"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decision tree model for "Would you like to travel again?" achieved 91.2% accuracy on the training set and 90% on the test set.</a:t>
            </a:r>
            <a:endParaRPr lang="en-US" sz="1200" dirty="0">
              <a:solidFill>
                <a:prstClr val="black"/>
              </a:solidFill>
              <a:latin typeface="Calibri" panose="020F0502020204030204"/>
            </a:endParaRPr>
          </a:p>
        </p:txBody>
      </p:sp>
      <p:sp>
        <p:nvSpPr>
          <p:cNvPr id="7" name="Text 5"/>
          <p:cNvSpPr/>
          <p:nvPr/>
        </p:nvSpPr>
        <p:spPr>
          <a:xfrm>
            <a:off x="1273746" y="4186932"/>
            <a:ext cx="3128888"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"Choice decided by" and "Age" were the most important factors influencing likelihood to travel again.</a:t>
            </a:r>
            <a:endParaRPr lang="en-US" sz="1200" dirty="0">
              <a:solidFill>
                <a:prstClr val="black"/>
              </a:solidFill>
              <a:latin typeface="Calibri" panose="020F0502020204030204"/>
            </a:endParaRPr>
          </a:p>
        </p:txBody>
      </p:sp>
      <p:sp>
        <p:nvSpPr>
          <p:cNvPr id="8" name="Text 6"/>
          <p:cNvSpPr/>
          <p:nvPr/>
        </p:nvSpPr>
        <p:spPr>
          <a:xfrm>
            <a:off x="4746129" y="2657376"/>
            <a:ext cx="1886322"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233939"/>
                </a:solidFill>
                <a:latin typeface="Syne" pitchFamily="34" charset="0"/>
                <a:ea typeface="Syne" pitchFamily="34" charset="-122"/>
                <a:cs typeface="Syne" pitchFamily="34" charset="-120"/>
              </a:rPr>
              <a:t>Recommend Airline</a:t>
            </a:r>
            <a:endParaRPr lang="en-US" sz="1500" dirty="0">
              <a:solidFill>
                <a:prstClr val="black"/>
              </a:solidFill>
              <a:latin typeface="Calibri" panose="020F0502020204030204"/>
            </a:endParaRPr>
          </a:p>
        </p:txBody>
      </p:sp>
      <p:sp>
        <p:nvSpPr>
          <p:cNvPr id="9" name="Text 7"/>
          <p:cNvSpPr/>
          <p:nvPr/>
        </p:nvSpPr>
        <p:spPr>
          <a:xfrm>
            <a:off x="4746129" y="3131841"/>
            <a:ext cx="3128888"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model for "Would you recommend this airline?" had 94.1% training accuracy and 95% test accuracy.</a:t>
            </a:r>
            <a:endParaRPr lang="en-US" sz="1200" dirty="0">
              <a:solidFill>
                <a:prstClr val="black"/>
              </a:solidFill>
              <a:latin typeface="Calibri" panose="020F0502020204030204"/>
            </a:endParaRPr>
          </a:p>
        </p:txBody>
      </p:sp>
      <p:sp>
        <p:nvSpPr>
          <p:cNvPr id="10" name="Text 8"/>
          <p:cNvSpPr/>
          <p:nvPr/>
        </p:nvSpPr>
        <p:spPr>
          <a:xfrm>
            <a:off x="4746129" y="4186932"/>
            <a:ext cx="3128888"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key factor was "Would you like to travel again?", highlighting the importance of customer satisfaction.</a:t>
            </a:r>
            <a:endParaRPr lang="en-US" sz="1200" dirty="0">
              <a:solidFill>
                <a:prstClr val="black"/>
              </a:solidFill>
              <a:latin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xmlns="" id="{52318256-1857-400A-BE41-80E67D2C97AA}"/>
              </a:ext>
            </a:extLst>
          </p:cNvPr>
          <p:cNvSpPr/>
          <p:nvPr/>
        </p:nvSpPr>
        <p:spPr>
          <a:xfrm>
            <a:off x="0" y="27384"/>
            <a:ext cx="9144000" cy="6858000"/>
          </a:xfrm>
          <a:prstGeom prst="rect">
            <a:avLst/>
          </a:prstGeom>
          <a:solidFill>
            <a:srgbClr val="FFFDE6">
              <a:alpha val="85000"/>
            </a:srgbClr>
          </a:solidFill>
          <a:ln/>
        </p:spPr>
      </p:sp>
      <p:pic>
        <p:nvPicPr>
          <p:cNvPr id="2" name="Picture 1">
            <a:extLst>
              <a:ext uri="{FF2B5EF4-FFF2-40B4-BE49-F238E27FC236}">
                <a16:creationId xmlns:a16="http://schemas.microsoft.com/office/drawing/2014/main" xmlns="" id="{76CAD136-3149-FB97-12E4-465D08BC9B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500" y="338666"/>
            <a:ext cx="3926417" cy="6251223"/>
          </a:xfrm>
          <a:prstGeom prst="rect">
            <a:avLst/>
          </a:prstGeom>
          <a:noFill/>
          <a:ln>
            <a:solidFill>
              <a:schemeClr val="tx1"/>
            </a:solidFill>
          </a:ln>
        </p:spPr>
      </p:pic>
      <p:pic>
        <p:nvPicPr>
          <p:cNvPr id="3" name="Picture 2">
            <a:extLst>
              <a:ext uri="{FF2B5EF4-FFF2-40B4-BE49-F238E27FC236}">
                <a16:creationId xmlns:a16="http://schemas.microsoft.com/office/drawing/2014/main" xmlns="" id="{A4E9213D-2C40-ABA4-0DD0-E95BD80C3C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250" y="856632"/>
            <a:ext cx="2857500" cy="4943035"/>
          </a:xfrm>
          <a:prstGeom prst="rect">
            <a:avLst/>
          </a:prstGeom>
          <a:noFill/>
          <a:ln>
            <a:solidFill>
              <a:schemeClr val="tx1"/>
            </a:solidFill>
          </a:ln>
        </p:spPr>
      </p:pic>
    </p:spTree>
    <p:extLst>
      <p:ext uri="{BB962C8B-B14F-4D97-AF65-F5344CB8AC3E}">
        <p14:creationId xmlns:p14="http://schemas.microsoft.com/office/powerpoint/2010/main" val="4243711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751509"/>
            <a:ext cx="3831803" cy="578644"/>
          </a:xfrm>
          <a:prstGeom prst="rect">
            <a:avLst/>
          </a:prstGeom>
          <a:noFill/>
          <a:ln/>
        </p:spPr>
        <p:txBody>
          <a:bodyPr wrap="none" lIns="64008" tIns="32004" rIns="64008" bIns="32004" rtlCol="0" anchor="t"/>
          <a:lstStyle/>
          <a:p>
            <a:pPr defTabSz="640080">
              <a:lnSpc>
                <a:spcPts val="3828"/>
              </a:lnSpc>
              <a:defRPr/>
            </a:pPr>
            <a:r>
              <a:rPr lang="en-US" sz="3100" b="1" dirty="0">
                <a:solidFill>
                  <a:srgbClr val="233939"/>
                </a:solidFill>
                <a:latin typeface="Syne" pitchFamily="34" charset="0"/>
                <a:ea typeface="Syne" pitchFamily="34" charset="-122"/>
                <a:cs typeface="Syne" pitchFamily="34" charset="-120"/>
              </a:rPr>
              <a:t>Model Performance</a:t>
            </a:r>
            <a:endParaRPr lang="en-US" sz="3100" dirty="0">
              <a:solidFill>
                <a:prstClr val="black"/>
              </a:solidFill>
              <a:latin typeface="Calibri" panose="020F0502020204030204"/>
            </a:endParaRPr>
          </a:p>
        </p:txBody>
      </p:sp>
      <p:sp>
        <p:nvSpPr>
          <p:cNvPr id="5" name="Shape 3"/>
          <p:cNvSpPr/>
          <p:nvPr/>
        </p:nvSpPr>
        <p:spPr>
          <a:xfrm>
            <a:off x="1273746" y="2700437"/>
            <a:ext cx="6596509" cy="1605458"/>
          </a:xfrm>
          <a:prstGeom prst="roundRect">
            <a:avLst>
              <a:gd name="adj" fmla="val 5190"/>
            </a:avLst>
          </a:prstGeom>
          <a:noFill/>
          <a:ln w="7620">
            <a:solidFill>
              <a:srgbClr val="000000">
                <a:alpha val="8000"/>
              </a:srgbClr>
            </a:solidFill>
            <a:prstDash val="solid"/>
          </a:ln>
        </p:spPr>
      </p:sp>
      <p:sp>
        <p:nvSpPr>
          <p:cNvPr id="6" name="Shape 4"/>
          <p:cNvSpPr/>
          <p:nvPr/>
        </p:nvSpPr>
        <p:spPr>
          <a:xfrm>
            <a:off x="1278509" y="2706787"/>
            <a:ext cx="6586314" cy="530919"/>
          </a:xfrm>
          <a:prstGeom prst="rect">
            <a:avLst/>
          </a:prstGeom>
          <a:solidFill>
            <a:srgbClr val="FFFFFF">
              <a:alpha val="4000"/>
            </a:srgbClr>
          </a:solidFill>
          <a:ln/>
        </p:spPr>
      </p:sp>
      <p:sp>
        <p:nvSpPr>
          <p:cNvPr id="7" name="Text 5"/>
          <p:cNvSpPr/>
          <p:nvPr/>
        </p:nvSpPr>
        <p:spPr>
          <a:xfrm>
            <a:off x="1418035" y="2824163"/>
            <a:ext cx="1915121"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Model</a:t>
            </a:r>
            <a:endParaRPr lang="en-US" sz="1200" dirty="0">
              <a:solidFill>
                <a:prstClr val="black"/>
              </a:solidFill>
              <a:latin typeface="Calibri" panose="020F0502020204030204"/>
            </a:endParaRPr>
          </a:p>
        </p:txBody>
      </p:sp>
      <p:sp>
        <p:nvSpPr>
          <p:cNvPr id="8" name="Text 6"/>
          <p:cNvSpPr/>
          <p:nvPr/>
        </p:nvSpPr>
        <p:spPr>
          <a:xfrm>
            <a:off x="3615631" y="2824163"/>
            <a:ext cx="1912739"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Training Accuracy</a:t>
            </a:r>
            <a:endParaRPr lang="en-US" sz="1200" dirty="0">
              <a:solidFill>
                <a:prstClr val="black"/>
              </a:solidFill>
              <a:latin typeface="Calibri" panose="020F0502020204030204"/>
            </a:endParaRPr>
          </a:p>
        </p:txBody>
      </p:sp>
      <p:sp>
        <p:nvSpPr>
          <p:cNvPr id="9" name="Text 7"/>
          <p:cNvSpPr/>
          <p:nvPr/>
        </p:nvSpPr>
        <p:spPr>
          <a:xfrm>
            <a:off x="5810846" y="2824163"/>
            <a:ext cx="1915121"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Test Accuracy</a:t>
            </a:r>
            <a:endParaRPr lang="en-US" sz="1200" dirty="0">
              <a:solidFill>
                <a:prstClr val="black"/>
              </a:solidFill>
              <a:latin typeface="Calibri" panose="020F0502020204030204"/>
            </a:endParaRPr>
          </a:p>
        </p:txBody>
      </p:sp>
      <p:sp>
        <p:nvSpPr>
          <p:cNvPr id="10" name="Shape 8"/>
          <p:cNvSpPr/>
          <p:nvPr/>
        </p:nvSpPr>
        <p:spPr>
          <a:xfrm>
            <a:off x="1278509" y="3237706"/>
            <a:ext cx="6586314" cy="530919"/>
          </a:xfrm>
          <a:prstGeom prst="rect">
            <a:avLst/>
          </a:prstGeom>
          <a:solidFill>
            <a:srgbClr val="000000">
              <a:alpha val="4000"/>
            </a:srgbClr>
          </a:solidFill>
          <a:ln/>
        </p:spPr>
      </p:sp>
      <p:sp>
        <p:nvSpPr>
          <p:cNvPr id="11" name="Text 9"/>
          <p:cNvSpPr/>
          <p:nvPr/>
        </p:nvSpPr>
        <p:spPr>
          <a:xfrm>
            <a:off x="1418035" y="3355082"/>
            <a:ext cx="1915121"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Travel Again</a:t>
            </a:r>
            <a:endParaRPr lang="en-US" sz="1200" dirty="0">
              <a:solidFill>
                <a:prstClr val="black"/>
              </a:solidFill>
              <a:latin typeface="Calibri" panose="020F0502020204030204"/>
            </a:endParaRPr>
          </a:p>
        </p:txBody>
      </p:sp>
      <p:sp>
        <p:nvSpPr>
          <p:cNvPr id="12" name="Text 10"/>
          <p:cNvSpPr/>
          <p:nvPr/>
        </p:nvSpPr>
        <p:spPr>
          <a:xfrm>
            <a:off x="3615631" y="3355082"/>
            <a:ext cx="1912739"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91.2%</a:t>
            </a:r>
            <a:endParaRPr lang="en-US" sz="1200" dirty="0">
              <a:solidFill>
                <a:prstClr val="black"/>
              </a:solidFill>
              <a:latin typeface="Calibri" panose="020F0502020204030204"/>
            </a:endParaRPr>
          </a:p>
        </p:txBody>
      </p:sp>
      <p:sp>
        <p:nvSpPr>
          <p:cNvPr id="13" name="Text 11"/>
          <p:cNvSpPr/>
          <p:nvPr/>
        </p:nvSpPr>
        <p:spPr>
          <a:xfrm>
            <a:off x="5810846" y="3355082"/>
            <a:ext cx="1915121"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90%</a:t>
            </a:r>
            <a:endParaRPr lang="en-US" sz="1200" dirty="0">
              <a:solidFill>
                <a:prstClr val="black"/>
              </a:solidFill>
              <a:latin typeface="Calibri" panose="020F0502020204030204"/>
            </a:endParaRPr>
          </a:p>
        </p:txBody>
      </p:sp>
      <p:sp>
        <p:nvSpPr>
          <p:cNvPr id="14" name="Shape 12"/>
          <p:cNvSpPr/>
          <p:nvPr/>
        </p:nvSpPr>
        <p:spPr>
          <a:xfrm>
            <a:off x="1278509" y="3768626"/>
            <a:ext cx="6586314" cy="530919"/>
          </a:xfrm>
          <a:prstGeom prst="rect">
            <a:avLst/>
          </a:prstGeom>
          <a:solidFill>
            <a:srgbClr val="FFFFFF">
              <a:alpha val="4000"/>
            </a:srgbClr>
          </a:solidFill>
          <a:ln/>
        </p:spPr>
      </p:sp>
      <p:sp>
        <p:nvSpPr>
          <p:cNvPr id="15" name="Text 13"/>
          <p:cNvSpPr/>
          <p:nvPr/>
        </p:nvSpPr>
        <p:spPr>
          <a:xfrm>
            <a:off x="1418035" y="3886002"/>
            <a:ext cx="1915121"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Recommend Airline</a:t>
            </a:r>
            <a:endParaRPr lang="en-US" sz="1200" dirty="0">
              <a:solidFill>
                <a:prstClr val="black"/>
              </a:solidFill>
              <a:latin typeface="Calibri" panose="020F0502020204030204"/>
            </a:endParaRPr>
          </a:p>
        </p:txBody>
      </p:sp>
      <p:sp>
        <p:nvSpPr>
          <p:cNvPr id="16" name="Text 14"/>
          <p:cNvSpPr/>
          <p:nvPr/>
        </p:nvSpPr>
        <p:spPr>
          <a:xfrm>
            <a:off x="3615631" y="3886002"/>
            <a:ext cx="1912739"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94.1%</a:t>
            </a:r>
            <a:endParaRPr lang="en-US" sz="1200" dirty="0">
              <a:solidFill>
                <a:prstClr val="black"/>
              </a:solidFill>
              <a:latin typeface="Calibri" panose="020F0502020204030204"/>
            </a:endParaRPr>
          </a:p>
        </p:txBody>
      </p:sp>
      <p:sp>
        <p:nvSpPr>
          <p:cNvPr id="17" name="Text 15"/>
          <p:cNvSpPr/>
          <p:nvPr/>
        </p:nvSpPr>
        <p:spPr>
          <a:xfrm>
            <a:off x="5810846" y="3886002"/>
            <a:ext cx="1915121" cy="296168"/>
          </a:xfrm>
          <a:prstGeom prst="rect">
            <a:avLst/>
          </a:prstGeom>
          <a:noFill/>
          <a:ln/>
        </p:spPr>
        <p:txBody>
          <a:bodyPr wrap="non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95%</a:t>
            </a:r>
            <a:endParaRPr lang="en-US" sz="1200" dirty="0">
              <a:solidFill>
                <a:prstClr val="black"/>
              </a:solidFill>
              <a:latin typeface="Calibri" panose="020F0502020204030204"/>
            </a:endParaRPr>
          </a:p>
        </p:txBody>
      </p:sp>
      <p:sp>
        <p:nvSpPr>
          <p:cNvPr id="18" name="Text 16"/>
          <p:cNvSpPr/>
          <p:nvPr/>
        </p:nvSpPr>
        <p:spPr>
          <a:xfrm>
            <a:off x="1273746" y="4514156"/>
            <a:ext cx="6596509" cy="592336"/>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decision tree models demonstrated high accuracy on both training and test data, indicating good generalization ability and reliable predictions.</a:t>
            </a:r>
            <a:endParaRPr lang="en-US" sz="1200" dirty="0">
              <a:solidFill>
                <a:prstClr val="black"/>
              </a:solidFill>
              <a:latin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6858000" y="0"/>
            <a:ext cx="2286000" cy="6858000"/>
          </a:xfrm>
          <a:prstGeom prst="rect">
            <a:avLst/>
          </a:prstGeom>
        </p:spPr>
      </p:pic>
      <p:sp>
        <p:nvSpPr>
          <p:cNvPr id="5" name="Text 2"/>
          <p:cNvSpPr/>
          <p:nvPr/>
        </p:nvSpPr>
        <p:spPr>
          <a:xfrm>
            <a:off x="520749" y="1559223"/>
            <a:ext cx="3471863" cy="578644"/>
          </a:xfrm>
          <a:prstGeom prst="rect">
            <a:avLst/>
          </a:prstGeom>
          <a:noFill/>
          <a:ln/>
        </p:spPr>
        <p:txBody>
          <a:bodyPr wrap="none" lIns="64008" tIns="32004" rIns="64008" bIns="32004" rtlCol="0" anchor="t"/>
          <a:lstStyle/>
          <a:p>
            <a:pPr defTabSz="640080">
              <a:lnSpc>
                <a:spcPts val="3828"/>
              </a:lnSpc>
              <a:defRPr/>
            </a:pPr>
            <a:r>
              <a:rPr lang="en-US" sz="3100" b="1" dirty="0">
                <a:solidFill>
                  <a:srgbClr val="233939"/>
                </a:solidFill>
                <a:latin typeface="Syne" pitchFamily="34" charset="0"/>
                <a:ea typeface="Syne" pitchFamily="34" charset="-122"/>
                <a:cs typeface="Syne" pitchFamily="34" charset="-120"/>
              </a:rPr>
              <a:t>Key Findings</a:t>
            </a:r>
            <a:endParaRPr lang="en-US" sz="3100" dirty="0">
              <a:solidFill>
                <a:prstClr val="black"/>
              </a:solidFill>
              <a:latin typeface="Calibri" panose="020F0502020204030204"/>
            </a:endParaRPr>
          </a:p>
        </p:txBody>
      </p:sp>
      <p:sp>
        <p:nvSpPr>
          <p:cNvPr id="6" name="Shape 3"/>
          <p:cNvSpPr/>
          <p:nvPr/>
        </p:nvSpPr>
        <p:spPr>
          <a:xfrm>
            <a:off x="520750" y="2560241"/>
            <a:ext cx="312464" cy="416619"/>
          </a:xfrm>
          <a:prstGeom prst="roundRect">
            <a:avLst>
              <a:gd name="adj" fmla="val 20000"/>
            </a:avLst>
          </a:prstGeom>
          <a:solidFill>
            <a:srgbClr val="DDEEE6"/>
          </a:solidFill>
          <a:ln w="7620">
            <a:solidFill>
              <a:srgbClr val="C3D4CC"/>
            </a:solidFill>
            <a:prstDash val="solid"/>
          </a:ln>
        </p:spPr>
      </p:sp>
      <p:sp>
        <p:nvSpPr>
          <p:cNvPr id="7" name="Text 4"/>
          <p:cNvSpPr/>
          <p:nvPr/>
        </p:nvSpPr>
        <p:spPr>
          <a:xfrm>
            <a:off x="636314" y="2594968"/>
            <a:ext cx="81260" cy="347068"/>
          </a:xfrm>
          <a:prstGeom prst="rect">
            <a:avLst/>
          </a:prstGeom>
          <a:noFill/>
          <a:ln/>
        </p:spPr>
        <p:txBody>
          <a:bodyPr wrap="none" lIns="64008" tIns="32004" rIns="64008" bIns="32004" rtlCol="0" anchor="t"/>
          <a:lstStyle/>
          <a:p>
            <a:pPr algn="ctr" defTabSz="640080">
              <a:lnSpc>
                <a:spcPts val="2297"/>
              </a:lnSpc>
              <a:defRPr/>
            </a:pPr>
            <a:r>
              <a:rPr lang="en-US" b="1" dirty="0">
                <a:solidFill>
                  <a:srgbClr val="3B4E4E"/>
                </a:solidFill>
                <a:latin typeface="Syne" pitchFamily="34" charset="0"/>
                <a:ea typeface="Syne" pitchFamily="34" charset="-122"/>
                <a:cs typeface="Syne" pitchFamily="34" charset="-120"/>
              </a:rPr>
              <a:t>1</a:t>
            </a:r>
            <a:endParaRPr lang="en-US" dirty="0">
              <a:solidFill>
                <a:prstClr val="black"/>
              </a:solidFill>
              <a:latin typeface="Calibri" panose="020F0502020204030204"/>
            </a:endParaRPr>
          </a:p>
        </p:txBody>
      </p:sp>
      <p:sp>
        <p:nvSpPr>
          <p:cNvPr id="8" name="Text 5"/>
          <p:cNvSpPr/>
          <p:nvPr/>
        </p:nvSpPr>
        <p:spPr>
          <a:xfrm>
            <a:off x="972071" y="2623840"/>
            <a:ext cx="1735931"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Travel Choice</a:t>
            </a:r>
            <a:endParaRPr lang="en-US" sz="1500" dirty="0">
              <a:solidFill>
                <a:prstClr val="black"/>
              </a:solidFill>
              <a:latin typeface="Calibri" panose="020F0502020204030204"/>
            </a:endParaRPr>
          </a:p>
        </p:txBody>
      </p:sp>
      <p:sp>
        <p:nvSpPr>
          <p:cNvPr id="9" name="Text 6"/>
          <p:cNvSpPr/>
          <p:nvPr/>
        </p:nvSpPr>
        <p:spPr>
          <a:xfrm>
            <a:off x="972071" y="3024188"/>
            <a:ext cx="2387501"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Customers whose travel choice was decided by an employer or themselves were most likely to travel again.</a:t>
            </a:r>
            <a:endParaRPr lang="en-US" sz="1200" dirty="0">
              <a:solidFill>
                <a:prstClr val="black"/>
              </a:solidFill>
              <a:latin typeface="Calibri" panose="020F0502020204030204"/>
            </a:endParaRPr>
          </a:p>
        </p:txBody>
      </p:sp>
      <p:sp>
        <p:nvSpPr>
          <p:cNvPr id="10" name="Shape 7"/>
          <p:cNvSpPr/>
          <p:nvPr/>
        </p:nvSpPr>
        <p:spPr>
          <a:xfrm>
            <a:off x="3498429" y="2560241"/>
            <a:ext cx="312464" cy="416619"/>
          </a:xfrm>
          <a:prstGeom prst="roundRect">
            <a:avLst>
              <a:gd name="adj" fmla="val 20000"/>
            </a:avLst>
          </a:prstGeom>
          <a:solidFill>
            <a:srgbClr val="DDEEE6"/>
          </a:solidFill>
          <a:ln w="7620">
            <a:solidFill>
              <a:srgbClr val="C3D4CC"/>
            </a:solidFill>
            <a:prstDash val="solid"/>
          </a:ln>
        </p:spPr>
      </p:sp>
      <p:sp>
        <p:nvSpPr>
          <p:cNvPr id="11" name="Text 8"/>
          <p:cNvSpPr/>
          <p:nvPr/>
        </p:nvSpPr>
        <p:spPr>
          <a:xfrm>
            <a:off x="3589660" y="2594968"/>
            <a:ext cx="130001" cy="347068"/>
          </a:xfrm>
          <a:prstGeom prst="rect">
            <a:avLst/>
          </a:prstGeom>
          <a:noFill/>
          <a:ln/>
        </p:spPr>
        <p:txBody>
          <a:bodyPr wrap="none" lIns="64008" tIns="32004" rIns="64008" bIns="32004" rtlCol="0" anchor="t"/>
          <a:lstStyle/>
          <a:p>
            <a:pPr algn="ctr" defTabSz="640080">
              <a:lnSpc>
                <a:spcPts val="2297"/>
              </a:lnSpc>
              <a:defRPr/>
            </a:pPr>
            <a:r>
              <a:rPr lang="en-US" b="1" dirty="0">
                <a:solidFill>
                  <a:srgbClr val="3B4E4E"/>
                </a:solidFill>
                <a:latin typeface="Syne" pitchFamily="34" charset="0"/>
                <a:ea typeface="Syne" pitchFamily="34" charset="-122"/>
                <a:cs typeface="Syne" pitchFamily="34" charset="-120"/>
              </a:rPr>
              <a:t>2</a:t>
            </a:r>
            <a:endParaRPr lang="en-US" dirty="0">
              <a:solidFill>
                <a:prstClr val="black"/>
              </a:solidFill>
              <a:latin typeface="Calibri" panose="020F0502020204030204"/>
            </a:endParaRPr>
          </a:p>
        </p:txBody>
      </p:sp>
      <p:sp>
        <p:nvSpPr>
          <p:cNvPr id="12" name="Text 9"/>
          <p:cNvSpPr/>
          <p:nvPr/>
        </p:nvSpPr>
        <p:spPr>
          <a:xfrm>
            <a:off x="3949750" y="2623840"/>
            <a:ext cx="1735931"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Age Factor</a:t>
            </a:r>
            <a:endParaRPr lang="en-US" sz="1500" dirty="0">
              <a:solidFill>
                <a:prstClr val="black"/>
              </a:solidFill>
              <a:latin typeface="Calibri" panose="020F0502020204030204"/>
            </a:endParaRPr>
          </a:p>
        </p:txBody>
      </p:sp>
      <p:sp>
        <p:nvSpPr>
          <p:cNvPr id="13" name="Text 10"/>
          <p:cNvSpPr/>
          <p:nvPr/>
        </p:nvSpPr>
        <p:spPr>
          <a:xfrm>
            <a:off x="3949750" y="3024188"/>
            <a:ext cx="2387501"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Customers above 21 years old were least likely to travel again with Indian domestic airlines.</a:t>
            </a:r>
            <a:endParaRPr lang="en-US" sz="1200" dirty="0">
              <a:solidFill>
                <a:prstClr val="black"/>
              </a:solidFill>
              <a:latin typeface="Calibri" panose="020F0502020204030204"/>
            </a:endParaRPr>
          </a:p>
        </p:txBody>
      </p:sp>
      <p:sp>
        <p:nvSpPr>
          <p:cNvPr id="14" name="Shape 11"/>
          <p:cNvSpPr/>
          <p:nvPr/>
        </p:nvSpPr>
        <p:spPr>
          <a:xfrm>
            <a:off x="520750" y="4242495"/>
            <a:ext cx="312464" cy="416619"/>
          </a:xfrm>
          <a:prstGeom prst="roundRect">
            <a:avLst>
              <a:gd name="adj" fmla="val 20000"/>
            </a:avLst>
          </a:prstGeom>
          <a:solidFill>
            <a:srgbClr val="DDEEE6"/>
          </a:solidFill>
          <a:ln w="7620">
            <a:solidFill>
              <a:srgbClr val="C3D4CC"/>
            </a:solidFill>
            <a:prstDash val="solid"/>
          </a:ln>
        </p:spPr>
      </p:sp>
      <p:sp>
        <p:nvSpPr>
          <p:cNvPr id="15" name="Text 12"/>
          <p:cNvSpPr/>
          <p:nvPr/>
        </p:nvSpPr>
        <p:spPr>
          <a:xfrm>
            <a:off x="610195" y="4277221"/>
            <a:ext cx="133573" cy="347068"/>
          </a:xfrm>
          <a:prstGeom prst="rect">
            <a:avLst/>
          </a:prstGeom>
          <a:noFill/>
          <a:ln/>
        </p:spPr>
        <p:txBody>
          <a:bodyPr wrap="none" lIns="64008" tIns="32004" rIns="64008" bIns="32004" rtlCol="0" anchor="t"/>
          <a:lstStyle/>
          <a:p>
            <a:pPr algn="ctr" defTabSz="640080">
              <a:lnSpc>
                <a:spcPts val="2297"/>
              </a:lnSpc>
              <a:defRPr/>
            </a:pPr>
            <a:r>
              <a:rPr lang="en-US" b="1" dirty="0">
                <a:solidFill>
                  <a:srgbClr val="3B4E4E"/>
                </a:solidFill>
                <a:latin typeface="Syne" pitchFamily="34" charset="0"/>
                <a:ea typeface="Syne" pitchFamily="34" charset="-122"/>
                <a:cs typeface="Syne" pitchFamily="34" charset="-120"/>
              </a:rPr>
              <a:t>3</a:t>
            </a:r>
            <a:endParaRPr lang="en-US" dirty="0">
              <a:solidFill>
                <a:prstClr val="black"/>
              </a:solidFill>
              <a:latin typeface="Calibri" panose="020F0502020204030204"/>
            </a:endParaRPr>
          </a:p>
        </p:txBody>
      </p:sp>
      <p:sp>
        <p:nvSpPr>
          <p:cNvPr id="16" name="Text 13"/>
          <p:cNvSpPr/>
          <p:nvPr/>
        </p:nvSpPr>
        <p:spPr>
          <a:xfrm>
            <a:off x="972071" y="4306094"/>
            <a:ext cx="2352303" cy="289322"/>
          </a:xfrm>
          <a:prstGeom prst="rect">
            <a:avLst/>
          </a:prstGeom>
          <a:noFill/>
          <a:ln/>
        </p:spPr>
        <p:txBody>
          <a:bodyPr wrap="none" lIns="64008" tIns="32004" rIns="64008" bIns="32004" rtlCol="0" anchor="t"/>
          <a:lstStyle/>
          <a:p>
            <a:pPr defTabSz="640080">
              <a:lnSpc>
                <a:spcPts val="1914"/>
              </a:lnSpc>
              <a:defRPr/>
            </a:pPr>
            <a:r>
              <a:rPr lang="en-US" sz="1500" b="1" dirty="0">
                <a:solidFill>
                  <a:srgbClr val="3B4E4E"/>
                </a:solidFill>
                <a:latin typeface="Syne" pitchFamily="34" charset="0"/>
                <a:ea typeface="Syne" pitchFamily="34" charset="-122"/>
                <a:cs typeface="Syne" pitchFamily="34" charset="-120"/>
              </a:rPr>
              <a:t>Recommendation Driver</a:t>
            </a:r>
            <a:endParaRPr lang="en-US" sz="1500" dirty="0">
              <a:solidFill>
                <a:prstClr val="black"/>
              </a:solidFill>
              <a:latin typeface="Calibri" panose="020F0502020204030204"/>
            </a:endParaRPr>
          </a:p>
        </p:txBody>
      </p:sp>
      <p:sp>
        <p:nvSpPr>
          <p:cNvPr id="17" name="Text 14"/>
          <p:cNvSpPr/>
          <p:nvPr/>
        </p:nvSpPr>
        <p:spPr>
          <a:xfrm>
            <a:off x="972071" y="4706442"/>
            <a:ext cx="5365179" cy="592336"/>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Willingness to travel again was the primary driver for recommending the airline to others.</a:t>
            </a:r>
            <a:endParaRPr lang="en-US" sz="1200" dirty="0">
              <a:solidFill>
                <a:prstClr val="black"/>
              </a:solidFill>
              <a:latin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1512888"/>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Key Insights</a:t>
            </a:r>
            <a:endParaRPr lang="en-US" sz="3100" dirty="0"/>
          </a:p>
        </p:txBody>
      </p:sp>
      <p:sp>
        <p:nvSpPr>
          <p:cNvPr id="5" name="Shape 3"/>
          <p:cNvSpPr/>
          <p:nvPr/>
        </p:nvSpPr>
        <p:spPr>
          <a:xfrm>
            <a:off x="1273746" y="2606477"/>
            <a:ext cx="312464" cy="416619"/>
          </a:xfrm>
          <a:prstGeom prst="roundRect">
            <a:avLst>
              <a:gd name="adj" fmla="val 20000"/>
            </a:avLst>
          </a:prstGeom>
          <a:solidFill>
            <a:srgbClr val="DDEEE6"/>
          </a:solidFill>
          <a:ln w="7620">
            <a:solidFill>
              <a:srgbClr val="C3D4CC"/>
            </a:solidFill>
            <a:prstDash val="solid"/>
          </a:ln>
        </p:spPr>
      </p:sp>
      <p:sp>
        <p:nvSpPr>
          <p:cNvPr id="6" name="Text 4"/>
          <p:cNvSpPr/>
          <p:nvPr/>
        </p:nvSpPr>
        <p:spPr>
          <a:xfrm>
            <a:off x="1389311" y="2641204"/>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7" name="Text 5"/>
          <p:cNvSpPr/>
          <p:nvPr/>
        </p:nvSpPr>
        <p:spPr>
          <a:xfrm>
            <a:off x="1725067" y="2670076"/>
            <a:ext cx="1858938"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Smooth Operations</a:t>
            </a:r>
            <a:endParaRPr lang="en-US" sz="1500" dirty="0"/>
          </a:p>
        </p:txBody>
      </p:sp>
      <p:sp>
        <p:nvSpPr>
          <p:cNvPr id="8" name="Text 6"/>
          <p:cNvSpPr/>
          <p:nvPr/>
        </p:nvSpPr>
        <p:spPr>
          <a:xfrm>
            <a:off x="1725067" y="3070424"/>
            <a:ext cx="277750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Maintain consistent smoothness during take-off and landing to improve passenger satisfaction.</a:t>
            </a:r>
            <a:endParaRPr lang="en-US" sz="1200" dirty="0"/>
          </a:p>
        </p:txBody>
      </p:sp>
      <p:sp>
        <p:nvSpPr>
          <p:cNvPr id="9" name="Shape 7"/>
          <p:cNvSpPr/>
          <p:nvPr/>
        </p:nvSpPr>
        <p:spPr>
          <a:xfrm>
            <a:off x="4641429" y="2606477"/>
            <a:ext cx="312464" cy="416619"/>
          </a:xfrm>
          <a:prstGeom prst="roundRect">
            <a:avLst>
              <a:gd name="adj" fmla="val 20000"/>
            </a:avLst>
          </a:prstGeom>
          <a:solidFill>
            <a:srgbClr val="DDEEE6"/>
          </a:solidFill>
          <a:ln w="7620">
            <a:solidFill>
              <a:srgbClr val="C3D4CC"/>
            </a:solidFill>
            <a:prstDash val="solid"/>
          </a:ln>
        </p:spPr>
      </p:sp>
      <p:sp>
        <p:nvSpPr>
          <p:cNvPr id="10" name="Text 8"/>
          <p:cNvSpPr/>
          <p:nvPr/>
        </p:nvSpPr>
        <p:spPr>
          <a:xfrm>
            <a:off x="4732660" y="2641204"/>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1" name="Text 9"/>
          <p:cNvSpPr/>
          <p:nvPr/>
        </p:nvSpPr>
        <p:spPr>
          <a:xfrm>
            <a:off x="5092750" y="2670076"/>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Cabin Cleanliness</a:t>
            </a:r>
            <a:endParaRPr lang="en-US" sz="1500" dirty="0"/>
          </a:p>
        </p:txBody>
      </p:sp>
      <p:sp>
        <p:nvSpPr>
          <p:cNvPr id="12" name="Text 10"/>
          <p:cNvSpPr/>
          <p:nvPr/>
        </p:nvSpPr>
        <p:spPr>
          <a:xfrm>
            <a:off x="5092749" y="3070424"/>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Improve and maintain high standards of cleanliness throughout the cabin.</a:t>
            </a:r>
            <a:endParaRPr lang="en-US" sz="1200" dirty="0"/>
          </a:p>
        </p:txBody>
      </p:sp>
      <p:sp>
        <p:nvSpPr>
          <p:cNvPr id="13" name="Shape 11"/>
          <p:cNvSpPr/>
          <p:nvPr/>
        </p:nvSpPr>
        <p:spPr>
          <a:xfrm>
            <a:off x="1273746" y="4288731"/>
            <a:ext cx="312464" cy="416619"/>
          </a:xfrm>
          <a:prstGeom prst="roundRect">
            <a:avLst>
              <a:gd name="adj" fmla="val 20000"/>
            </a:avLst>
          </a:prstGeom>
          <a:solidFill>
            <a:srgbClr val="DDEEE6"/>
          </a:solidFill>
          <a:ln w="7620">
            <a:solidFill>
              <a:srgbClr val="C3D4CC"/>
            </a:solidFill>
            <a:prstDash val="solid"/>
          </a:ln>
        </p:spPr>
      </p:sp>
      <p:sp>
        <p:nvSpPr>
          <p:cNvPr id="14" name="Text 12"/>
          <p:cNvSpPr/>
          <p:nvPr/>
        </p:nvSpPr>
        <p:spPr>
          <a:xfrm>
            <a:off x="1363192" y="4323457"/>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5" name="Text 13"/>
          <p:cNvSpPr/>
          <p:nvPr/>
        </p:nvSpPr>
        <p:spPr>
          <a:xfrm>
            <a:off x="1725067" y="4352330"/>
            <a:ext cx="1834307"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Lounge Experience</a:t>
            </a:r>
            <a:endParaRPr lang="en-US" sz="1500" dirty="0"/>
          </a:p>
        </p:txBody>
      </p:sp>
      <p:sp>
        <p:nvSpPr>
          <p:cNvPr id="16" name="Text 14"/>
          <p:cNvSpPr/>
          <p:nvPr/>
        </p:nvSpPr>
        <p:spPr>
          <a:xfrm>
            <a:off x="1725067" y="4752678"/>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Enhance lounge comfort and space to encourage positive recommendations.</a:t>
            </a:r>
            <a:endParaRPr lang="en-US" sz="1200" dirty="0"/>
          </a:p>
        </p:txBody>
      </p:sp>
      <p:sp>
        <p:nvSpPr>
          <p:cNvPr id="17" name="Shape 15"/>
          <p:cNvSpPr/>
          <p:nvPr/>
        </p:nvSpPr>
        <p:spPr>
          <a:xfrm>
            <a:off x="4641429" y="4288731"/>
            <a:ext cx="312464" cy="416619"/>
          </a:xfrm>
          <a:prstGeom prst="roundRect">
            <a:avLst>
              <a:gd name="adj" fmla="val 20000"/>
            </a:avLst>
          </a:prstGeom>
          <a:solidFill>
            <a:srgbClr val="DDEEE6"/>
          </a:solidFill>
          <a:ln w="7620">
            <a:solidFill>
              <a:srgbClr val="C3D4CC"/>
            </a:solidFill>
            <a:prstDash val="solid"/>
          </a:ln>
        </p:spPr>
      </p:sp>
      <p:sp>
        <p:nvSpPr>
          <p:cNvPr id="18" name="Text 16"/>
          <p:cNvSpPr/>
          <p:nvPr/>
        </p:nvSpPr>
        <p:spPr>
          <a:xfrm>
            <a:off x="4723582" y="4323457"/>
            <a:ext cx="148158"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4</a:t>
            </a:r>
            <a:endParaRPr lang="en-US" dirty="0"/>
          </a:p>
        </p:txBody>
      </p:sp>
      <p:sp>
        <p:nvSpPr>
          <p:cNvPr id="19" name="Text 17"/>
          <p:cNvSpPr/>
          <p:nvPr/>
        </p:nvSpPr>
        <p:spPr>
          <a:xfrm>
            <a:off x="5092750" y="4352330"/>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Staff Training</a:t>
            </a:r>
            <a:endParaRPr lang="en-US" sz="1500" dirty="0"/>
          </a:p>
        </p:txBody>
      </p:sp>
      <p:sp>
        <p:nvSpPr>
          <p:cNvPr id="20" name="Text 18"/>
          <p:cNvSpPr/>
          <p:nvPr/>
        </p:nvSpPr>
        <p:spPr>
          <a:xfrm>
            <a:off x="5092749" y="4752678"/>
            <a:ext cx="2777505"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Invest in staff training to improve friendliness and post-service relationships.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2286000" cy="6858000"/>
          </a:xfrm>
          <a:prstGeom prst="rect">
            <a:avLst/>
          </a:prstGeom>
        </p:spPr>
      </p:pic>
      <p:sp>
        <p:nvSpPr>
          <p:cNvPr id="5" name="Text 2"/>
          <p:cNvSpPr/>
          <p:nvPr/>
        </p:nvSpPr>
        <p:spPr>
          <a:xfrm>
            <a:off x="2806749" y="1680667"/>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Limitations</a:t>
            </a:r>
            <a:endParaRPr lang="en-US" sz="3100" dirty="0"/>
          </a:p>
        </p:txBody>
      </p:sp>
      <p:sp>
        <p:nvSpPr>
          <p:cNvPr id="6" name="Shape 3"/>
          <p:cNvSpPr/>
          <p:nvPr/>
        </p:nvSpPr>
        <p:spPr>
          <a:xfrm>
            <a:off x="2806750" y="2537024"/>
            <a:ext cx="2838822" cy="1375668"/>
          </a:xfrm>
          <a:prstGeom prst="roundRect">
            <a:avLst>
              <a:gd name="adj" fmla="val 6057"/>
            </a:avLst>
          </a:prstGeom>
          <a:solidFill>
            <a:srgbClr val="DDEEE6"/>
          </a:solidFill>
          <a:ln w="7620">
            <a:solidFill>
              <a:srgbClr val="C3D4CC"/>
            </a:solidFill>
            <a:prstDash val="solid"/>
          </a:ln>
        </p:spPr>
      </p:sp>
      <p:sp>
        <p:nvSpPr>
          <p:cNvPr id="7" name="Text 4"/>
          <p:cNvSpPr/>
          <p:nvPr/>
        </p:nvSpPr>
        <p:spPr>
          <a:xfrm>
            <a:off x="2950369" y="2728516"/>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Sample Size</a:t>
            </a:r>
            <a:endParaRPr lang="en-US" sz="1500" dirty="0"/>
          </a:p>
        </p:txBody>
      </p:sp>
      <p:sp>
        <p:nvSpPr>
          <p:cNvPr id="8" name="Text 5"/>
          <p:cNvSpPr/>
          <p:nvPr/>
        </p:nvSpPr>
        <p:spPr>
          <a:xfrm>
            <a:off x="2950369" y="3128864"/>
            <a:ext cx="2551584"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Accuracy may be affected by the sample size of the survey.</a:t>
            </a:r>
            <a:endParaRPr lang="en-US" sz="1200" dirty="0"/>
          </a:p>
        </p:txBody>
      </p:sp>
      <p:sp>
        <p:nvSpPr>
          <p:cNvPr id="9" name="Shape 6"/>
          <p:cNvSpPr/>
          <p:nvPr/>
        </p:nvSpPr>
        <p:spPr>
          <a:xfrm>
            <a:off x="5784428" y="2537024"/>
            <a:ext cx="2838822" cy="1375668"/>
          </a:xfrm>
          <a:prstGeom prst="roundRect">
            <a:avLst>
              <a:gd name="adj" fmla="val 6057"/>
            </a:avLst>
          </a:prstGeom>
          <a:solidFill>
            <a:srgbClr val="DDEEE6"/>
          </a:solidFill>
          <a:ln w="7620">
            <a:solidFill>
              <a:srgbClr val="C3D4CC"/>
            </a:solidFill>
            <a:prstDash val="solid"/>
          </a:ln>
        </p:spPr>
      </p:sp>
      <p:sp>
        <p:nvSpPr>
          <p:cNvPr id="10" name="Text 7"/>
          <p:cNvSpPr/>
          <p:nvPr/>
        </p:nvSpPr>
        <p:spPr>
          <a:xfrm>
            <a:off x="5928048" y="2728516"/>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Variable Selection</a:t>
            </a:r>
            <a:endParaRPr lang="en-US" sz="1500" dirty="0"/>
          </a:p>
        </p:txBody>
      </p:sp>
      <p:sp>
        <p:nvSpPr>
          <p:cNvPr id="11" name="Text 8"/>
          <p:cNvSpPr/>
          <p:nvPr/>
        </p:nvSpPr>
        <p:spPr>
          <a:xfrm>
            <a:off x="5928047" y="3128864"/>
            <a:ext cx="2551584"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choice of variables can impact the interpretability of the models.</a:t>
            </a:r>
            <a:endParaRPr lang="en-US" sz="1200" dirty="0"/>
          </a:p>
        </p:txBody>
      </p:sp>
      <p:sp>
        <p:nvSpPr>
          <p:cNvPr id="12" name="Shape 9"/>
          <p:cNvSpPr/>
          <p:nvPr/>
        </p:nvSpPr>
        <p:spPr>
          <a:xfrm>
            <a:off x="2806750" y="4097833"/>
            <a:ext cx="5816501" cy="1079500"/>
          </a:xfrm>
          <a:prstGeom prst="roundRect">
            <a:avLst>
              <a:gd name="adj" fmla="val 7719"/>
            </a:avLst>
          </a:prstGeom>
          <a:solidFill>
            <a:srgbClr val="DDEEE6"/>
          </a:solidFill>
          <a:ln w="7620">
            <a:solidFill>
              <a:srgbClr val="C3D4CC"/>
            </a:solidFill>
            <a:prstDash val="solid"/>
          </a:ln>
        </p:spPr>
      </p:sp>
      <p:sp>
        <p:nvSpPr>
          <p:cNvPr id="13" name="Text 10"/>
          <p:cNvSpPr/>
          <p:nvPr/>
        </p:nvSpPr>
        <p:spPr>
          <a:xfrm>
            <a:off x="2950369" y="4289326"/>
            <a:ext cx="196840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Variable Interactions</a:t>
            </a:r>
            <a:endParaRPr lang="en-US" sz="1500" dirty="0"/>
          </a:p>
        </p:txBody>
      </p:sp>
      <p:sp>
        <p:nvSpPr>
          <p:cNvPr id="14" name="Text 11"/>
          <p:cNvSpPr/>
          <p:nvPr/>
        </p:nvSpPr>
        <p:spPr>
          <a:xfrm>
            <a:off x="2950369" y="4689674"/>
            <a:ext cx="5529263"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Decision trees assume independence between variables, which may not always hold true.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2032397"/>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Conclusion</a:t>
            </a:r>
            <a:endParaRPr lang="en-US" sz="3100" dirty="0"/>
          </a:p>
        </p:txBody>
      </p:sp>
      <p:pic>
        <p:nvPicPr>
          <p:cNvPr id="5" name="Image 0" descr="preencoded.png"/>
          <p:cNvPicPr>
            <a:picLocks noChangeAspect="1"/>
          </p:cNvPicPr>
          <p:nvPr/>
        </p:nvPicPr>
        <p:blipFill>
          <a:blip r:embed="rId3"/>
          <a:stretch>
            <a:fillRect/>
          </a:stretch>
        </p:blipFill>
        <p:spPr>
          <a:xfrm>
            <a:off x="1273746" y="2981326"/>
            <a:ext cx="277713" cy="370284"/>
          </a:xfrm>
          <a:prstGeom prst="rect">
            <a:avLst/>
          </a:prstGeom>
        </p:spPr>
      </p:pic>
      <p:sp>
        <p:nvSpPr>
          <p:cNvPr id="6" name="Text 3"/>
          <p:cNvSpPr/>
          <p:nvPr/>
        </p:nvSpPr>
        <p:spPr>
          <a:xfrm>
            <a:off x="1273746" y="3536752"/>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Optimize Service</a:t>
            </a:r>
            <a:endParaRPr lang="en-US" sz="1500" dirty="0"/>
          </a:p>
        </p:txBody>
      </p:sp>
      <p:sp>
        <p:nvSpPr>
          <p:cNvPr id="7" name="Text 4"/>
          <p:cNvSpPr/>
          <p:nvPr/>
        </p:nvSpPr>
        <p:spPr>
          <a:xfrm>
            <a:off x="1273746" y="3937100"/>
            <a:ext cx="2059930"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Airlines can tailor offerings based on insights to enhance passenger experiences.</a:t>
            </a:r>
            <a:endParaRPr lang="en-US" sz="1200" dirty="0"/>
          </a:p>
        </p:txBody>
      </p:sp>
      <p:pic>
        <p:nvPicPr>
          <p:cNvPr id="8" name="Image 1" descr="preencoded.png"/>
          <p:cNvPicPr>
            <a:picLocks noChangeAspect="1"/>
          </p:cNvPicPr>
          <p:nvPr/>
        </p:nvPicPr>
        <p:blipFill>
          <a:blip r:embed="rId4"/>
          <a:stretch>
            <a:fillRect/>
          </a:stretch>
        </p:blipFill>
        <p:spPr>
          <a:xfrm>
            <a:off x="3541961" y="2981326"/>
            <a:ext cx="277713" cy="370284"/>
          </a:xfrm>
          <a:prstGeom prst="rect">
            <a:avLst/>
          </a:prstGeom>
        </p:spPr>
      </p:pic>
      <p:sp>
        <p:nvSpPr>
          <p:cNvPr id="9" name="Text 5"/>
          <p:cNvSpPr/>
          <p:nvPr/>
        </p:nvSpPr>
        <p:spPr>
          <a:xfrm>
            <a:off x="3541961" y="3536752"/>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Foster Loyalty</a:t>
            </a:r>
            <a:endParaRPr lang="en-US" sz="1500" dirty="0"/>
          </a:p>
        </p:txBody>
      </p:sp>
      <p:sp>
        <p:nvSpPr>
          <p:cNvPr id="10" name="Text 6"/>
          <p:cNvSpPr/>
          <p:nvPr/>
        </p:nvSpPr>
        <p:spPr>
          <a:xfrm>
            <a:off x="3541961" y="3937100"/>
            <a:ext cx="2060004"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Understanding preferences allows airlines to build lasting relationships with passengers.</a:t>
            </a:r>
            <a:endParaRPr lang="en-US" sz="1200" dirty="0"/>
          </a:p>
        </p:txBody>
      </p:sp>
      <p:pic>
        <p:nvPicPr>
          <p:cNvPr id="11" name="Image 2" descr="preencoded.png"/>
          <p:cNvPicPr>
            <a:picLocks noChangeAspect="1"/>
          </p:cNvPicPr>
          <p:nvPr/>
        </p:nvPicPr>
        <p:blipFill>
          <a:blip r:embed="rId5"/>
          <a:stretch>
            <a:fillRect/>
          </a:stretch>
        </p:blipFill>
        <p:spPr>
          <a:xfrm>
            <a:off x="5810250" y="2981326"/>
            <a:ext cx="277713" cy="370284"/>
          </a:xfrm>
          <a:prstGeom prst="rect">
            <a:avLst/>
          </a:prstGeom>
        </p:spPr>
      </p:pic>
      <p:sp>
        <p:nvSpPr>
          <p:cNvPr id="12" name="Text 7"/>
          <p:cNvSpPr/>
          <p:nvPr/>
        </p:nvSpPr>
        <p:spPr>
          <a:xfrm>
            <a:off x="5810250" y="3536752"/>
            <a:ext cx="2051224"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Encourage Advocacy</a:t>
            </a:r>
            <a:endParaRPr lang="en-US" sz="1500" dirty="0"/>
          </a:p>
        </p:txBody>
      </p:sp>
      <p:sp>
        <p:nvSpPr>
          <p:cNvPr id="13" name="Text 8"/>
          <p:cNvSpPr/>
          <p:nvPr/>
        </p:nvSpPr>
        <p:spPr>
          <a:xfrm>
            <a:off x="5810250" y="3937100"/>
            <a:ext cx="2060004"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Satisfied passengers are more likely to recommend airlines to others.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1294011"/>
            <a:ext cx="347186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Future Outlook</a:t>
            </a:r>
            <a:endParaRPr lang="en-US" sz="3100" dirty="0"/>
          </a:p>
        </p:txBody>
      </p:sp>
      <p:sp>
        <p:nvSpPr>
          <p:cNvPr id="5" name="Shape 3"/>
          <p:cNvSpPr/>
          <p:nvPr/>
        </p:nvSpPr>
        <p:spPr>
          <a:xfrm>
            <a:off x="1273746" y="2242939"/>
            <a:ext cx="6596509" cy="3321050"/>
          </a:xfrm>
          <a:prstGeom prst="roundRect">
            <a:avLst>
              <a:gd name="adj" fmla="val 2509"/>
            </a:avLst>
          </a:prstGeom>
          <a:noFill/>
          <a:ln w="7620">
            <a:solidFill>
              <a:srgbClr val="000000">
                <a:alpha val="8000"/>
              </a:srgbClr>
            </a:solidFill>
            <a:prstDash val="solid"/>
          </a:ln>
        </p:spPr>
      </p:sp>
      <p:sp>
        <p:nvSpPr>
          <p:cNvPr id="6" name="Shape 4"/>
          <p:cNvSpPr/>
          <p:nvPr/>
        </p:nvSpPr>
        <p:spPr>
          <a:xfrm>
            <a:off x="1278508" y="2249289"/>
            <a:ext cx="6586984" cy="827088"/>
          </a:xfrm>
          <a:prstGeom prst="rect">
            <a:avLst/>
          </a:prstGeom>
          <a:solidFill>
            <a:srgbClr val="FFFFFF">
              <a:alpha val="4000"/>
            </a:srgbClr>
          </a:solidFill>
          <a:ln/>
        </p:spPr>
      </p:sp>
      <p:sp>
        <p:nvSpPr>
          <p:cNvPr id="7" name="Text 5"/>
          <p:cNvSpPr/>
          <p:nvPr/>
        </p:nvSpPr>
        <p:spPr>
          <a:xfrm>
            <a:off x="1417364" y="2366665"/>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Continuous Improvement</a:t>
            </a:r>
            <a:endParaRPr lang="en-US" sz="1200" dirty="0"/>
          </a:p>
        </p:txBody>
      </p:sp>
      <p:sp>
        <p:nvSpPr>
          <p:cNvPr id="8" name="Text 6"/>
          <p:cNvSpPr/>
          <p:nvPr/>
        </p:nvSpPr>
        <p:spPr>
          <a:xfrm>
            <a:off x="4713238" y="2366665"/>
            <a:ext cx="3013398"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Leverage insights to refine and enhance service quality continuously.</a:t>
            </a:r>
            <a:endParaRPr lang="en-US" sz="1200" dirty="0"/>
          </a:p>
        </p:txBody>
      </p:sp>
      <p:sp>
        <p:nvSpPr>
          <p:cNvPr id="9" name="Shape 7"/>
          <p:cNvSpPr/>
          <p:nvPr/>
        </p:nvSpPr>
        <p:spPr>
          <a:xfrm>
            <a:off x="1278508" y="3076377"/>
            <a:ext cx="6586984" cy="827088"/>
          </a:xfrm>
          <a:prstGeom prst="rect">
            <a:avLst/>
          </a:prstGeom>
          <a:solidFill>
            <a:srgbClr val="000000">
              <a:alpha val="4000"/>
            </a:srgbClr>
          </a:solidFill>
          <a:ln/>
        </p:spPr>
      </p:sp>
      <p:sp>
        <p:nvSpPr>
          <p:cNvPr id="10" name="Text 8"/>
          <p:cNvSpPr/>
          <p:nvPr/>
        </p:nvSpPr>
        <p:spPr>
          <a:xfrm>
            <a:off x="1417364" y="3193753"/>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Personalization</a:t>
            </a:r>
            <a:endParaRPr lang="en-US" sz="1200" dirty="0"/>
          </a:p>
        </p:txBody>
      </p:sp>
      <p:sp>
        <p:nvSpPr>
          <p:cNvPr id="11" name="Text 9"/>
          <p:cNvSpPr/>
          <p:nvPr/>
        </p:nvSpPr>
        <p:spPr>
          <a:xfrm>
            <a:off x="4713238" y="3193753"/>
            <a:ext cx="3013398"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Tailor offerings based on passenger segments and preferences.</a:t>
            </a:r>
            <a:endParaRPr lang="en-US" sz="1200" dirty="0"/>
          </a:p>
        </p:txBody>
      </p:sp>
      <p:sp>
        <p:nvSpPr>
          <p:cNvPr id="12" name="Shape 10"/>
          <p:cNvSpPr/>
          <p:nvPr/>
        </p:nvSpPr>
        <p:spPr>
          <a:xfrm>
            <a:off x="1278508" y="3903464"/>
            <a:ext cx="6586984" cy="827088"/>
          </a:xfrm>
          <a:prstGeom prst="rect">
            <a:avLst/>
          </a:prstGeom>
          <a:solidFill>
            <a:srgbClr val="FFFFFF">
              <a:alpha val="4000"/>
            </a:srgbClr>
          </a:solidFill>
          <a:ln/>
        </p:spPr>
      </p:sp>
      <p:sp>
        <p:nvSpPr>
          <p:cNvPr id="13" name="Text 11"/>
          <p:cNvSpPr/>
          <p:nvPr/>
        </p:nvSpPr>
        <p:spPr>
          <a:xfrm>
            <a:off x="1417364" y="4020840"/>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Innovation</a:t>
            </a:r>
            <a:endParaRPr lang="en-US" sz="1200" dirty="0"/>
          </a:p>
        </p:txBody>
      </p:sp>
      <p:sp>
        <p:nvSpPr>
          <p:cNvPr id="14" name="Text 12"/>
          <p:cNvSpPr/>
          <p:nvPr/>
        </p:nvSpPr>
        <p:spPr>
          <a:xfrm>
            <a:off x="4713238" y="4020840"/>
            <a:ext cx="3013398"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Explore new technologies and strategies to stay ahead of the competition.</a:t>
            </a:r>
            <a:endParaRPr lang="en-US" sz="1200" dirty="0"/>
          </a:p>
        </p:txBody>
      </p:sp>
      <p:sp>
        <p:nvSpPr>
          <p:cNvPr id="15" name="Shape 13"/>
          <p:cNvSpPr/>
          <p:nvPr/>
        </p:nvSpPr>
        <p:spPr>
          <a:xfrm>
            <a:off x="1278508" y="4730552"/>
            <a:ext cx="6586984" cy="827088"/>
          </a:xfrm>
          <a:prstGeom prst="rect">
            <a:avLst/>
          </a:prstGeom>
          <a:solidFill>
            <a:srgbClr val="000000">
              <a:alpha val="4000"/>
            </a:srgbClr>
          </a:solidFill>
          <a:ln/>
        </p:spPr>
      </p:sp>
      <p:sp>
        <p:nvSpPr>
          <p:cNvPr id="16" name="Text 14"/>
          <p:cNvSpPr/>
          <p:nvPr/>
        </p:nvSpPr>
        <p:spPr>
          <a:xfrm>
            <a:off x="1417364" y="4847928"/>
            <a:ext cx="3013398"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Sustainability</a:t>
            </a:r>
            <a:endParaRPr lang="en-US" sz="1200" dirty="0"/>
          </a:p>
        </p:txBody>
      </p:sp>
      <p:sp>
        <p:nvSpPr>
          <p:cNvPr id="17" name="Text 15"/>
          <p:cNvSpPr/>
          <p:nvPr/>
        </p:nvSpPr>
        <p:spPr>
          <a:xfrm>
            <a:off x="4713238" y="4847928"/>
            <a:ext cx="3013398"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Prioritize eco-friendly practices to meet evolving passenger expectations.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9144000" cy="2314575"/>
          </a:xfrm>
          <a:prstGeom prst="rect">
            <a:avLst/>
          </a:prstGeom>
        </p:spPr>
      </p:pic>
      <p:sp>
        <p:nvSpPr>
          <p:cNvPr id="5" name="Text 2"/>
          <p:cNvSpPr/>
          <p:nvPr/>
        </p:nvSpPr>
        <p:spPr>
          <a:xfrm>
            <a:off x="1273745" y="3713857"/>
            <a:ext cx="3471863" cy="578644"/>
          </a:xfrm>
          <a:prstGeom prst="rect">
            <a:avLst/>
          </a:prstGeom>
          <a:noFill/>
          <a:ln/>
        </p:spPr>
        <p:txBody>
          <a:bodyPr wrap="none" lIns="64008" tIns="32004" rIns="64008" bIns="32004" rtlCol="0" anchor="t"/>
          <a:lstStyle/>
          <a:p>
            <a:pPr defTabSz="640080">
              <a:lnSpc>
                <a:spcPts val="3828"/>
              </a:lnSpc>
              <a:defRPr/>
            </a:pPr>
            <a:r>
              <a:rPr lang="en-US" sz="3100" b="1" dirty="0">
                <a:solidFill>
                  <a:srgbClr val="233939"/>
                </a:solidFill>
                <a:latin typeface="Syne" pitchFamily="34" charset="0"/>
                <a:ea typeface="Syne" pitchFamily="34" charset="-122"/>
                <a:cs typeface="Syne" pitchFamily="34" charset="-120"/>
              </a:rPr>
              <a:t>Conclusion</a:t>
            </a:r>
            <a:endParaRPr lang="en-US" sz="3100" dirty="0">
              <a:solidFill>
                <a:prstClr val="black"/>
              </a:solidFill>
              <a:latin typeface="Calibri" panose="020F0502020204030204"/>
            </a:endParaRPr>
          </a:p>
        </p:txBody>
      </p:sp>
      <p:sp>
        <p:nvSpPr>
          <p:cNvPr id="6" name="Text 3"/>
          <p:cNvSpPr/>
          <p:nvPr/>
        </p:nvSpPr>
        <p:spPr>
          <a:xfrm>
            <a:off x="1273746" y="4570215"/>
            <a:ext cx="6596509" cy="888504"/>
          </a:xfrm>
          <a:prstGeom prst="rect">
            <a:avLst/>
          </a:prstGeom>
          <a:noFill/>
          <a:ln/>
        </p:spPr>
        <p:txBody>
          <a:bodyPr wrap="square" lIns="64008" tIns="32004" rIns="64008" bIns="32004" rtlCol="0" anchor="t"/>
          <a:lstStyle/>
          <a:p>
            <a:pPr defTabSz="640080">
              <a:lnSpc>
                <a:spcPts val="1959"/>
              </a:lnSpc>
              <a:defRPr/>
            </a:pPr>
            <a:r>
              <a:rPr lang="en-US" sz="1200" dirty="0">
                <a:solidFill>
                  <a:srgbClr val="3B4E4E"/>
                </a:solidFill>
                <a:latin typeface="Overpass" pitchFamily="34" charset="0"/>
                <a:ea typeface="Overpass" pitchFamily="34" charset="-122"/>
                <a:cs typeface="Overpass" pitchFamily="34" charset="-120"/>
              </a:rPr>
              <a:t>The decision tree analysis provided valuable insights into the factors influencing passenger loyalty in the Indian domestic aviation sector. The findings can guide airlines in tailoring their strategies to enhance customer satisfaction and retention, ultimately driving growth and profitability.</a:t>
            </a:r>
            <a:endParaRPr lang="en-US" sz="1200" dirty="0">
              <a:solidFill>
                <a:prstClr val="black"/>
              </a:solidFill>
              <a:latin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3429000" cy="6858000"/>
          </a:xfrm>
          <a:prstGeom prst="rect">
            <a:avLst/>
          </a:prstGeom>
        </p:spPr>
      </p:pic>
      <p:sp>
        <p:nvSpPr>
          <p:cNvPr id="5" name="Text 2"/>
          <p:cNvSpPr/>
          <p:nvPr/>
        </p:nvSpPr>
        <p:spPr>
          <a:xfrm>
            <a:off x="3826149" y="1337569"/>
            <a:ext cx="4920704" cy="2436019"/>
          </a:xfrm>
          <a:prstGeom prst="rect">
            <a:avLst/>
          </a:prstGeom>
          <a:noFill/>
          <a:ln/>
        </p:spPr>
        <p:txBody>
          <a:bodyPr wrap="square" lIns="64008" tIns="32004" rIns="64008" bIns="32004" rtlCol="0" anchor="t"/>
          <a:lstStyle/>
          <a:p>
            <a:pPr>
              <a:lnSpc>
                <a:spcPts val="4028"/>
              </a:lnSpc>
            </a:pPr>
            <a:r>
              <a:rPr lang="en-US" sz="3200" b="1" dirty="0">
                <a:solidFill>
                  <a:srgbClr val="233939"/>
                </a:solidFill>
                <a:latin typeface="Syne" pitchFamily="34" charset="0"/>
                <a:ea typeface="Syne" pitchFamily="34" charset="-122"/>
                <a:cs typeface="Syne" pitchFamily="34" charset="-120"/>
              </a:rPr>
              <a:t>Logistic Regression: Analyzing Passenger Behavior in Indian Airlines</a:t>
            </a:r>
            <a:endParaRPr lang="en-US" sz="3200" dirty="0"/>
          </a:p>
        </p:txBody>
      </p:sp>
      <p:sp>
        <p:nvSpPr>
          <p:cNvPr id="6" name="Text 3"/>
          <p:cNvSpPr/>
          <p:nvPr/>
        </p:nvSpPr>
        <p:spPr>
          <a:xfrm>
            <a:off x="3826149" y="3985420"/>
            <a:ext cx="4920704" cy="1129109"/>
          </a:xfrm>
          <a:prstGeom prst="rect">
            <a:avLst/>
          </a:prstGeom>
          <a:noFill/>
          <a:ln/>
        </p:spPr>
        <p:txBody>
          <a:bodyPr wrap="square" lIns="64008" tIns="32004" rIns="64008" bIns="32004" rtlCol="0" anchor="t"/>
          <a:lstStyle/>
          <a:p>
            <a:pPr>
              <a:lnSpc>
                <a:spcPts val="1495"/>
              </a:lnSpc>
            </a:pPr>
            <a:r>
              <a:rPr lang="en-US" sz="1600" dirty="0">
                <a:solidFill>
                  <a:srgbClr val="3B4E4E"/>
                </a:solidFill>
                <a:latin typeface="Overpass" pitchFamily="34" charset="0"/>
                <a:ea typeface="Syne"/>
                <a:cs typeface="Overpass" pitchFamily="34" charset="-120"/>
              </a:rPr>
              <a:t>In the dynamic and competitive landscape of the airline industry, understanding passenger behavior and the factors influencing their decision to travel again is crucial for airlines striving to maintain a loyal customer base and sustainable profitability. This chapter presents an in-depth analysis of passenger experience in Indian airlines using binary logistic regression, investigating the probability of passengers choosing to travel again and the effects of socio-economic and demographic factors on this probability.</a:t>
            </a:r>
            <a:endParaRPr lang="en-US" sz="1600" dirty="0">
              <a:ea typeface="Syne"/>
            </a:endParaRPr>
          </a:p>
        </p:txBody>
      </p:sp>
      <p:sp>
        <p:nvSpPr>
          <p:cNvPr id="7" name="Shape 4"/>
          <p:cNvSpPr/>
          <p:nvPr/>
        </p:nvSpPr>
        <p:spPr>
          <a:xfrm>
            <a:off x="3826148" y="5283895"/>
            <a:ext cx="169441" cy="225921"/>
          </a:xfrm>
          <a:prstGeom prst="roundRect">
            <a:avLst>
              <a:gd name="adj" fmla="val 33725256"/>
            </a:avLst>
          </a:prstGeom>
          <a:noFill/>
          <a:ln w="7620">
            <a:solidFill>
              <a:srgbClr val="FFFFFF"/>
            </a:solidFill>
            <a:prstDash val="solid"/>
          </a:ln>
        </p:spPr>
      </p:sp>
      <p:sp>
        <p:nvSpPr>
          <p:cNvPr id="9" name="Text 5"/>
          <p:cNvSpPr/>
          <p:nvPr/>
        </p:nvSpPr>
        <p:spPr>
          <a:xfrm>
            <a:off x="4048497" y="5273378"/>
            <a:ext cx="939775" cy="247055"/>
          </a:xfrm>
          <a:prstGeom prst="rect">
            <a:avLst/>
          </a:prstGeom>
          <a:noFill/>
          <a:ln/>
        </p:spPr>
        <p:txBody>
          <a:bodyPr wrap="none" lIns="64008" tIns="32004" rIns="64008" bIns="32004" rtlCol="0" anchor="t"/>
          <a:lstStyle/>
          <a:p>
            <a:pPr>
              <a:lnSpc>
                <a:spcPts val="1635"/>
              </a:lnSpc>
            </a:pP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76356"/>
          </a:xfrm>
          <a:prstGeom prst="rect">
            <a:avLst/>
          </a:prstGeom>
          <a:solidFill>
            <a:srgbClr val="FFFDE6"/>
          </a:solidFill>
          <a:ln/>
        </p:spPr>
        <p:txBody>
          <a:bodyPr lIns="64008" tIns="32004" rIns="64008" bIns="32004"/>
          <a:lstStyle/>
          <a:p>
            <a:endParaRPr lang="en-IN" dirty="0"/>
          </a:p>
        </p:txBody>
      </p:sp>
      <p:sp>
        <p:nvSpPr>
          <p:cNvPr id="4" name="Text 2"/>
          <p:cNvSpPr/>
          <p:nvPr/>
        </p:nvSpPr>
        <p:spPr>
          <a:xfrm>
            <a:off x="295836" y="356395"/>
            <a:ext cx="8485094" cy="405011"/>
          </a:xfrm>
          <a:prstGeom prst="rect">
            <a:avLst/>
          </a:prstGeom>
          <a:noFill/>
          <a:ln/>
        </p:spPr>
        <p:txBody>
          <a:bodyPr wrap="none" lIns="64008" tIns="32004" rIns="64008" bIns="32004" rtlCol="0" anchor="t"/>
          <a:lstStyle/>
          <a:p>
            <a:pPr algn="ctr">
              <a:lnSpc>
                <a:spcPts val="2679"/>
              </a:lnSpc>
            </a:pPr>
            <a:r>
              <a:rPr lang="en-US" sz="2500" b="1" dirty="0">
                <a:solidFill>
                  <a:srgbClr val="233939"/>
                </a:solidFill>
                <a:latin typeface="Syne" pitchFamily="34" charset="0"/>
                <a:ea typeface="Syne" pitchFamily="34" charset="-122"/>
                <a:cs typeface="Syne" pitchFamily="34" charset="-120"/>
              </a:rPr>
              <a:t>Introduction to Logistic Regression</a:t>
            </a:r>
            <a:endParaRPr lang="en-US" sz="2500" dirty="0"/>
          </a:p>
        </p:txBody>
      </p:sp>
      <p:sp>
        <p:nvSpPr>
          <p:cNvPr id="5" name="Text 3"/>
          <p:cNvSpPr/>
          <p:nvPr/>
        </p:nvSpPr>
        <p:spPr>
          <a:xfrm>
            <a:off x="389965" y="1020564"/>
            <a:ext cx="8371543" cy="1243608"/>
          </a:xfrm>
          <a:prstGeom prst="rect">
            <a:avLst/>
          </a:prstGeom>
          <a:noFill/>
          <a:ln/>
        </p:spPr>
        <p:txBody>
          <a:bodyPr wrap="square" lIns="64008" tIns="32004" rIns="64008" bIns="32004" rtlCol="0" anchor="t"/>
          <a:lstStyle/>
          <a:p>
            <a:pPr>
              <a:lnSpc>
                <a:spcPts val="1372"/>
              </a:lnSpc>
            </a:pPr>
            <a:r>
              <a:rPr lang="en-US" sz="1600" dirty="0">
                <a:solidFill>
                  <a:srgbClr val="3B4E4E"/>
                </a:solidFill>
                <a:latin typeface="Overpass"/>
                <a:ea typeface="Overpass"/>
                <a:cs typeface="Overpass" pitchFamily="34" charset="-120"/>
              </a:rPr>
              <a:t>Logistic regression is a statistical analysis technique used to model the relationship between a binary dependent variable and one or more independent variables. The purpose of logistic regression is to estimate the probability of occurrence of the dependent variable given a set of independent variables. In this study, binary logistic regression was used to identify which variables have a significant effect on the binary dependent variable, "Would you like to travel again with this Airline?", and thereby identify the risk factors influencing passenger choice.</a:t>
            </a:r>
            <a:endParaRPr lang="en-US" sz="1600" dirty="0">
              <a:latin typeface="Overpass"/>
              <a:ea typeface="Overpass"/>
            </a:endParaRPr>
          </a:p>
        </p:txBody>
      </p:sp>
      <p:sp>
        <p:nvSpPr>
          <p:cNvPr id="6" name="Shape 4"/>
          <p:cNvSpPr/>
          <p:nvPr/>
        </p:nvSpPr>
        <p:spPr>
          <a:xfrm>
            <a:off x="4562327" y="2409924"/>
            <a:ext cx="19422" cy="4110038"/>
          </a:xfrm>
          <a:prstGeom prst="roundRect">
            <a:avLst>
              <a:gd name="adj" fmla="val 225238"/>
            </a:avLst>
          </a:prstGeom>
          <a:solidFill>
            <a:srgbClr val="C3D4CC"/>
          </a:solidFill>
          <a:ln/>
        </p:spPr>
      </p:sp>
      <p:sp>
        <p:nvSpPr>
          <p:cNvPr id="7" name="Shape 5"/>
          <p:cNvSpPr/>
          <p:nvPr/>
        </p:nvSpPr>
        <p:spPr>
          <a:xfrm>
            <a:off x="4122428" y="2643932"/>
            <a:ext cx="340221" cy="25896"/>
          </a:xfrm>
          <a:prstGeom prst="roundRect">
            <a:avLst>
              <a:gd name="adj" fmla="val 225238"/>
            </a:avLst>
          </a:prstGeom>
          <a:solidFill>
            <a:srgbClr val="C3D4CC"/>
          </a:solidFill>
          <a:ln/>
        </p:spPr>
      </p:sp>
      <p:sp>
        <p:nvSpPr>
          <p:cNvPr id="8" name="Shape 6"/>
          <p:cNvSpPr/>
          <p:nvPr/>
        </p:nvSpPr>
        <p:spPr>
          <a:xfrm>
            <a:off x="4462649" y="2511128"/>
            <a:ext cx="218703" cy="291604"/>
          </a:xfrm>
          <a:prstGeom prst="roundRect">
            <a:avLst>
              <a:gd name="adj" fmla="val 20002"/>
            </a:avLst>
          </a:prstGeom>
          <a:solidFill>
            <a:srgbClr val="DDEEE6"/>
          </a:solidFill>
          <a:ln w="7620">
            <a:solidFill>
              <a:srgbClr val="C3D4CC"/>
            </a:solidFill>
            <a:prstDash val="solid"/>
          </a:ln>
        </p:spPr>
      </p:sp>
      <p:sp>
        <p:nvSpPr>
          <p:cNvPr id="9" name="Text 7"/>
          <p:cNvSpPr/>
          <p:nvPr/>
        </p:nvSpPr>
        <p:spPr>
          <a:xfrm>
            <a:off x="4543537" y="2535337"/>
            <a:ext cx="56927" cy="243086"/>
          </a:xfrm>
          <a:prstGeom prst="rect">
            <a:avLst/>
          </a:prstGeom>
          <a:noFill/>
          <a:ln/>
        </p:spPr>
        <p:txBody>
          <a:bodyPr wrap="none" lIns="64008" tIns="32004" rIns="64008" bIns="32004" rtlCol="0" anchor="t"/>
          <a:lstStyle/>
          <a:p>
            <a:pPr algn="ctr">
              <a:lnSpc>
                <a:spcPts val="1607"/>
              </a:lnSpc>
            </a:pPr>
            <a:r>
              <a:rPr lang="en-US" sz="1300" b="1" dirty="0">
                <a:solidFill>
                  <a:srgbClr val="3B4E4E"/>
                </a:solidFill>
                <a:latin typeface="Syne" pitchFamily="34" charset="0"/>
                <a:ea typeface="Syne" pitchFamily="34" charset="-122"/>
                <a:cs typeface="Syne" pitchFamily="34" charset="-120"/>
              </a:rPr>
              <a:t>1</a:t>
            </a:r>
            <a:endParaRPr lang="en-US" sz="1300" dirty="0"/>
          </a:p>
        </p:txBody>
      </p:sp>
      <p:sp>
        <p:nvSpPr>
          <p:cNvPr id="10" name="Text 8"/>
          <p:cNvSpPr/>
          <p:nvPr/>
        </p:nvSpPr>
        <p:spPr>
          <a:xfrm>
            <a:off x="2822227" y="2539505"/>
            <a:ext cx="1215108" cy="202506"/>
          </a:xfrm>
          <a:prstGeom prst="rect">
            <a:avLst/>
          </a:prstGeom>
          <a:noFill/>
          <a:ln/>
        </p:spPr>
        <p:txBody>
          <a:bodyPr wrap="none" lIns="64008" tIns="32004" rIns="64008" bIns="32004" rtlCol="0" anchor="t"/>
          <a:lstStyle/>
          <a:p>
            <a:pPr algn="r">
              <a:lnSpc>
                <a:spcPts val="1340"/>
              </a:lnSpc>
            </a:pPr>
            <a:r>
              <a:rPr lang="en-US" sz="2000" b="1" dirty="0">
                <a:solidFill>
                  <a:srgbClr val="3B4E4E"/>
                </a:solidFill>
                <a:latin typeface="Syne" pitchFamily="34" charset="0"/>
                <a:ea typeface="Syne" pitchFamily="34" charset="-122"/>
                <a:cs typeface="Syne" pitchFamily="34" charset="-120"/>
              </a:rPr>
              <a:t>Logit</a:t>
            </a:r>
            <a:endParaRPr lang="en-US" sz="2000" dirty="0"/>
          </a:p>
        </p:txBody>
      </p:sp>
      <p:sp>
        <p:nvSpPr>
          <p:cNvPr id="11" name="Text 9"/>
          <p:cNvSpPr/>
          <p:nvPr/>
        </p:nvSpPr>
        <p:spPr>
          <a:xfrm>
            <a:off x="1546412" y="2819698"/>
            <a:ext cx="2490924" cy="1985385"/>
          </a:xfrm>
          <a:prstGeom prst="rect">
            <a:avLst/>
          </a:prstGeom>
          <a:noFill/>
          <a:ln/>
        </p:spPr>
        <p:txBody>
          <a:bodyPr wrap="square" lIns="64008" tIns="32004" rIns="64008" bIns="32004" rtlCol="0" anchor="t"/>
          <a:lstStyle/>
          <a:p>
            <a:pPr algn="r">
              <a:lnSpc>
                <a:spcPts val="1372"/>
              </a:lnSpc>
            </a:pPr>
            <a:r>
              <a:rPr lang="en-US" sz="1200" dirty="0">
                <a:latin typeface="Overpass" pitchFamily="34" charset="0"/>
                <a:ea typeface="Overpass" pitchFamily="34" charset="-122"/>
                <a:cs typeface="Overpass" pitchFamily="34" charset="-120"/>
              </a:rPr>
              <a:t>The formula for the regression model is expressed in terms of the logit, which is the natural logarithm of the odds of the outcome occurring. The coefficients in logistic regression represent the change in the log odds of the outcome for a one-unit change in the corresponding independent variable, holding all other variables constant.</a:t>
            </a:r>
            <a:endParaRPr lang="en-US" sz="1200" dirty="0"/>
          </a:p>
        </p:txBody>
      </p:sp>
      <p:sp>
        <p:nvSpPr>
          <p:cNvPr id="12" name="Shape 10"/>
          <p:cNvSpPr/>
          <p:nvPr/>
        </p:nvSpPr>
        <p:spPr>
          <a:xfrm>
            <a:off x="4681351" y="3291930"/>
            <a:ext cx="340221" cy="25896"/>
          </a:xfrm>
          <a:prstGeom prst="roundRect">
            <a:avLst>
              <a:gd name="adj" fmla="val 225238"/>
            </a:avLst>
          </a:prstGeom>
          <a:solidFill>
            <a:srgbClr val="C3D4CC"/>
          </a:solidFill>
          <a:ln/>
        </p:spPr>
      </p:sp>
      <p:sp>
        <p:nvSpPr>
          <p:cNvPr id="13" name="Shape 11"/>
          <p:cNvSpPr/>
          <p:nvPr/>
        </p:nvSpPr>
        <p:spPr>
          <a:xfrm>
            <a:off x="4462649" y="3159126"/>
            <a:ext cx="218703" cy="291604"/>
          </a:xfrm>
          <a:prstGeom prst="roundRect">
            <a:avLst>
              <a:gd name="adj" fmla="val 20002"/>
            </a:avLst>
          </a:prstGeom>
          <a:solidFill>
            <a:srgbClr val="DDEEE6"/>
          </a:solidFill>
          <a:ln w="7620">
            <a:solidFill>
              <a:srgbClr val="C3D4CC"/>
            </a:solidFill>
            <a:prstDash val="solid"/>
          </a:ln>
        </p:spPr>
      </p:sp>
      <p:sp>
        <p:nvSpPr>
          <p:cNvPr id="14" name="Text 12"/>
          <p:cNvSpPr/>
          <p:nvPr/>
        </p:nvSpPr>
        <p:spPr>
          <a:xfrm>
            <a:off x="4526496" y="3183335"/>
            <a:ext cx="91008" cy="243086"/>
          </a:xfrm>
          <a:prstGeom prst="rect">
            <a:avLst/>
          </a:prstGeom>
          <a:noFill/>
          <a:ln/>
        </p:spPr>
        <p:txBody>
          <a:bodyPr wrap="none" lIns="64008" tIns="32004" rIns="64008" bIns="32004" rtlCol="0" anchor="t"/>
          <a:lstStyle/>
          <a:p>
            <a:pPr algn="ctr">
              <a:lnSpc>
                <a:spcPts val="1607"/>
              </a:lnSpc>
            </a:pPr>
            <a:r>
              <a:rPr lang="en-US" sz="1300" b="1" dirty="0">
                <a:solidFill>
                  <a:srgbClr val="3B4E4E"/>
                </a:solidFill>
                <a:latin typeface="Syne" pitchFamily="34" charset="0"/>
                <a:ea typeface="Syne" pitchFamily="34" charset="-122"/>
                <a:cs typeface="Syne" pitchFamily="34" charset="-120"/>
              </a:rPr>
              <a:t>2</a:t>
            </a:r>
            <a:endParaRPr lang="en-US" sz="1300" dirty="0"/>
          </a:p>
        </p:txBody>
      </p:sp>
      <p:sp>
        <p:nvSpPr>
          <p:cNvPr id="15" name="Text 13"/>
          <p:cNvSpPr/>
          <p:nvPr/>
        </p:nvSpPr>
        <p:spPr>
          <a:xfrm>
            <a:off x="5106665" y="3187502"/>
            <a:ext cx="1215108" cy="202506"/>
          </a:xfrm>
          <a:prstGeom prst="rect">
            <a:avLst/>
          </a:prstGeom>
          <a:noFill/>
          <a:ln/>
        </p:spPr>
        <p:txBody>
          <a:bodyPr wrap="none" lIns="64008" tIns="32004" rIns="64008" bIns="32004" rtlCol="0" anchor="t"/>
          <a:lstStyle/>
          <a:p>
            <a:pPr>
              <a:lnSpc>
                <a:spcPts val="1340"/>
              </a:lnSpc>
            </a:pPr>
            <a:r>
              <a:rPr lang="en-US" sz="2000" b="1" dirty="0">
                <a:solidFill>
                  <a:srgbClr val="3B4E4E"/>
                </a:solidFill>
                <a:latin typeface="Syne" pitchFamily="34" charset="0"/>
                <a:ea typeface="Syne" pitchFamily="34" charset="-122"/>
                <a:cs typeface="Syne" pitchFamily="34" charset="-120"/>
              </a:rPr>
              <a:t>Odds Ratio</a:t>
            </a:r>
            <a:endParaRPr lang="en-US" sz="2000" dirty="0"/>
          </a:p>
        </p:txBody>
      </p:sp>
      <p:sp>
        <p:nvSpPr>
          <p:cNvPr id="16" name="Text 14"/>
          <p:cNvSpPr/>
          <p:nvPr/>
        </p:nvSpPr>
        <p:spPr>
          <a:xfrm>
            <a:off x="5106665" y="3467695"/>
            <a:ext cx="2343006" cy="1243608"/>
          </a:xfrm>
          <a:prstGeom prst="rect">
            <a:avLst/>
          </a:prstGeom>
          <a:noFill/>
          <a:ln/>
        </p:spPr>
        <p:txBody>
          <a:bodyPr wrap="square" lIns="64008" tIns="32004" rIns="64008" bIns="32004" rtlCol="0" anchor="t"/>
          <a:lstStyle/>
          <a:p>
            <a:pPr>
              <a:lnSpc>
                <a:spcPts val="1372"/>
              </a:lnSpc>
            </a:pPr>
            <a:r>
              <a:rPr lang="en-US" sz="1400" dirty="0">
                <a:latin typeface="Overpass" pitchFamily="34" charset="0"/>
                <a:ea typeface="Overpass" pitchFamily="34" charset="-122"/>
                <a:cs typeface="Overpass" pitchFamily="34" charset="-120"/>
              </a:rPr>
              <a:t>An odds ratio greater than 1 means the independent variable increases the odds of the event occurring, while an odds ratio less than 1 means the independent variable decreases the odds of the event occurring.</a:t>
            </a:r>
            <a:endParaRPr lang="en-US" sz="1400" dirty="0"/>
          </a:p>
        </p:txBody>
      </p:sp>
      <p:sp>
        <p:nvSpPr>
          <p:cNvPr id="17" name="Shape 15"/>
          <p:cNvSpPr/>
          <p:nvPr/>
        </p:nvSpPr>
        <p:spPr>
          <a:xfrm>
            <a:off x="4122428" y="5178276"/>
            <a:ext cx="340221" cy="25896"/>
          </a:xfrm>
          <a:prstGeom prst="roundRect">
            <a:avLst>
              <a:gd name="adj" fmla="val 225238"/>
            </a:avLst>
          </a:prstGeom>
          <a:solidFill>
            <a:srgbClr val="C3D4CC"/>
          </a:solidFill>
          <a:ln/>
        </p:spPr>
      </p:sp>
      <p:sp>
        <p:nvSpPr>
          <p:cNvPr id="18" name="Shape 16"/>
          <p:cNvSpPr/>
          <p:nvPr/>
        </p:nvSpPr>
        <p:spPr>
          <a:xfrm>
            <a:off x="4462649" y="5045472"/>
            <a:ext cx="218703" cy="291604"/>
          </a:xfrm>
          <a:prstGeom prst="roundRect">
            <a:avLst>
              <a:gd name="adj" fmla="val 20002"/>
            </a:avLst>
          </a:prstGeom>
          <a:solidFill>
            <a:srgbClr val="DDEEE6"/>
          </a:solidFill>
          <a:ln w="7620">
            <a:solidFill>
              <a:srgbClr val="C3D4CC"/>
            </a:solidFill>
            <a:prstDash val="solid"/>
          </a:ln>
        </p:spPr>
      </p:sp>
      <p:sp>
        <p:nvSpPr>
          <p:cNvPr id="19" name="Text 17"/>
          <p:cNvSpPr/>
          <p:nvPr/>
        </p:nvSpPr>
        <p:spPr>
          <a:xfrm>
            <a:off x="4525231" y="5069682"/>
            <a:ext cx="93464" cy="243086"/>
          </a:xfrm>
          <a:prstGeom prst="rect">
            <a:avLst/>
          </a:prstGeom>
          <a:noFill/>
          <a:ln/>
        </p:spPr>
        <p:txBody>
          <a:bodyPr wrap="none" lIns="64008" tIns="32004" rIns="64008" bIns="32004" rtlCol="0" anchor="t"/>
          <a:lstStyle/>
          <a:p>
            <a:pPr algn="ctr">
              <a:lnSpc>
                <a:spcPts val="1607"/>
              </a:lnSpc>
            </a:pPr>
            <a:r>
              <a:rPr lang="en-US" sz="1300" b="1" dirty="0">
                <a:solidFill>
                  <a:srgbClr val="3B4E4E"/>
                </a:solidFill>
                <a:latin typeface="Syne" pitchFamily="34" charset="0"/>
                <a:ea typeface="Syne" pitchFamily="34" charset="-122"/>
                <a:cs typeface="Syne" pitchFamily="34" charset="-120"/>
              </a:rPr>
              <a:t>3</a:t>
            </a:r>
            <a:endParaRPr lang="en-US" sz="1300" dirty="0"/>
          </a:p>
        </p:txBody>
      </p:sp>
      <p:sp>
        <p:nvSpPr>
          <p:cNvPr id="20" name="Text 18"/>
          <p:cNvSpPr/>
          <p:nvPr/>
        </p:nvSpPr>
        <p:spPr>
          <a:xfrm>
            <a:off x="2822227" y="5073849"/>
            <a:ext cx="1215108" cy="202506"/>
          </a:xfrm>
          <a:prstGeom prst="rect">
            <a:avLst/>
          </a:prstGeom>
          <a:noFill/>
          <a:ln/>
        </p:spPr>
        <p:txBody>
          <a:bodyPr wrap="none" lIns="64008" tIns="32004" rIns="64008" bIns="32004" rtlCol="0" anchor="t"/>
          <a:lstStyle/>
          <a:p>
            <a:pPr algn="r">
              <a:lnSpc>
                <a:spcPts val="1340"/>
              </a:lnSpc>
            </a:pPr>
            <a:r>
              <a:rPr lang="en-US" sz="2000" b="1" dirty="0">
                <a:solidFill>
                  <a:srgbClr val="3B4E4E"/>
                </a:solidFill>
                <a:latin typeface="Syne" pitchFamily="34" charset="0"/>
                <a:ea typeface="Syne" pitchFamily="34" charset="-122"/>
                <a:cs typeface="Syne" pitchFamily="34" charset="-120"/>
              </a:rPr>
              <a:t>Applications</a:t>
            </a:r>
            <a:endParaRPr lang="en-US" sz="2000" dirty="0"/>
          </a:p>
        </p:txBody>
      </p:sp>
      <p:sp>
        <p:nvSpPr>
          <p:cNvPr id="21" name="Text 19"/>
          <p:cNvSpPr/>
          <p:nvPr/>
        </p:nvSpPr>
        <p:spPr>
          <a:xfrm>
            <a:off x="1546412" y="5354042"/>
            <a:ext cx="2490923" cy="829072"/>
          </a:xfrm>
          <a:prstGeom prst="rect">
            <a:avLst/>
          </a:prstGeom>
          <a:noFill/>
          <a:ln/>
        </p:spPr>
        <p:txBody>
          <a:bodyPr wrap="square" lIns="64008" tIns="32004" rIns="64008" bIns="32004" rtlCol="0" anchor="t"/>
          <a:lstStyle/>
          <a:p>
            <a:pPr algn="r">
              <a:lnSpc>
                <a:spcPts val="1372"/>
              </a:lnSpc>
            </a:pPr>
            <a:r>
              <a:rPr lang="en-US" sz="1400" dirty="0">
                <a:solidFill>
                  <a:srgbClr val="3B4E4E"/>
                </a:solidFill>
                <a:latin typeface="Overpass" pitchFamily="34" charset="0"/>
                <a:ea typeface="Overpass" pitchFamily="34" charset="-122"/>
                <a:cs typeface="Overpass" pitchFamily="34" charset="-120"/>
              </a:rPr>
              <a:t>Logistic regression is widely used in various fields such as finance, healthcare, marketing, and more, where binary classification tasks are common.</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4" name="Text 2"/>
          <p:cNvSpPr/>
          <p:nvPr/>
        </p:nvSpPr>
        <p:spPr>
          <a:xfrm>
            <a:off x="1273746" y="333256"/>
            <a:ext cx="6440165"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Variables and Software Utilization</a:t>
            </a:r>
            <a:endParaRPr lang="en-US" sz="3100" dirty="0"/>
          </a:p>
        </p:txBody>
      </p:sp>
      <p:sp>
        <p:nvSpPr>
          <p:cNvPr id="5" name="Text 3"/>
          <p:cNvSpPr/>
          <p:nvPr/>
        </p:nvSpPr>
        <p:spPr>
          <a:xfrm>
            <a:off x="299197" y="1245156"/>
            <a:ext cx="8545606" cy="1480840"/>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In this study, the dependent variable was "Likeness to travel again," while the following independent variables were included. and Purchase Ticket From. These variables were selected based on their relevance to the objectives of the study and their potential to influence a passenger's choice to travel again.</a:t>
            </a:r>
            <a:endParaRPr lang="en-US" sz="1200" dirty="0"/>
          </a:p>
        </p:txBody>
      </p:sp>
      <p:sp>
        <p:nvSpPr>
          <p:cNvPr id="6" name="Text 4"/>
          <p:cNvSpPr/>
          <p:nvPr/>
        </p:nvSpPr>
        <p:spPr>
          <a:xfrm>
            <a:off x="299197" y="2565616"/>
            <a:ext cx="6596509" cy="296168"/>
          </a:xfrm>
          <a:prstGeom prst="rect">
            <a:avLst/>
          </a:prstGeom>
          <a:noFill/>
          <a:ln/>
        </p:spPr>
        <p:txBody>
          <a:bodyPr wrap="none" lIns="64008" tIns="32004" rIns="64008" bIns="32004" rtlCol="0" anchor="t"/>
          <a:lstStyle/>
          <a:p>
            <a:pPr>
              <a:lnSpc>
                <a:spcPts val="1959"/>
              </a:lnSpc>
            </a:pPr>
            <a:endParaRPr lang="en-US" sz="1200" dirty="0"/>
          </a:p>
        </p:txBody>
      </p:sp>
      <p:pic>
        <p:nvPicPr>
          <p:cNvPr id="7" name="Image 0" descr="preencoded.png"/>
          <p:cNvPicPr>
            <a:picLocks noChangeAspect="1"/>
          </p:cNvPicPr>
          <p:nvPr/>
        </p:nvPicPr>
        <p:blipFill>
          <a:blip r:embed="rId3"/>
          <a:stretch>
            <a:fillRect/>
          </a:stretch>
        </p:blipFill>
        <p:spPr>
          <a:xfrm>
            <a:off x="413134" y="2405614"/>
            <a:ext cx="277713" cy="370284"/>
          </a:xfrm>
          <a:prstGeom prst="rect">
            <a:avLst/>
          </a:prstGeom>
        </p:spPr>
      </p:pic>
      <p:sp>
        <p:nvSpPr>
          <p:cNvPr id="8" name="Text 5"/>
          <p:cNvSpPr/>
          <p:nvPr/>
        </p:nvSpPr>
        <p:spPr>
          <a:xfrm>
            <a:off x="245046" y="2806407"/>
            <a:ext cx="1492895"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Gender</a:t>
            </a:r>
            <a:endParaRPr lang="en-US" sz="1500" dirty="0"/>
          </a:p>
        </p:txBody>
      </p:sp>
      <p:sp>
        <p:nvSpPr>
          <p:cNvPr id="9" name="Text 6"/>
          <p:cNvSpPr/>
          <p:nvPr/>
        </p:nvSpPr>
        <p:spPr>
          <a:xfrm>
            <a:off x="137212" y="3140869"/>
            <a:ext cx="1492895"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Male or Female</a:t>
            </a:r>
            <a:endParaRPr lang="en-US" sz="1200" dirty="0"/>
          </a:p>
        </p:txBody>
      </p:sp>
      <p:pic>
        <p:nvPicPr>
          <p:cNvPr id="10" name="Image 1" descr="preencoded.png"/>
          <p:cNvPicPr>
            <a:picLocks noChangeAspect="1"/>
          </p:cNvPicPr>
          <p:nvPr/>
        </p:nvPicPr>
        <p:blipFill>
          <a:blip r:embed="rId4"/>
          <a:stretch>
            <a:fillRect/>
          </a:stretch>
        </p:blipFill>
        <p:spPr>
          <a:xfrm>
            <a:off x="1737941" y="2373261"/>
            <a:ext cx="277713" cy="370284"/>
          </a:xfrm>
          <a:prstGeom prst="rect">
            <a:avLst/>
          </a:prstGeom>
        </p:spPr>
      </p:pic>
      <p:sp>
        <p:nvSpPr>
          <p:cNvPr id="11" name="Text 7"/>
          <p:cNvSpPr/>
          <p:nvPr/>
        </p:nvSpPr>
        <p:spPr>
          <a:xfrm>
            <a:off x="1650176" y="2799927"/>
            <a:ext cx="1492895"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Profession</a:t>
            </a:r>
            <a:endParaRPr lang="en-US" sz="1500" dirty="0"/>
          </a:p>
        </p:txBody>
      </p:sp>
      <p:sp>
        <p:nvSpPr>
          <p:cNvPr id="12" name="Text 8"/>
          <p:cNvSpPr/>
          <p:nvPr/>
        </p:nvSpPr>
        <p:spPr>
          <a:xfrm>
            <a:off x="1650176" y="3162999"/>
            <a:ext cx="1492895"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Public, Private, Government, Business, or Others</a:t>
            </a:r>
            <a:endParaRPr lang="en-US" sz="1200" dirty="0"/>
          </a:p>
        </p:txBody>
      </p:sp>
      <p:pic>
        <p:nvPicPr>
          <p:cNvPr id="13" name="Image 2" descr="preencoded.png"/>
          <p:cNvPicPr>
            <a:picLocks noChangeAspect="1"/>
          </p:cNvPicPr>
          <p:nvPr/>
        </p:nvPicPr>
        <p:blipFill>
          <a:blip r:embed="rId5"/>
          <a:stretch>
            <a:fillRect/>
          </a:stretch>
        </p:blipFill>
        <p:spPr>
          <a:xfrm>
            <a:off x="3694470" y="2405613"/>
            <a:ext cx="277713" cy="370284"/>
          </a:xfrm>
          <a:prstGeom prst="rect">
            <a:avLst/>
          </a:prstGeom>
        </p:spPr>
      </p:pic>
      <p:sp>
        <p:nvSpPr>
          <p:cNvPr id="14" name="Text 9"/>
          <p:cNvSpPr/>
          <p:nvPr/>
        </p:nvSpPr>
        <p:spPr>
          <a:xfrm>
            <a:off x="3597451" y="2799926"/>
            <a:ext cx="1492895"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Monthly Income</a:t>
            </a:r>
            <a:endParaRPr lang="en-US" sz="1500" dirty="0"/>
          </a:p>
        </p:txBody>
      </p:sp>
      <p:sp>
        <p:nvSpPr>
          <p:cNvPr id="15" name="Text 10"/>
          <p:cNvSpPr/>
          <p:nvPr/>
        </p:nvSpPr>
        <p:spPr>
          <a:xfrm>
            <a:off x="3597451" y="3165520"/>
            <a:ext cx="1492895" cy="118467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Less than Rs. 50,000, Rs. 50,000 – 1 Lakh, Rs. 1-2 Lakh, Rs. 2-3 Lakh, or More than Rs. 3 Lakh</a:t>
            </a:r>
            <a:endParaRPr lang="en-US" sz="1200" dirty="0"/>
          </a:p>
        </p:txBody>
      </p:sp>
      <p:pic>
        <p:nvPicPr>
          <p:cNvPr id="16" name="Image 3" descr="preencoded.png"/>
          <p:cNvPicPr>
            <a:picLocks noChangeAspect="1"/>
          </p:cNvPicPr>
          <p:nvPr/>
        </p:nvPicPr>
        <p:blipFill>
          <a:blip r:embed="rId6"/>
          <a:stretch>
            <a:fillRect/>
          </a:stretch>
        </p:blipFill>
        <p:spPr>
          <a:xfrm>
            <a:off x="5946980" y="2380184"/>
            <a:ext cx="277713" cy="370284"/>
          </a:xfrm>
          <a:prstGeom prst="rect">
            <a:avLst/>
          </a:prstGeom>
        </p:spPr>
      </p:pic>
      <p:sp>
        <p:nvSpPr>
          <p:cNvPr id="17" name="Text 11"/>
          <p:cNvSpPr/>
          <p:nvPr/>
        </p:nvSpPr>
        <p:spPr>
          <a:xfrm>
            <a:off x="5668506" y="2799926"/>
            <a:ext cx="1492969" cy="578644"/>
          </a:xfrm>
          <a:prstGeom prst="rect">
            <a:avLst/>
          </a:prstGeom>
          <a:noFill/>
          <a:ln/>
        </p:spPr>
        <p:txBody>
          <a:bodyPr wrap="squar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Frequency of Travel</a:t>
            </a:r>
            <a:endParaRPr lang="en-US" sz="1500" dirty="0"/>
          </a:p>
        </p:txBody>
      </p:sp>
      <p:sp>
        <p:nvSpPr>
          <p:cNvPr id="18" name="Text 12"/>
          <p:cNvSpPr/>
          <p:nvPr/>
        </p:nvSpPr>
        <p:spPr>
          <a:xfrm>
            <a:off x="5668506" y="3378571"/>
            <a:ext cx="1492969"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Very Frequently, Frequently, Occasionally, or Rarely</a:t>
            </a:r>
            <a:endParaRPr lang="en-US" sz="1200" dirty="0"/>
          </a:p>
        </p:txBody>
      </p:sp>
      <p:pic>
        <p:nvPicPr>
          <p:cNvPr id="20" name="Picture 19">
            <a:extLst>
              <a:ext uri="{FF2B5EF4-FFF2-40B4-BE49-F238E27FC236}">
                <a16:creationId xmlns:a16="http://schemas.microsoft.com/office/drawing/2014/main" xmlns="" id="{4A8430C0-3885-4F91-92F1-F09B4F4C96F1}"/>
              </a:ext>
            </a:extLst>
          </p:cNvPr>
          <p:cNvPicPr>
            <a:picLocks noChangeAspect="1"/>
          </p:cNvPicPr>
          <p:nvPr/>
        </p:nvPicPr>
        <p:blipFill>
          <a:blip r:embed="rId7"/>
          <a:stretch>
            <a:fillRect/>
          </a:stretch>
        </p:blipFill>
        <p:spPr>
          <a:xfrm>
            <a:off x="7393610" y="2369686"/>
            <a:ext cx="361466" cy="481955"/>
          </a:xfrm>
          <a:prstGeom prst="rect">
            <a:avLst/>
          </a:prstGeom>
        </p:spPr>
      </p:pic>
      <p:sp>
        <p:nvSpPr>
          <p:cNvPr id="21" name="TextBox 20">
            <a:extLst>
              <a:ext uri="{FF2B5EF4-FFF2-40B4-BE49-F238E27FC236}">
                <a16:creationId xmlns:a16="http://schemas.microsoft.com/office/drawing/2014/main" xmlns="" id="{D49E3F98-97B4-4972-870C-A530AC81F8C3}"/>
              </a:ext>
            </a:extLst>
          </p:cNvPr>
          <p:cNvSpPr txBox="1"/>
          <p:nvPr/>
        </p:nvSpPr>
        <p:spPr>
          <a:xfrm>
            <a:off x="7334265" y="2825201"/>
            <a:ext cx="1322762" cy="526298"/>
          </a:xfrm>
          <a:prstGeom prst="rect">
            <a:avLst/>
          </a:prstGeom>
          <a:noFill/>
        </p:spPr>
        <p:txBody>
          <a:bodyPr wrap="square" lIns="64008" tIns="32004" rIns="64008" bIns="32004" rtlCol="0">
            <a:spAutoFit/>
          </a:bodyPr>
          <a:lstStyle/>
          <a:p>
            <a:r>
              <a:rPr lang="en-US" sz="1500" b="1" dirty="0">
                <a:solidFill>
                  <a:srgbClr val="3B4E4E"/>
                </a:solidFill>
                <a:latin typeface="Syne" pitchFamily="34" charset="0"/>
                <a:ea typeface="Syne" pitchFamily="34" charset="-122"/>
              </a:rPr>
              <a:t>Residential Status</a:t>
            </a:r>
            <a:endParaRPr lang="en-IN" sz="1500" dirty="0"/>
          </a:p>
        </p:txBody>
      </p:sp>
      <p:sp>
        <p:nvSpPr>
          <p:cNvPr id="23" name="TextBox 22">
            <a:extLst>
              <a:ext uri="{FF2B5EF4-FFF2-40B4-BE49-F238E27FC236}">
                <a16:creationId xmlns:a16="http://schemas.microsoft.com/office/drawing/2014/main" xmlns="" id="{55778DBD-A641-43F6-89DB-2EBE43668260}"/>
              </a:ext>
            </a:extLst>
          </p:cNvPr>
          <p:cNvSpPr txBox="1"/>
          <p:nvPr/>
        </p:nvSpPr>
        <p:spPr>
          <a:xfrm>
            <a:off x="7343011" y="3429001"/>
            <a:ext cx="1279542" cy="618631"/>
          </a:xfrm>
          <a:prstGeom prst="rect">
            <a:avLst/>
          </a:prstGeom>
          <a:noFill/>
        </p:spPr>
        <p:txBody>
          <a:bodyPr wrap="square" lIns="64008" tIns="32004" rIns="64008" bIns="32004" rtlCol="0">
            <a:spAutoFit/>
          </a:bodyPr>
          <a:lstStyle/>
          <a:p>
            <a:r>
              <a:rPr lang="en-US" dirty="0">
                <a:solidFill>
                  <a:srgbClr val="3B4E4E"/>
                </a:solidFill>
                <a:latin typeface="Overpass" pitchFamily="34" charset="0"/>
                <a:ea typeface="Overpass" pitchFamily="34" charset="-122"/>
              </a:rPr>
              <a:t>Own, Rent or Others</a:t>
            </a:r>
            <a:endParaRPr lang="en-IN" dirty="0"/>
          </a:p>
        </p:txBody>
      </p:sp>
      <p:pic>
        <p:nvPicPr>
          <p:cNvPr id="1026" name="Picture 2" descr="Education icons for free download | Freepik">
            <a:extLst>
              <a:ext uri="{FF2B5EF4-FFF2-40B4-BE49-F238E27FC236}">
                <a16:creationId xmlns:a16="http://schemas.microsoft.com/office/drawing/2014/main" xmlns="" id="{8C4FB045-44CF-4542-A2E9-E4E2A31127E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2812" y="4527775"/>
            <a:ext cx="471131" cy="628174"/>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xmlns="" id="{483682FF-0B27-49A0-8E35-AFBA4F0D2595}"/>
              </a:ext>
            </a:extLst>
          </p:cNvPr>
          <p:cNvSpPr txBox="1"/>
          <p:nvPr/>
        </p:nvSpPr>
        <p:spPr>
          <a:xfrm flipH="1">
            <a:off x="263898" y="5128630"/>
            <a:ext cx="1608167" cy="526298"/>
          </a:xfrm>
          <a:prstGeom prst="rect">
            <a:avLst/>
          </a:prstGeom>
          <a:noFill/>
        </p:spPr>
        <p:txBody>
          <a:bodyPr wrap="square" lIns="64008" tIns="32004" rIns="64008" bIns="32004" rtlCol="0">
            <a:spAutoFit/>
          </a:bodyPr>
          <a:lstStyle/>
          <a:p>
            <a:r>
              <a:rPr lang="en-US" sz="1500" b="1" dirty="0">
                <a:solidFill>
                  <a:srgbClr val="3B4E4E"/>
                </a:solidFill>
                <a:latin typeface="Syne" pitchFamily="34" charset="0"/>
                <a:ea typeface="Syne" pitchFamily="34" charset="-122"/>
              </a:rPr>
              <a:t>Highest Qualification</a:t>
            </a:r>
            <a:endParaRPr lang="en-US" sz="1500" dirty="0"/>
          </a:p>
        </p:txBody>
      </p:sp>
      <p:sp>
        <p:nvSpPr>
          <p:cNvPr id="25" name="TextBox 24">
            <a:extLst>
              <a:ext uri="{FF2B5EF4-FFF2-40B4-BE49-F238E27FC236}">
                <a16:creationId xmlns:a16="http://schemas.microsoft.com/office/drawing/2014/main" xmlns="" id="{BCA45DC0-F84E-4120-BFA9-E5B2FA9E7D24}"/>
              </a:ext>
            </a:extLst>
          </p:cNvPr>
          <p:cNvSpPr txBox="1"/>
          <p:nvPr/>
        </p:nvSpPr>
        <p:spPr>
          <a:xfrm flipH="1">
            <a:off x="110920" y="5601731"/>
            <a:ext cx="1904734" cy="1357295"/>
          </a:xfrm>
          <a:prstGeom prst="rect">
            <a:avLst/>
          </a:prstGeom>
          <a:noFill/>
        </p:spPr>
        <p:txBody>
          <a:bodyPr wrap="square" lIns="64008" tIns="32004" rIns="64008" bIns="32004" rtlCol="0">
            <a:spAutoFit/>
          </a:bodyPr>
          <a:lstStyle/>
          <a:p>
            <a:r>
              <a:rPr lang="en-US" sz="1400" dirty="0">
                <a:solidFill>
                  <a:srgbClr val="3B4E4E"/>
                </a:solidFill>
                <a:latin typeface="Overpass" pitchFamily="34" charset="0"/>
                <a:ea typeface="Overpass" pitchFamily="34" charset="-122"/>
                <a:cs typeface="Overpass" pitchFamily="34" charset="-120"/>
              </a:rPr>
              <a:t>Secondary, Higher Secondary, Bachelor’s, Master’s, Doctorate, Professional or Others</a:t>
            </a:r>
            <a:endParaRPr lang="en-US" sz="1400" dirty="0"/>
          </a:p>
          <a:p>
            <a:endParaRPr lang="en-IN" sz="1400" dirty="0"/>
          </a:p>
        </p:txBody>
      </p:sp>
      <p:pic>
        <p:nvPicPr>
          <p:cNvPr id="1034" name="Picture 10" descr="Holiday Generic black outline icon">
            <a:extLst>
              <a:ext uri="{FF2B5EF4-FFF2-40B4-BE49-F238E27FC236}">
                <a16:creationId xmlns:a16="http://schemas.microsoft.com/office/drawing/2014/main" xmlns="" id="{EF134050-F1A4-49E6-936C-46C51E9504C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57134" y="4527775"/>
            <a:ext cx="478978" cy="638638"/>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xmlns="" id="{FDAC50F7-F88F-4FA6-AEEC-822B1B72039A}"/>
              </a:ext>
            </a:extLst>
          </p:cNvPr>
          <p:cNvSpPr txBox="1"/>
          <p:nvPr/>
        </p:nvSpPr>
        <p:spPr>
          <a:xfrm flipH="1">
            <a:off x="2050529" y="5300740"/>
            <a:ext cx="1218641" cy="526298"/>
          </a:xfrm>
          <a:prstGeom prst="rect">
            <a:avLst/>
          </a:prstGeom>
          <a:noFill/>
        </p:spPr>
        <p:txBody>
          <a:bodyPr wrap="square" lIns="64008" tIns="32004" rIns="64008" bIns="32004" rtlCol="0">
            <a:spAutoFit/>
          </a:bodyPr>
          <a:lstStyle/>
          <a:p>
            <a:r>
              <a:rPr lang="en-US" sz="1500" b="1" dirty="0">
                <a:solidFill>
                  <a:srgbClr val="3B4E4E"/>
                </a:solidFill>
                <a:latin typeface="Syne" pitchFamily="34" charset="0"/>
                <a:ea typeface="Syne" pitchFamily="34" charset="-122"/>
              </a:rPr>
              <a:t>Purpose of Travel</a:t>
            </a:r>
          </a:p>
        </p:txBody>
      </p:sp>
      <p:sp>
        <p:nvSpPr>
          <p:cNvPr id="33" name="TextBox 32">
            <a:extLst>
              <a:ext uri="{FF2B5EF4-FFF2-40B4-BE49-F238E27FC236}">
                <a16:creationId xmlns:a16="http://schemas.microsoft.com/office/drawing/2014/main" xmlns="" id="{DF2CD04A-9099-4A13-B893-48039A18C2C2}"/>
              </a:ext>
            </a:extLst>
          </p:cNvPr>
          <p:cNvSpPr txBox="1"/>
          <p:nvPr/>
        </p:nvSpPr>
        <p:spPr>
          <a:xfrm flipH="1">
            <a:off x="2051632" y="5811649"/>
            <a:ext cx="1464310" cy="710964"/>
          </a:xfrm>
          <a:prstGeom prst="rect">
            <a:avLst/>
          </a:prstGeom>
          <a:noFill/>
        </p:spPr>
        <p:txBody>
          <a:bodyPr wrap="square" lIns="64008" tIns="32004" rIns="64008" bIns="32004" rtlCol="0">
            <a:spAutoFit/>
          </a:bodyPr>
          <a:lstStyle/>
          <a:p>
            <a:r>
              <a:rPr lang="en-US" sz="1400" dirty="0">
                <a:solidFill>
                  <a:srgbClr val="3B4E4E"/>
                </a:solidFill>
                <a:latin typeface="Overpass" pitchFamily="34" charset="0"/>
                <a:ea typeface="Overpass" pitchFamily="34" charset="-122"/>
              </a:rPr>
              <a:t>Personal, Business or Leisure</a:t>
            </a:r>
            <a:endParaRPr lang="en-US" sz="1400" dirty="0"/>
          </a:p>
        </p:txBody>
      </p:sp>
      <p:pic>
        <p:nvPicPr>
          <p:cNvPr id="26" name="Picture 25">
            <a:extLst>
              <a:ext uri="{FF2B5EF4-FFF2-40B4-BE49-F238E27FC236}">
                <a16:creationId xmlns:a16="http://schemas.microsoft.com/office/drawing/2014/main" xmlns="" id="{1C2B7131-5EC8-46C8-BE25-A6DE70CB6385}"/>
              </a:ext>
            </a:extLst>
          </p:cNvPr>
          <p:cNvPicPr>
            <a:picLocks noChangeAspect="1"/>
          </p:cNvPicPr>
          <p:nvPr/>
        </p:nvPicPr>
        <p:blipFill>
          <a:blip r:embed="rId10"/>
          <a:stretch>
            <a:fillRect/>
          </a:stretch>
        </p:blipFill>
        <p:spPr>
          <a:xfrm>
            <a:off x="4081548" y="4749797"/>
            <a:ext cx="433983" cy="578644"/>
          </a:xfrm>
          <a:prstGeom prst="rect">
            <a:avLst/>
          </a:prstGeom>
        </p:spPr>
      </p:pic>
      <p:sp>
        <p:nvSpPr>
          <p:cNvPr id="41" name="TextBox 40">
            <a:extLst>
              <a:ext uri="{FF2B5EF4-FFF2-40B4-BE49-F238E27FC236}">
                <a16:creationId xmlns:a16="http://schemas.microsoft.com/office/drawing/2014/main" xmlns="" id="{849232CE-B3D1-405B-AE9E-0B533F14F579}"/>
              </a:ext>
            </a:extLst>
          </p:cNvPr>
          <p:cNvSpPr txBox="1"/>
          <p:nvPr/>
        </p:nvSpPr>
        <p:spPr>
          <a:xfrm flipH="1">
            <a:off x="3694470" y="5423851"/>
            <a:ext cx="1522369" cy="280077"/>
          </a:xfrm>
          <a:prstGeom prst="rect">
            <a:avLst/>
          </a:prstGeom>
          <a:noFill/>
        </p:spPr>
        <p:txBody>
          <a:bodyPr wrap="square" lIns="64008" tIns="32004" rIns="64008" bIns="32004" rtlCol="0">
            <a:spAutoFit/>
          </a:bodyPr>
          <a:lstStyle/>
          <a:p>
            <a:r>
              <a:rPr lang="en-US" sz="1400" b="1" dirty="0">
                <a:solidFill>
                  <a:srgbClr val="3B4E4E"/>
                </a:solidFill>
                <a:latin typeface="Syne" pitchFamily="34" charset="0"/>
                <a:ea typeface="Syne" pitchFamily="34" charset="-122"/>
              </a:rPr>
              <a:t>Class of Travel</a:t>
            </a:r>
          </a:p>
        </p:txBody>
      </p:sp>
      <p:sp>
        <p:nvSpPr>
          <p:cNvPr id="42" name="TextBox 41">
            <a:extLst>
              <a:ext uri="{FF2B5EF4-FFF2-40B4-BE49-F238E27FC236}">
                <a16:creationId xmlns:a16="http://schemas.microsoft.com/office/drawing/2014/main" xmlns="" id="{915E1041-38F0-4B31-8A9B-1C8C9CE3A2AE}"/>
              </a:ext>
            </a:extLst>
          </p:cNvPr>
          <p:cNvSpPr txBox="1"/>
          <p:nvPr/>
        </p:nvSpPr>
        <p:spPr>
          <a:xfrm flipH="1">
            <a:off x="3745194" y="5771515"/>
            <a:ext cx="1464310" cy="926407"/>
          </a:xfrm>
          <a:prstGeom prst="rect">
            <a:avLst/>
          </a:prstGeom>
          <a:noFill/>
        </p:spPr>
        <p:txBody>
          <a:bodyPr wrap="square" lIns="64008" tIns="32004" rIns="64008" bIns="32004" rtlCol="0">
            <a:spAutoFit/>
          </a:bodyPr>
          <a:lstStyle/>
          <a:p>
            <a:r>
              <a:rPr lang="en-US" sz="1400" dirty="0">
                <a:solidFill>
                  <a:srgbClr val="3B4E4E"/>
                </a:solidFill>
                <a:latin typeface="Overpass" pitchFamily="34" charset="0"/>
                <a:ea typeface="Overpass" pitchFamily="34" charset="-122"/>
              </a:rPr>
              <a:t>Economy, Premium Economy, Business or First</a:t>
            </a:r>
            <a:endParaRPr lang="en-US" sz="1400" dirty="0"/>
          </a:p>
        </p:txBody>
      </p:sp>
      <p:pic>
        <p:nvPicPr>
          <p:cNvPr id="27" name="Picture 26">
            <a:extLst>
              <a:ext uri="{FF2B5EF4-FFF2-40B4-BE49-F238E27FC236}">
                <a16:creationId xmlns:a16="http://schemas.microsoft.com/office/drawing/2014/main" xmlns="" id="{9E90EC25-6912-4D2B-B8CC-858C6C4E2B77}"/>
              </a:ext>
            </a:extLst>
          </p:cNvPr>
          <p:cNvPicPr>
            <a:picLocks noChangeAspect="1"/>
          </p:cNvPicPr>
          <p:nvPr/>
        </p:nvPicPr>
        <p:blipFill>
          <a:blip r:embed="rId11"/>
          <a:stretch>
            <a:fillRect/>
          </a:stretch>
        </p:blipFill>
        <p:spPr>
          <a:xfrm>
            <a:off x="5664606" y="4505634"/>
            <a:ext cx="433983" cy="578644"/>
          </a:xfrm>
          <a:prstGeom prst="rect">
            <a:avLst/>
          </a:prstGeom>
        </p:spPr>
      </p:pic>
      <p:sp>
        <p:nvSpPr>
          <p:cNvPr id="44" name="TextBox 43">
            <a:extLst>
              <a:ext uri="{FF2B5EF4-FFF2-40B4-BE49-F238E27FC236}">
                <a16:creationId xmlns:a16="http://schemas.microsoft.com/office/drawing/2014/main" xmlns="" id="{9DF4DB1D-A455-49FB-A824-E7C6A0C83F0F}"/>
              </a:ext>
            </a:extLst>
          </p:cNvPr>
          <p:cNvSpPr txBox="1"/>
          <p:nvPr/>
        </p:nvSpPr>
        <p:spPr>
          <a:xfrm flipH="1">
            <a:off x="5612453" y="5125641"/>
            <a:ext cx="1549021" cy="757130"/>
          </a:xfrm>
          <a:prstGeom prst="rect">
            <a:avLst/>
          </a:prstGeom>
          <a:noFill/>
        </p:spPr>
        <p:txBody>
          <a:bodyPr wrap="square" lIns="64008" tIns="32004" rIns="64008" bIns="32004" rtlCol="0">
            <a:spAutoFit/>
          </a:bodyPr>
          <a:lstStyle/>
          <a:p>
            <a:r>
              <a:rPr lang="en-US" sz="1500" b="1" dirty="0">
                <a:solidFill>
                  <a:srgbClr val="3B4E4E"/>
                </a:solidFill>
                <a:latin typeface="Syne" pitchFamily="34" charset="0"/>
                <a:ea typeface="Syne" pitchFamily="34" charset="-122"/>
              </a:rPr>
              <a:t>Choice of Travel Decided by</a:t>
            </a:r>
          </a:p>
        </p:txBody>
      </p:sp>
      <p:sp>
        <p:nvSpPr>
          <p:cNvPr id="45" name="TextBox 44">
            <a:extLst>
              <a:ext uri="{FF2B5EF4-FFF2-40B4-BE49-F238E27FC236}">
                <a16:creationId xmlns:a16="http://schemas.microsoft.com/office/drawing/2014/main" xmlns="" id="{2439B589-0D74-426D-A75A-97EBB96016FF}"/>
              </a:ext>
            </a:extLst>
          </p:cNvPr>
          <p:cNvSpPr txBox="1"/>
          <p:nvPr/>
        </p:nvSpPr>
        <p:spPr>
          <a:xfrm flipH="1">
            <a:off x="5612454" y="5878811"/>
            <a:ext cx="1464310" cy="710964"/>
          </a:xfrm>
          <a:prstGeom prst="rect">
            <a:avLst/>
          </a:prstGeom>
          <a:noFill/>
        </p:spPr>
        <p:txBody>
          <a:bodyPr wrap="square" lIns="64008" tIns="32004" rIns="64008" bIns="32004" rtlCol="0">
            <a:spAutoFit/>
          </a:bodyPr>
          <a:lstStyle/>
          <a:p>
            <a:r>
              <a:rPr lang="en-US" sz="1400" dirty="0">
                <a:solidFill>
                  <a:srgbClr val="3B4E4E"/>
                </a:solidFill>
                <a:latin typeface="Overpass" pitchFamily="34" charset="0"/>
                <a:ea typeface="Overpass" pitchFamily="34" charset="-122"/>
              </a:rPr>
              <a:t>Self, Family &amp;Friends or Employer </a:t>
            </a:r>
            <a:endParaRPr lang="en-US" sz="1400" dirty="0"/>
          </a:p>
        </p:txBody>
      </p:sp>
      <p:pic>
        <p:nvPicPr>
          <p:cNvPr id="28" name="Picture 27">
            <a:extLst>
              <a:ext uri="{FF2B5EF4-FFF2-40B4-BE49-F238E27FC236}">
                <a16:creationId xmlns:a16="http://schemas.microsoft.com/office/drawing/2014/main" xmlns="" id="{78E6774C-1075-4987-A1E9-3AECA5C836CD}"/>
              </a:ext>
            </a:extLst>
          </p:cNvPr>
          <p:cNvPicPr>
            <a:picLocks noChangeAspect="1"/>
          </p:cNvPicPr>
          <p:nvPr/>
        </p:nvPicPr>
        <p:blipFill>
          <a:blip r:embed="rId12"/>
          <a:stretch>
            <a:fillRect/>
          </a:stretch>
        </p:blipFill>
        <p:spPr>
          <a:xfrm>
            <a:off x="7393610" y="4382589"/>
            <a:ext cx="474828" cy="633104"/>
          </a:xfrm>
          <a:prstGeom prst="rect">
            <a:avLst/>
          </a:prstGeom>
        </p:spPr>
      </p:pic>
      <p:sp>
        <p:nvSpPr>
          <p:cNvPr id="47" name="TextBox 46">
            <a:extLst>
              <a:ext uri="{FF2B5EF4-FFF2-40B4-BE49-F238E27FC236}">
                <a16:creationId xmlns:a16="http://schemas.microsoft.com/office/drawing/2014/main" xmlns="" id="{8A422443-6648-46AC-AFF8-316AE450F3FA}"/>
              </a:ext>
            </a:extLst>
          </p:cNvPr>
          <p:cNvSpPr txBox="1"/>
          <p:nvPr/>
        </p:nvSpPr>
        <p:spPr>
          <a:xfrm flipH="1">
            <a:off x="7325994" y="5065292"/>
            <a:ext cx="1359845" cy="526298"/>
          </a:xfrm>
          <a:prstGeom prst="rect">
            <a:avLst/>
          </a:prstGeom>
          <a:noFill/>
        </p:spPr>
        <p:txBody>
          <a:bodyPr wrap="square" lIns="64008" tIns="32004" rIns="64008" bIns="32004" rtlCol="0">
            <a:spAutoFit/>
          </a:bodyPr>
          <a:lstStyle/>
          <a:p>
            <a:r>
              <a:rPr lang="en-US" sz="1500" b="1" dirty="0">
                <a:solidFill>
                  <a:srgbClr val="3B4E4E"/>
                </a:solidFill>
                <a:latin typeface="Syne" pitchFamily="34" charset="0"/>
                <a:ea typeface="Syne" pitchFamily="34" charset="-122"/>
              </a:rPr>
              <a:t>Purchase Ticket From</a:t>
            </a:r>
          </a:p>
        </p:txBody>
      </p:sp>
      <p:sp>
        <p:nvSpPr>
          <p:cNvPr id="48" name="TextBox 47">
            <a:extLst>
              <a:ext uri="{FF2B5EF4-FFF2-40B4-BE49-F238E27FC236}">
                <a16:creationId xmlns:a16="http://schemas.microsoft.com/office/drawing/2014/main" xmlns="" id="{89BA63F7-4782-48E4-997A-713385B2CBDC}"/>
              </a:ext>
            </a:extLst>
          </p:cNvPr>
          <p:cNvSpPr txBox="1"/>
          <p:nvPr/>
        </p:nvSpPr>
        <p:spPr>
          <a:xfrm flipH="1">
            <a:off x="7334265" y="5703928"/>
            <a:ext cx="1464310" cy="926407"/>
          </a:xfrm>
          <a:prstGeom prst="rect">
            <a:avLst/>
          </a:prstGeom>
          <a:noFill/>
        </p:spPr>
        <p:txBody>
          <a:bodyPr wrap="square" lIns="64008" tIns="32004" rIns="64008" bIns="32004" rtlCol="0">
            <a:spAutoFit/>
          </a:bodyPr>
          <a:lstStyle/>
          <a:p>
            <a:r>
              <a:rPr lang="en-US" sz="1400" dirty="0">
                <a:solidFill>
                  <a:srgbClr val="3B4E4E"/>
                </a:solidFill>
                <a:latin typeface="Overpass" pitchFamily="34" charset="0"/>
                <a:ea typeface="Overpass" pitchFamily="34" charset="-122"/>
              </a:rPr>
              <a:t>Airline Website, Travel Website, Counter or Travel Agent</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71097"/>
          </a:xfrm>
          <a:prstGeom prst="rect">
            <a:avLst/>
          </a:prstGeom>
          <a:solidFill>
            <a:srgbClr val="FFFDE6"/>
          </a:solidFill>
          <a:ln/>
        </p:spPr>
      </p:sp>
      <p:sp>
        <p:nvSpPr>
          <p:cNvPr id="4" name="Text 2"/>
          <p:cNvSpPr/>
          <p:nvPr/>
        </p:nvSpPr>
        <p:spPr>
          <a:xfrm>
            <a:off x="1603549" y="458193"/>
            <a:ext cx="4442668" cy="520700"/>
          </a:xfrm>
          <a:prstGeom prst="rect">
            <a:avLst/>
          </a:prstGeom>
          <a:noFill/>
          <a:ln/>
        </p:spPr>
        <p:txBody>
          <a:bodyPr wrap="none" lIns="64008" tIns="32004" rIns="64008" bIns="32004" rtlCol="0" anchor="t"/>
          <a:lstStyle/>
          <a:p>
            <a:pPr>
              <a:lnSpc>
                <a:spcPts val="3445"/>
              </a:lnSpc>
            </a:pPr>
            <a:r>
              <a:rPr lang="en-US" sz="2800" b="1" dirty="0">
                <a:solidFill>
                  <a:srgbClr val="233939"/>
                </a:solidFill>
                <a:latin typeface="Syne" pitchFamily="34" charset="0"/>
                <a:ea typeface="Syne" pitchFamily="34" charset="-122"/>
                <a:cs typeface="Syne" pitchFamily="34" charset="-120"/>
              </a:rPr>
              <a:t>Results and Interpretation</a:t>
            </a:r>
            <a:endParaRPr lang="en-US" sz="2800" dirty="0"/>
          </a:p>
        </p:txBody>
      </p:sp>
      <p:sp>
        <p:nvSpPr>
          <p:cNvPr id="5" name="Text 3"/>
          <p:cNvSpPr/>
          <p:nvPr/>
        </p:nvSpPr>
        <p:spPr>
          <a:xfrm>
            <a:off x="1603549" y="1312168"/>
            <a:ext cx="5936828" cy="800100"/>
          </a:xfrm>
          <a:prstGeom prst="rect">
            <a:avLst/>
          </a:prstGeom>
          <a:noFill/>
          <a:ln/>
        </p:spPr>
        <p:txBody>
          <a:bodyPr wrap="squar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The results of the binary logistic regression analysis revealed several significant findings. The overall percentage of observations correctly classified by the model was 90.5%, indicating a good fit. The Hosmer and Lemeshow Goodness of Fit test also confirmed that the model fit was good.</a:t>
            </a:r>
            <a:endParaRPr lang="en-US" sz="1100" dirty="0"/>
          </a:p>
        </p:txBody>
      </p:sp>
      <p:sp>
        <p:nvSpPr>
          <p:cNvPr id="6" name="Shape 4"/>
          <p:cNvSpPr/>
          <p:nvPr/>
        </p:nvSpPr>
        <p:spPr>
          <a:xfrm>
            <a:off x="1603549" y="2299693"/>
            <a:ext cx="5936828" cy="4113213"/>
          </a:xfrm>
          <a:prstGeom prst="roundRect">
            <a:avLst>
              <a:gd name="adj" fmla="val 1823"/>
            </a:avLst>
          </a:prstGeom>
          <a:noFill/>
          <a:ln w="7620">
            <a:solidFill>
              <a:srgbClr val="000000">
                <a:alpha val="8000"/>
              </a:srgbClr>
            </a:solidFill>
            <a:prstDash val="solid"/>
          </a:ln>
        </p:spPr>
      </p:sp>
      <p:sp>
        <p:nvSpPr>
          <p:cNvPr id="7" name="Shape 5"/>
          <p:cNvSpPr/>
          <p:nvPr/>
        </p:nvSpPr>
        <p:spPr>
          <a:xfrm>
            <a:off x="1608312" y="2306042"/>
            <a:ext cx="5926708" cy="479227"/>
          </a:xfrm>
          <a:prstGeom prst="rect">
            <a:avLst/>
          </a:prstGeom>
          <a:solidFill>
            <a:srgbClr val="FFFFFF">
              <a:alpha val="4000"/>
            </a:srgbClr>
          </a:solidFill>
          <a:ln/>
        </p:spPr>
      </p:sp>
      <p:sp>
        <p:nvSpPr>
          <p:cNvPr id="8" name="Text 6"/>
          <p:cNvSpPr/>
          <p:nvPr/>
        </p:nvSpPr>
        <p:spPr>
          <a:xfrm>
            <a:off x="1733996" y="2412306"/>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Background Characteristics</a:t>
            </a:r>
            <a:endParaRPr lang="en-US" sz="1100" dirty="0"/>
          </a:p>
        </p:txBody>
      </p:sp>
      <p:sp>
        <p:nvSpPr>
          <p:cNvPr id="9" name="Text 7"/>
          <p:cNvSpPr/>
          <p:nvPr/>
        </p:nvSpPr>
        <p:spPr>
          <a:xfrm>
            <a:off x="3711699" y="2412306"/>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Estimate (B)</a:t>
            </a:r>
            <a:endParaRPr lang="en-US" sz="1100" dirty="0"/>
          </a:p>
        </p:txBody>
      </p:sp>
      <p:sp>
        <p:nvSpPr>
          <p:cNvPr id="10" name="Text 8"/>
          <p:cNvSpPr/>
          <p:nvPr/>
        </p:nvSpPr>
        <p:spPr>
          <a:xfrm>
            <a:off x="5687020" y="2412306"/>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Odds Ratio (Exp(B))</a:t>
            </a:r>
            <a:endParaRPr lang="en-US" sz="1100" dirty="0"/>
          </a:p>
        </p:txBody>
      </p:sp>
      <p:sp>
        <p:nvSpPr>
          <p:cNvPr id="11" name="Shape 9"/>
          <p:cNvSpPr/>
          <p:nvPr/>
        </p:nvSpPr>
        <p:spPr>
          <a:xfrm>
            <a:off x="1608312" y="2785268"/>
            <a:ext cx="5926708" cy="479227"/>
          </a:xfrm>
          <a:prstGeom prst="rect">
            <a:avLst/>
          </a:prstGeom>
          <a:solidFill>
            <a:srgbClr val="000000">
              <a:alpha val="4000"/>
            </a:srgbClr>
          </a:solidFill>
          <a:ln/>
        </p:spPr>
      </p:sp>
      <p:sp>
        <p:nvSpPr>
          <p:cNvPr id="12" name="Text 10"/>
          <p:cNvSpPr/>
          <p:nvPr/>
        </p:nvSpPr>
        <p:spPr>
          <a:xfrm>
            <a:off x="1733996" y="2891532"/>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Gender: Male</a:t>
            </a:r>
            <a:endParaRPr lang="en-US" sz="1100" dirty="0"/>
          </a:p>
        </p:txBody>
      </p:sp>
      <p:sp>
        <p:nvSpPr>
          <p:cNvPr id="13" name="Text 11"/>
          <p:cNvSpPr/>
          <p:nvPr/>
        </p:nvSpPr>
        <p:spPr>
          <a:xfrm>
            <a:off x="3711699" y="2891532"/>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-0.667</a:t>
            </a:r>
            <a:endParaRPr lang="en-US" sz="1100" dirty="0"/>
          </a:p>
        </p:txBody>
      </p:sp>
      <p:sp>
        <p:nvSpPr>
          <p:cNvPr id="14" name="Text 12"/>
          <p:cNvSpPr/>
          <p:nvPr/>
        </p:nvSpPr>
        <p:spPr>
          <a:xfrm>
            <a:off x="5687020" y="2891532"/>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0.513</a:t>
            </a:r>
            <a:endParaRPr lang="en-US" sz="1100" dirty="0"/>
          </a:p>
        </p:txBody>
      </p:sp>
      <p:sp>
        <p:nvSpPr>
          <p:cNvPr id="15" name="Shape 13"/>
          <p:cNvSpPr/>
          <p:nvPr/>
        </p:nvSpPr>
        <p:spPr>
          <a:xfrm>
            <a:off x="1608312" y="3264495"/>
            <a:ext cx="5926708" cy="479227"/>
          </a:xfrm>
          <a:prstGeom prst="rect">
            <a:avLst/>
          </a:prstGeom>
          <a:solidFill>
            <a:srgbClr val="FFFFFF">
              <a:alpha val="4000"/>
            </a:srgbClr>
          </a:solidFill>
          <a:ln/>
        </p:spPr>
      </p:sp>
      <p:sp>
        <p:nvSpPr>
          <p:cNvPr id="16" name="Text 14"/>
          <p:cNvSpPr/>
          <p:nvPr/>
        </p:nvSpPr>
        <p:spPr>
          <a:xfrm>
            <a:off x="1733996" y="3370758"/>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Profession: Business</a:t>
            </a:r>
            <a:endParaRPr lang="en-US" sz="1100" dirty="0"/>
          </a:p>
        </p:txBody>
      </p:sp>
      <p:sp>
        <p:nvSpPr>
          <p:cNvPr id="17" name="Text 15"/>
          <p:cNvSpPr/>
          <p:nvPr/>
        </p:nvSpPr>
        <p:spPr>
          <a:xfrm>
            <a:off x="3711699" y="3370758"/>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-1.782</a:t>
            </a:r>
            <a:endParaRPr lang="en-US" sz="1100" dirty="0"/>
          </a:p>
        </p:txBody>
      </p:sp>
      <p:sp>
        <p:nvSpPr>
          <p:cNvPr id="18" name="Text 16"/>
          <p:cNvSpPr/>
          <p:nvPr/>
        </p:nvSpPr>
        <p:spPr>
          <a:xfrm>
            <a:off x="5687020" y="3370758"/>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0.168</a:t>
            </a:r>
            <a:endParaRPr lang="en-US" sz="1100" dirty="0"/>
          </a:p>
        </p:txBody>
      </p:sp>
      <p:sp>
        <p:nvSpPr>
          <p:cNvPr id="19" name="Shape 17"/>
          <p:cNvSpPr/>
          <p:nvPr/>
        </p:nvSpPr>
        <p:spPr>
          <a:xfrm>
            <a:off x="1608312" y="3743722"/>
            <a:ext cx="5926708" cy="479227"/>
          </a:xfrm>
          <a:prstGeom prst="rect">
            <a:avLst/>
          </a:prstGeom>
          <a:solidFill>
            <a:srgbClr val="000000">
              <a:alpha val="4000"/>
            </a:srgbClr>
          </a:solidFill>
          <a:ln/>
        </p:spPr>
      </p:sp>
      <p:sp>
        <p:nvSpPr>
          <p:cNvPr id="20" name="Text 18"/>
          <p:cNvSpPr/>
          <p:nvPr/>
        </p:nvSpPr>
        <p:spPr>
          <a:xfrm>
            <a:off x="1733996" y="3849985"/>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Monthly Income: Rs. 2-3 Lakh</a:t>
            </a:r>
            <a:endParaRPr lang="en-US" sz="1100" dirty="0"/>
          </a:p>
        </p:txBody>
      </p:sp>
      <p:sp>
        <p:nvSpPr>
          <p:cNvPr id="21" name="Text 19"/>
          <p:cNvSpPr/>
          <p:nvPr/>
        </p:nvSpPr>
        <p:spPr>
          <a:xfrm>
            <a:off x="3711699" y="3849985"/>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-3.522</a:t>
            </a:r>
            <a:endParaRPr lang="en-US" sz="1100" dirty="0"/>
          </a:p>
        </p:txBody>
      </p:sp>
      <p:sp>
        <p:nvSpPr>
          <p:cNvPr id="22" name="Text 20"/>
          <p:cNvSpPr/>
          <p:nvPr/>
        </p:nvSpPr>
        <p:spPr>
          <a:xfrm>
            <a:off x="5687020" y="3849985"/>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0.030</a:t>
            </a:r>
            <a:endParaRPr lang="en-US" sz="1100" dirty="0"/>
          </a:p>
        </p:txBody>
      </p:sp>
      <p:sp>
        <p:nvSpPr>
          <p:cNvPr id="23" name="Shape 21"/>
          <p:cNvSpPr/>
          <p:nvPr/>
        </p:nvSpPr>
        <p:spPr>
          <a:xfrm>
            <a:off x="1608312" y="4222948"/>
            <a:ext cx="5926708" cy="479227"/>
          </a:xfrm>
          <a:prstGeom prst="rect">
            <a:avLst/>
          </a:prstGeom>
          <a:solidFill>
            <a:srgbClr val="FFFFFF">
              <a:alpha val="4000"/>
            </a:srgbClr>
          </a:solidFill>
          <a:ln/>
        </p:spPr>
      </p:sp>
      <p:sp>
        <p:nvSpPr>
          <p:cNvPr id="24" name="Text 22"/>
          <p:cNvSpPr/>
          <p:nvPr/>
        </p:nvSpPr>
        <p:spPr>
          <a:xfrm>
            <a:off x="1733996" y="4329212"/>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Residential Status: Own</a:t>
            </a:r>
            <a:endParaRPr lang="en-US" sz="1100" dirty="0"/>
          </a:p>
        </p:txBody>
      </p:sp>
      <p:sp>
        <p:nvSpPr>
          <p:cNvPr id="25" name="Text 23"/>
          <p:cNvSpPr/>
          <p:nvPr/>
        </p:nvSpPr>
        <p:spPr>
          <a:xfrm>
            <a:off x="3711699" y="4329212"/>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-2.171</a:t>
            </a:r>
            <a:endParaRPr lang="en-US" sz="1100" dirty="0"/>
          </a:p>
        </p:txBody>
      </p:sp>
      <p:sp>
        <p:nvSpPr>
          <p:cNvPr id="26" name="Text 24"/>
          <p:cNvSpPr/>
          <p:nvPr/>
        </p:nvSpPr>
        <p:spPr>
          <a:xfrm>
            <a:off x="5687020" y="4329212"/>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0.114</a:t>
            </a:r>
            <a:endParaRPr lang="en-US" sz="1100" dirty="0"/>
          </a:p>
        </p:txBody>
      </p:sp>
      <p:sp>
        <p:nvSpPr>
          <p:cNvPr id="27" name="Shape 25"/>
          <p:cNvSpPr/>
          <p:nvPr/>
        </p:nvSpPr>
        <p:spPr>
          <a:xfrm>
            <a:off x="1608312" y="4702175"/>
            <a:ext cx="5926708" cy="479227"/>
          </a:xfrm>
          <a:prstGeom prst="rect">
            <a:avLst/>
          </a:prstGeom>
          <a:solidFill>
            <a:srgbClr val="000000">
              <a:alpha val="4000"/>
            </a:srgbClr>
          </a:solidFill>
          <a:ln/>
        </p:spPr>
      </p:sp>
      <p:sp>
        <p:nvSpPr>
          <p:cNvPr id="28" name="Text 26"/>
          <p:cNvSpPr/>
          <p:nvPr/>
        </p:nvSpPr>
        <p:spPr>
          <a:xfrm>
            <a:off x="1733996" y="4808438"/>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Frequency of Travel: Rarely</a:t>
            </a:r>
            <a:endParaRPr lang="en-US" sz="1100" dirty="0"/>
          </a:p>
        </p:txBody>
      </p:sp>
      <p:sp>
        <p:nvSpPr>
          <p:cNvPr id="29" name="Text 27"/>
          <p:cNvSpPr/>
          <p:nvPr/>
        </p:nvSpPr>
        <p:spPr>
          <a:xfrm>
            <a:off x="3711699" y="4808438"/>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-1.698</a:t>
            </a:r>
            <a:endParaRPr lang="en-US" sz="1100" dirty="0"/>
          </a:p>
        </p:txBody>
      </p:sp>
      <p:sp>
        <p:nvSpPr>
          <p:cNvPr id="30" name="Text 28"/>
          <p:cNvSpPr/>
          <p:nvPr/>
        </p:nvSpPr>
        <p:spPr>
          <a:xfrm>
            <a:off x="5687020" y="4808438"/>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0.183</a:t>
            </a:r>
            <a:endParaRPr lang="en-US" sz="1100" dirty="0"/>
          </a:p>
        </p:txBody>
      </p:sp>
      <p:sp>
        <p:nvSpPr>
          <p:cNvPr id="31" name="Shape 29"/>
          <p:cNvSpPr/>
          <p:nvPr/>
        </p:nvSpPr>
        <p:spPr>
          <a:xfrm>
            <a:off x="1608312" y="5181402"/>
            <a:ext cx="5926708" cy="479227"/>
          </a:xfrm>
          <a:prstGeom prst="rect">
            <a:avLst/>
          </a:prstGeom>
          <a:solidFill>
            <a:srgbClr val="FFFFFF">
              <a:alpha val="4000"/>
            </a:srgbClr>
          </a:solidFill>
          <a:ln/>
        </p:spPr>
      </p:sp>
      <p:sp>
        <p:nvSpPr>
          <p:cNvPr id="32" name="Text 30"/>
          <p:cNvSpPr/>
          <p:nvPr/>
        </p:nvSpPr>
        <p:spPr>
          <a:xfrm>
            <a:off x="1733996" y="5287665"/>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Class: Economy</a:t>
            </a:r>
            <a:endParaRPr lang="en-US" sz="1100" dirty="0"/>
          </a:p>
        </p:txBody>
      </p:sp>
      <p:sp>
        <p:nvSpPr>
          <p:cNvPr id="33" name="Text 31"/>
          <p:cNvSpPr/>
          <p:nvPr/>
        </p:nvSpPr>
        <p:spPr>
          <a:xfrm>
            <a:off x="3711699" y="5287665"/>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-3.106</a:t>
            </a:r>
            <a:endParaRPr lang="en-US" sz="1100" dirty="0"/>
          </a:p>
        </p:txBody>
      </p:sp>
      <p:sp>
        <p:nvSpPr>
          <p:cNvPr id="34" name="Text 32"/>
          <p:cNvSpPr/>
          <p:nvPr/>
        </p:nvSpPr>
        <p:spPr>
          <a:xfrm>
            <a:off x="5687020" y="5287665"/>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0.045</a:t>
            </a:r>
            <a:endParaRPr lang="en-US" sz="1100" dirty="0"/>
          </a:p>
        </p:txBody>
      </p:sp>
      <p:sp>
        <p:nvSpPr>
          <p:cNvPr id="35" name="Shape 33"/>
          <p:cNvSpPr/>
          <p:nvPr/>
        </p:nvSpPr>
        <p:spPr>
          <a:xfrm>
            <a:off x="1608312" y="5660628"/>
            <a:ext cx="5926708" cy="745927"/>
          </a:xfrm>
          <a:prstGeom prst="rect">
            <a:avLst/>
          </a:prstGeom>
          <a:solidFill>
            <a:srgbClr val="000000">
              <a:alpha val="4000"/>
            </a:srgbClr>
          </a:solidFill>
          <a:ln/>
        </p:spPr>
      </p:sp>
      <p:sp>
        <p:nvSpPr>
          <p:cNvPr id="36" name="Text 34"/>
          <p:cNvSpPr/>
          <p:nvPr/>
        </p:nvSpPr>
        <p:spPr>
          <a:xfrm>
            <a:off x="1733996" y="5766892"/>
            <a:ext cx="1723058" cy="533400"/>
          </a:xfrm>
          <a:prstGeom prst="rect">
            <a:avLst/>
          </a:prstGeom>
          <a:noFill/>
          <a:ln/>
        </p:spPr>
        <p:txBody>
          <a:bodyPr wrap="squar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Choice decided for travel by: Self</a:t>
            </a:r>
            <a:endParaRPr lang="en-US" sz="1100" dirty="0"/>
          </a:p>
        </p:txBody>
      </p:sp>
      <p:sp>
        <p:nvSpPr>
          <p:cNvPr id="37" name="Text 35"/>
          <p:cNvSpPr/>
          <p:nvPr/>
        </p:nvSpPr>
        <p:spPr>
          <a:xfrm>
            <a:off x="3711699" y="5766892"/>
            <a:ext cx="1720676"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3.006</a:t>
            </a:r>
            <a:endParaRPr lang="en-US" sz="1100" dirty="0"/>
          </a:p>
        </p:txBody>
      </p:sp>
      <p:sp>
        <p:nvSpPr>
          <p:cNvPr id="38" name="Text 36"/>
          <p:cNvSpPr/>
          <p:nvPr/>
        </p:nvSpPr>
        <p:spPr>
          <a:xfrm>
            <a:off x="5687020" y="5766892"/>
            <a:ext cx="1723058" cy="266700"/>
          </a:xfrm>
          <a:prstGeom prst="rect">
            <a:avLst/>
          </a:prstGeom>
          <a:noFill/>
          <a:ln/>
        </p:spPr>
        <p:txBody>
          <a:bodyPr wrap="none" lIns="64008" tIns="32004" rIns="64008" bIns="32004" rtlCol="0" anchor="t"/>
          <a:lstStyle/>
          <a:p>
            <a:pPr>
              <a:lnSpc>
                <a:spcPts val="1763"/>
              </a:lnSpc>
            </a:pPr>
            <a:r>
              <a:rPr lang="en-US" sz="1100" dirty="0">
                <a:solidFill>
                  <a:srgbClr val="3B4E4E"/>
                </a:solidFill>
                <a:latin typeface="Overpass" pitchFamily="34" charset="0"/>
                <a:ea typeface="Overpass" pitchFamily="34" charset="-122"/>
                <a:cs typeface="Overpass" pitchFamily="34" charset="-120"/>
              </a:rPr>
              <a:t>20.199</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0"/>
            <a:ext cx="3429000" cy="6858000"/>
          </a:xfrm>
          <a:prstGeom prst="rect">
            <a:avLst/>
          </a:prstGeom>
        </p:spPr>
      </p:pic>
      <p:sp>
        <p:nvSpPr>
          <p:cNvPr id="5" name="Text 2"/>
          <p:cNvSpPr/>
          <p:nvPr/>
        </p:nvSpPr>
        <p:spPr>
          <a:xfrm>
            <a:off x="3949750" y="883544"/>
            <a:ext cx="4673501" cy="1157288"/>
          </a:xfrm>
          <a:prstGeom prst="rect">
            <a:avLst/>
          </a:prstGeom>
          <a:noFill/>
          <a:ln/>
        </p:spPr>
        <p:txBody>
          <a:bodyPr wrap="squar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Logistic Regression Model</a:t>
            </a:r>
            <a:endParaRPr lang="en-US" sz="3100" dirty="0"/>
          </a:p>
        </p:txBody>
      </p:sp>
      <p:sp>
        <p:nvSpPr>
          <p:cNvPr id="6" name="Text 3"/>
          <p:cNvSpPr/>
          <p:nvPr/>
        </p:nvSpPr>
        <p:spPr>
          <a:xfrm>
            <a:off x="3949750" y="2318544"/>
            <a:ext cx="4673501" cy="1184672"/>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study employed binary logistic regression analysis using IBM SPSS software to model the relationship between the independent variables and the likelihood of a passenger choosing to travel again. The resulting logistic model is presented below:</a:t>
            </a:r>
            <a:endParaRPr lang="en-US" sz="1200" dirty="0"/>
          </a:p>
        </p:txBody>
      </p:sp>
      <p:sp>
        <p:nvSpPr>
          <p:cNvPr id="7" name="Shape 4"/>
          <p:cNvSpPr/>
          <p:nvPr/>
        </p:nvSpPr>
        <p:spPr>
          <a:xfrm>
            <a:off x="3949750" y="3711476"/>
            <a:ext cx="4673501" cy="1166118"/>
          </a:xfrm>
          <a:prstGeom prst="roundRect">
            <a:avLst>
              <a:gd name="adj" fmla="val 7145"/>
            </a:avLst>
          </a:prstGeom>
          <a:solidFill>
            <a:srgbClr val="EEF6F3"/>
          </a:solidFill>
          <a:ln/>
        </p:spPr>
      </p:sp>
      <p:sp>
        <p:nvSpPr>
          <p:cNvPr id="8" name="Shape 5"/>
          <p:cNvSpPr/>
          <p:nvPr/>
        </p:nvSpPr>
        <p:spPr>
          <a:xfrm>
            <a:off x="3942830" y="3711476"/>
            <a:ext cx="4687342" cy="1166118"/>
          </a:xfrm>
          <a:prstGeom prst="roundRect">
            <a:avLst>
              <a:gd name="adj" fmla="val 2382"/>
            </a:avLst>
          </a:prstGeom>
          <a:solidFill>
            <a:srgbClr val="EEF6F3"/>
          </a:solidFill>
          <a:ln/>
        </p:spPr>
      </p:sp>
      <p:sp>
        <p:nvSpPr>
          <p:cNvPr id="9" name="Text 6"/>
          <p:cNvSpPr/>
          <p:nvPr/>
        </p:nvSpPr>
        <p:spPr>
          <a:xfrm>
            <a:off x="4081686" y="3850283"/>
            <a:ext cx="4409629" cy="888504"/>
          </a:xfrm>
          <a:prstGeom prst="rect">
            <a:avLst/>
          </a:prstGeom>
          <a:noFill/>
          <a:ln/>
        </p:spPr>
        <p:txBody>
          <a:bodyPr wrap="square" lIns="64008" tIns="32004" rIns="64008" bIns="32004" rtlCol="0" anchor="t"/>
          <a:lstStyle/>
          <a:p>
            <a:pPr>
              <a:lnSpc>
                <a:spcPts val="1959"/>
              </a:lnSpc>
            </a:pPr>
            <a:r>
              <a:rPr lang="en-US" sz="1200" dirty="0">
                <a:solidFill>
                  <a:srgbClr val="3B4E4E"/>
                </a:solidFill>
                <a:highlight>
                  <a:srgbClr val="EEF6F3"/>
                </a:highlight>
                <a:latin typeface="Consolas" pitchFamily="34" charset="0"/>
                <a:ea typeface="Consolas" pitchFamily="34" charset="-122"/>
                <a:cs typeface="Consolas" pitchFamily="34" charset="-120"/>
              </a:rPr>
              <a:t>ln ( p / (1 - p) ) = -0.33 - 0.667[MALE] - 1.204[PUBLIC] - 1.782[BUSINESS] - 3.522[RS. 2-3 LAKH] - 2.171[OWN] - 1.698[RARELY] - 3.106[ECONOMY] + 3.006[SELF]</a:t>
            </a:r>
            <a:endParaRPr lang="en-US" sz="1200" dirty="0"/>
          </a:p>
        </p:txBody>
      </p:sp>
      <p:sp>
        <p:nvSpPr>
          <p:cNvPr id="10" name="Text 7"/>
          <p:cNvSpPr/>
          <p:nvPr/>
        </p:nvSpPr>
        <p:spPr>
          <a:xfrm>
            <a:off x="3949750" y="5085855"/>
            <a:ext cx="4673501"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This model allows for the calculation of the odds ratio (OR) for each independent variable, providing insights into the factors that influence a passenger's decision to travel again.</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1718965"/>
            <a:ext cx="443061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Odds Ratio Calculation</a:t>
            </a:r>
            <a:endParaRPr lang="en-US" sz="3100" dirty="0"/>
          </a:p>
        </p:txBody>
      </p:sp>
      <p:sp>
        <p:nvSpPr>
          <p:cNvPr id="5" name="Text 3"/>
          <p:cNvSpPr/>
          <p:nvPr/>
        </p:nvSpPr>
        <p:spPr>
          <a:xfrm>
            <a:off x="1273746" y="2667894"/>
            <a:ext cx="6596509" cy="296168"/>
          </a:xfrm>
          <a:prstGeom prst="rect">
            <a:avLst/>
          </a:prstGeom>
          <a:noFill/>
          <a:ln/>
        </p:spPr>
        <p:txBody>
          <a:bodyPr wrap="non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odds ratio (OR) for the logistic regression model can be calculated using the following equation:</a:t>
            </a:r>
            <a:endParaRPr lang="en-US" sz="1200" dirty="0"/>
          </a:p>
        </p:txBody>
      </p:sp>
      <p:sp>
        <p:nvSpPr>
          <p:cNvPr id="6" name="Shape 4"/>
          <p:cNvSpPr/>
          <p:nvPr/>
        </p:nvSpPr>
        <p:spPr>
          <a:xfrm>
            <a:off x="1273746" y="3172321"/>
            <a:ext cx="6596509" cy="869950"/>
          </a:xfrm>
          <a:prstGeom prst="roundRect">
            <a:avLst>
              <a:gd name="adj" fmla="val 9578"/>
            </a:avLst>
          </a:prstGeom>
          <a:solidFill>
            <a:srgbClr val="EEF6F3"/>
          </a:solidFill>
          <a:ln/>
        </p:spPr>
      </p:sp>
      <p:sp>
        <p:nvSpPr>
          <p:cNvPr id="7" name="Shape 5"/>
          <p:cNvSpPr/>
          <p:nvPr/>
        </p:nvSpPr>
        <p:spPr>
          <a:xfrm>
            <a:off x="1266825" y="3172321"/>
            <a:ext cx="6610350" cy="869950"/>
          </a:xfrm>
          <a:prstGeom prst="roundRect">
            <a:avLst>
              <a:gd name="adj" fmla="val 3193"/>
            </a:avLst>
          </a:prstGeom>
          <a:solidFill>
            <a:srgbClr val="EEF6F3"/>
          </a:solidFill>
          <a:ln/>
        </p:spPr>
      </p:sp>
      <p:sp>
        <p:nvSpPr>
          <p:cNvPr id="8" name="Text 6"/>
          <p:cNvSpPr/>
          <p:nvPr/>
        </p:nvSpPr>
        <p:spPr>
          <a:xfrm>
            <a:off x="1405682" y="3311129"/>
            <a:ext cx="6332637" cy="592336"/>
          </a:xfrm>
          <a:prstGeom prst="rect">
            <a:avLst/>
          </a:prstGeom>
          <a:noFill/>
          <a:ln/>
        </p:spPr>
        <p:txBody>
          <a:bodyPr wrap="square" lIns="64008" tIns="32004" rIns="64008" bIns="32004" rtlCol="0" anchor="t"/>
          <a:lstStyle/>
          <a:p>
            <a:pPr>
              <a:lnSpc>
                <a:spcPts val="1959"/>
              </a:lnSpc>
            </a:pPr>
            <a:r>
              <a:rPr lang="en-US" sz="1200" dirty="0">
                <a:solidFill>
                  <a:srgbClr val="3B4E4E"/>
                </a:solidFill>
                <a:highlight>
                  <a:srgbClr val="EEF6F3"/>
                </a:highlight>
                <a:latin typeface="Consolas" pitchFamily="34" charset="0"/>
                <a:ea typeface="Consolas" pitchFamily="34" charset="-122"/>
                <a:cs typeface="Consolas" pitchFamily="34" charset="-120"/>
              </a:rPr>
              <a:t>OR = exp(-0.33 - 0.667[MALE] - 1.204[PUBLIC] - 1.782[BUSINESS] - 3.522[RS. 2-3 LAKH] - 2.171[OWN] - 1.698[RARELY] - 3.106[ECONOMY] + 3.006[SELF])</a:t>
            </a:r>
            <a:endParaRPr lang="en-US" sz="1200" dirty="0"/>
          </a:p>
        </p:txBody>
      </p:sp>
      <p:sp>
        <p:nvSpPr>
          <p:cNvPr id="9" name="Text 7"/>
          <p:cNvSpPr/>
          <p:nvPr/>
        </p:nvSpPr>
        <p:spPr>
          <a:xfrm>
            <a:off x="1273746" y="4250532"/>
            <a:ext cx="6596509" cy="888504"/>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The odds ratio provides a measure of the association between each independent variable and the likelihood of a passenger choosing to travel again. Variables with an odds ratio greater than 1 are associated with an increased likelihood, while those with an odds ratio less than 1 are associated with a decreased likelihood.</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9786"/>
          </a:xfrm>
          <a:prstGeom prst="rect">
            <a:avLst/>
          </a:prstGeom>
          <a:solidFill>
            <a:srgbClr val="FFFDE6"/>
          </a:solidFill>
          <a:ln/>
        </p:spPr>
      </p:sp>
      <p:sp>
        <p:nvSpPr>
          <p:cNvPr id="4" name="Text 2"/>
          <p:cNvSpPr/>
          <p:nvPr/>
        </p:nvSpPr>
        <p:spPr>
          <a:xfrm>
            <a:off x="1637779" y="452933"/>
            <a:ext cx="5050780" cy="514747"/>
          </a:xfrm>
          <a:prstGeom prst="rect">
            <a:avLst/>
          </a:prstGeom>
          <a:noFill/>
          <a:ln/>
        </p:spPr>
        <p:txBody>
          <a:bodyPr wrap="none" lIns="64008" tIns="32004" rIns="64008" bIns="32004" rtlCol="0" anchor="t"/>
          <a:lstStyle/>
          <a:p>
            <a:pPr>
              <a:lnSpc>
                <a:spcPts val="3405"/>
              </a:lnSpc>
            </a:pPr>
            <a:r>
              <a:rPr lang="en-US" sz="2700" b="1" dirty="0">
                <a:solidFill>
                  <a:srgbClr val="233939"/>
                </a:solidFill>
                <a:latin typeface="Syne" pitchFamily="34" charset="0"/>
                <a:ea typeface="Syne" pitchFamily="34" charset="-122"/>
                <a:cs typeface="Syne" pitchFamily="34" charset="-120"/>
              </a:rPr>
              <a:t>Key Findings and Implications</a:t>
            </a:r>
            <a:endParaRPr lang="en-US" sz="2700" dirty="0"/>
          </a:p>
        </p:txBody>
      </p:sp>
      <p:pic>
        <p:nvPicPr>
          <p:cNvPr id="5" name="Image 0" descr="preencoded.png"/>
          <p:cNvPicPr>
            <a:picLocks noChangeAspect="1"/>
          </p:cNvPicPr>
          <p:nvPr/>
        </p:nvPicPr>
        <p:blipFill>
          <a:blip r:embed="rId3"/>
          <a:stretch>
            <a:fillRect/>
          </a:stretch>
        </p:blipFill>
        <p:spPr>
          <a:xfrm>
            <a:off x="1637780" y="1297087"/>
            <a:ext cx="1467073" cy="658813"/>
          </a:xfrm>
          <a:prstGeom prst="rect">
            <a:avLst/>
          </a:prstGeom>
        </p:spPr>
      </p:pic>
      <p:sp>
        <p:nvSpPr>
          <p:cNvPr id="6" name="Text 3"/>
          <p:cNvSpPr/>
          <p:nvPr/>
        </p:nvSpPr>
        <p:spPr>
          <a:xfrm>
            <a:off x="1761306" y="2202954"/>
            <a:ext cx="1220019" cy="514548"/>
          </a:xfrm>
          <a:prstGeom prst="rect">
            <a:avLst/>
          </a:prstGeom>
          <a:noFill/>
          <a:ln/>
        </p:spPr>
        <p:txBody>
          <a:bodyPr wrap="square" lIns="64008" tIns="32004" rIns="64008" bIns="32004" rtlCol="0" anchor="t"/>
          <a:lstStyle/>
          <a:p>
            <a:pPr>
              <a:lnSpc>
                <a:spcPts val="1702"/>
              </a:lnSpc>
            </a:pPr>
            <a:r>
              <a:rPr lang="en-US" sz="1400" b="1" dirty="0">
                <a:solidFill>
                  <a:srgbClr val="3B4E4E"/>
                </a:solidFill>
                <a:latin typeface="Syne" pitchFamily="34" charset="0"/>
                <a:ea typeface="Syne" pitchFamily="34" charset="-122"/>
                <a:cs typeface="Syne" pitchFamily="34" charset="-120"/>
              </a:rPr>
              <a:t>Gender and Profession</a:t>
            </a:r>
            <a:endParaRPr lang="en-US" sz="1400" dirty="0"/>
          </a:p>
        </p:txBody>
      </p:sp>
      <p:sp>
        <p:nvSpPr>
          <p:cNvPr id="7" name="Text 4"/>
          <p:cNvSpPr/>
          <p:nvPr/>
        </p:nvSpPr>
        <p:spPr>
          <a:xfrm>
            <a:off x="1761306" y="2816324"/>
            <a:ext cx="1220019" cy="2898775"/>
          </a:xfrm>
          <a:prstGeom prst="rect">
            <a:avLst/>
          </a:prstGeom>
          <a:noFill/>
          <a:ln/>
        </p:spPr>
        <p:txBody>
          <a:bodyPr wrap="square" lIns="64008" tIns="32004" rIns="64008" bIns="32004" rtlCol="0" anchor="t"/>
          <a:lstStyle/>
          <a:p>
            <a:pPr>
              <a:lnSpc>
                <a:spcPts val="1743"/>
              </a:lnSpc>
            </a:pPr>
            <a:r>
              <a:rPr lang="en-US" sz="1100" dirty="0">
                <a:solidFill>
                  <a:srgbClr val="3B4E4E"/>
                </a:solidFill>
                <a:latin typeface="Overpass" pitchFamily="34" charset="0"/>
                <a:ea typeface="Overpass" pitchFamily="34" charset="-122"/>
                <a:cs typeface="Overpass" pitchFamily="34" charset="-120"/>
              </a:rPr>
              <a:t>The odds of travelling again were lower for male passengers and those in the business profession, suggesting that airlines should tailor their services and marketing strategies to better cater to these segments.</a:t>
            </a:r>
            <a:endParaRPr lang="en-US" sz="1100" dirty="0"/>
          </a:p>
        </p:txBody>
      </p:sp>
      <p:pic>
        <p:nvPicPr>
          <p:cNvPr id="8" name="Image 1" descr="preencoded.png"/>
          <p:cNvPicPr>
            <a:picLocks noChangeAspect="1"/>
          </p:cNvPicPr>
          <p:nvPr/>
        </p:nvPicPr>
        <p:blipFill>
          <a:blip r:embed="rId4"/>
          <a:stretch>
            <a:fillRect/>
          </a:stretch>
        </p:blipFill>
        <p:spPr>
          <a:xfrm>
            <a:off x="3104853" y="1297087"/>
            <a:ext cx="1467073" cy="658813"/>
          </a:xfrm>
          <a:prstGeom prst="rect">
            <a:avLst/>
          </a:prstGeom>
        </p:spPr>
      </p:pic>
      <p:sp>
        <p:nvSpPr>
          <p:cNvPr id="9" name="Text 5"/>
          <p:cNvSpPr/>
          <p:nvPr/>
        </p:nvSpPr>
        <p:spPr>
          <a:xfrm>
            <a:off x="3228380" y="2202954"/>
            <a:ext cx="1220019" cy="771823"/>
          </a:xfrm>
          <a:prstGeom prst="rect">
            <a:avLst/>
          </a:prstGeom>
          <a:noFill/>
          <a:ln/>
        </p:spPr>
        <p:txBody>
          <a:bodyPr wrap="square" lIns="64008" tIns="32004" rIns="64008" bIns="32004" rtlCol="0" anchor="t"/>
          <a:lstStyle/>
          <a:p>
            <a:pPr>
              <a:lnSpc>
                <a:spcPts val="1702"/>
              </a:lnSpc>
            </a:pPr>
            <a:r>
              <a:rPr lang="en-US" sz="1400" b="1" dirty="0">
                <a:solidFill>
                  <a:srgbClr val="3B4E4E"/>
                </a:solidFill>
                <a:latin typeface="Syne" pitchFamily="34" charset="0"/>
                <a:ea typeface="Syne" pitchFamily="34" charset="-122"/>
                <a:cs typeface="Syne" pitchFamily="34" charset="-120"/>
              </a:rPr>
              <a:t>Income and Residential Status</a:t>
            </a:r>
            <a:endParaRPr lang="en-US" sz="1400" dirty="0"/>
          </a:p>
        </p:txBody>
      </p:sp>
      <p:sp>
        <p:nvSpPr>
          <p:cNvPr id="10" name="Text 6"/>
          <p:cNvSpPr/>
          <p:nvPr/>
        </p:nvSpPr>
        <p:spPr>
          <a:xfrm>
            <a:off x="3228380" y="3073598"/>
            <a:ext cx="1220019" cy="2898775"/>
          </a:xfrm>
          <a:prstGeom prst="rect">
            <a:avLst/>
          </a:prstGeom>
          <a:noFill/>
          <a:ln/>
        </p:spPr>
        <p:txBody>
          <a:bodyPr wrap="square" lIns="64008" tIns="32004" rIns="64008" bIns="32004" rtlCol="0" anchor="t"/>
          <a:lstStyle/>
          <a:p>
            <a:pPr>
              <a:lnSpc>
                <a:spcPts val="1743"/>
              </a:lnSpc>
            </a:pPr>
            <a:r>
              <a:rPr lang="en-US" sz="1100" dirty="0">
                <a:solidFill>
                  <a:srgbClr val="3B4E4E"/>
                </a:solidFill>
                <a:latin typeface="Overpass" pitchFamily="34" charset="0"/>
                <a:ea typeface="Overpass" pitchFamily="34" charset="-122"/>
                <a:cs typeface="Overpass" pitchFamily="34" charset="-120"/>
              </a:rPr>
              <a:t>Passengers with a monthly income between Rs. 2-3 Lakh and those who own their residences were less likely to travel again, indicating potential areas for improvement in service quality and value proposition.</a:t>
            </a:r>
            <a:endParaRPr lang="en-US" sz="1100" dirty="0"/>
          </a:p>
        </p:txBody>
      </p:sp>
      <p:pic>
        <p:nvPicPr>
          <p:cNvPr id="11" name="Image 2" descr="preencoded.png"/>
          <p:cNvPicPr>
            <a:picLocks noChangeAspect="1"/>
          </p:cNvPicPr>
          <p:nvPr/>
        </p:nvPicPr>
        <p:blipFill>
          <a:blip r:embed="rId5"/>
          <a:stretch>
            <a:fillRect/>
          </a:stretch>
        </p:blipFill>
        <p:spPr>
          <a:xfrm>
            <a:off x="4571926" y="1297087"/>
            <a:ext cx="1467073" cy="658813"/>
          </a:xfrm>
          <a:prstGeom prst="rect">
            <a:avLst/>
          </a:prstGeom>
        </p:spPr>
      </p:pic>
      <p:sp>
        <p:nvSpPr>
          <p:cNvPr id="12" name="Text 7"/>
          <p:cNvSpPr/>
          <p:nvPr/>
        </p:nvSpPr>
        <p:spPr>
          <a:xfrm>
            <a:off x="4695453" y="2202954"/>
            <a:ext cx="1220019" cy="771823"/>
          </a:xfrm>
          <a:prstGeom prst="rect">
            <a:avLst/>
          </a:prstGeom>
          <a:noFill/>
          <a:ln/>
        </p:spPr>
        <p:txBody>
          <a:bodyPr wrap="square" lIns="64008" tIns="32004" rIns="64008" bIns="32004" rtlCol="0" anchor="t"/>
          <a:lstStyle/>
          <a:p>
            <a:pPr>
              <a:lnSpc>
                <a:spcPts val="1702"/>
              </a:lnSpc>
            </a:pPr>
            <a:r>
              <a:rPr lang="en-US" sz="1400" b="1" dirty="0">
                <a:solidFill>
                  <a:srgbClr val="3B4E4E"/>
                </a:solidFill>
                <a:latin typeface="Syne" pitchFamily="34" charset="0"/>
                <a:ea typeface="Syne" pitchFamily="34" charset="-122"/>
                <a:cs typeface="Syne" pitchFamily="34" charset="-120"/>
              </a:rPr>
              <a:t>Travel Frequency and Class</a:t>
            </a:r>
            <a:endParaRPr lang="en-US" sz="1400" dirty="0"/>
          </a:p>
        </p:txBody>
      </p:sp>
      <p:sp>
        <p:nvSpPr>
          <p:cNvPr id="13" name="Text 8"/>
          <p:cNvSpPr/>
          <p:nvPr/>
        </p:nvSpPr>
        <p:spPr>
          <a:xfrm>
            <a:off x="4695453" y="3073598"/>
            <a:ext cx="1220019" cy="2898775"/>
          </a:xfrm>
          <a:prstGeom prst="rect">
            <a:avLst/>
          </a:prstGeom>
          <a:noFill/>
          <a:ln/>
        </p:spPr>
        <p:txBody>
          <a:bodyPr wrap="square" lIns="64008" tIns="32004" rIns="64008" bIns="32004" rtlCol="0" anchor="t"/>
          <a:lstStyle/>
          <a:p>
            <a:pPr>
              <a:lnSpc>
                <a:spcPts val="1743"/>
              </a:lnSpc>
            </a:pPr>
            <a:r>
              <a:rPr lang="en-US" sz="1100" dirty="0">
                <a:solidFill>
                  <a:srgbClr val="3B4E4E"/>
                </a:solidFill>
                <a:latin typeface="Overpass" pitchFamily="34" charset="0"/>
                <a:ea typeface="Overpass" pitchFamily="34" charset="-122"/>
                <a:cs typeface="Overpass" pitchFamily="34" charset="-120"/>
              </a:rPr>
              <a:t>Passengers who travelled rarely and those who travelled in the economy class were less likely to choose to travel again, highlighting the need for airlines to enhance the overall experience for these segments.</a:t>
            </a:r>
            <a:endParaRPr lang="en-US" sz="1100" dirty="0"/>
          </a:p>
        </p:txBody>
      </p:sp>
      <p:pic>
        <p:nvPicPr>
          <p:cNvPr id="14" name="Image 3" descr="preencoded.png"/>
          <p:cNvPicPr>
            <a:picLocks noChangeAspect="1"/>
          </p:cNvPicPr>
          <p:nvPr/>
        </p:nvPicPr>
        <p:blipFill>
          <a:blip r:embed="rId6"/>
          <a:stretch>
            <a:fillRect/>
          </a:stretch>
        </p:blipFill>
        <p:spPr>
          <a:xfrm>
            <a:off x="6038999" y="1297087"/>
            <a:ext cx="1467148" cy="658813"/>
          </a:xfrm>
          <a:prstGeom prst="rect">
            <a:avLst/>
          </a:prstGeom>
        </p:spPr>
      </p:pic>
      <p:sp>
        <p:nvSpPr>
          <p:cNvPr id="15" name="Text 9"/>
          <p:cNvSpPr/>
          <p:nvPr/>
        </p:nvSpPr>
        <p:spPr>
          <a:xfrm>
            <a:off x="6162527" y="2202954"/>
            <a:ext cx="1220093" cy="514548"/>
          </a:xfrm>
          <a:prstGeom prst="rect">
            <a:avLst/>
          </a:prstGeom>
          <a:noFill/>
          <a:ln/>
        </p:spPr>
        <p:txBody>
          <a:bodyPr wrap="square" lIns="64008" tIns="32004" rIns="64008" bIns="32004" rtlCol="0" anchor="t"/>
          <a:lstStyle/>
          <a:p>
            <a:pPr>
              <a:lnSpc>
                <a:spcPts val="1702"/>
              </a:lnSpc>
            </a:pPr>
            <a:r>
              <a:rPr lang="en-US" sz="1400" b="1" dirty="0">
                <a:solidFill>
                  <a:srgbClr val="3B4E4E"/>
                </a:solidFill>
                <a:latin typeface="Syne" pitchFamily="34" charset="0"/>
                <a:ea typeface="Syne" pitchFamily="34" charset="-122"/>
                <a:cs typeface="Syne" pitchFamily="34" charset="-120"/>
              </a:rPr>
              <a:t>Choice for Travel</a:t>
            </a:r>
            <a:endParaRPr lang="en-US" sz="1400" dirty="0"/>
          </a:p>
        </p:txBody>
      </p:sp>
      <p:sp>
        <p:nvSpPr>
          <p:cNvPr id="16" name="Text 10"/>
          <p:cNvSpPr/>
          <p:nvPr/>
        </p:nvSpPr>
        <p:spPr>
          <a:xfrm>
            <a:off x="6162527" y="2816324"/>
            <a:ext cx="1220093" cy="3425825"/>
          </a:xfrm>
          <a:prstGeom prst="rect">
            <a:avLst/>
          </a:prstGeom>
          <a:noFill/>
          <a:ln/>
        </p:spPr>
        <p:txBody>
          <a:bodyPr wrap="square" lIns="64008" tIns="32004" rIns="64008" bIns="32004" rtlCol="0" anchor="t"/>
          <a:lstStyle/>
          <a:p>
            <a:pPr>
              <a:lnSpc>
                <a:spcPts val="1743"/>
              </a:lnSpc>
            </a:pPr>
            <a:r>
              <a:rPr lang="en-US" sz="1100" dirty="0">
                <a:solidFill>
                  <a:srgbClr val="3B4E4E"/>
                </a:solidFill>
                <a:latin typeface="Overpass" pitchFamily="34" charset="0"/>
                <a:ea typeface="Overpass" pitchFamily="34" charset="-122"/>
                <a:cs typeface="Overpass" pitchFamily="34" charset="-120"/>
              </a:rPr>
              <a:t>Passengers who decided to travel by themselves were significantly more likely to travel again, suggesting that airlines should focus on empowering passengers and providing them with greater control over their travel experiences.</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65640"/>
          </a:xfrm>
          <a:prstGeom prst="rect">
            <a:avLst/>
          </a:prstGeom>
          <a:solidFill>
            <a:srgbClr val="FFFDE6"/>
          </a:solidFill>
          <a:ln/>
        </p:spPr>
      </p:sp>
      <p:sp>
        <p:nvSpPr>
          <p:cNvPr id="4" name="Text 2"/>
          <p:cNvSpPr/>
          <p:nvPr/>
        </p:nvSpPr>
        <p:spPr>
          <a:xfrm>
            <a:off x="2105174" y="380802"/>
            <a:ext cx="4730502" cy="432793"/>
          </a:xfrm>
          <a:prstGeom prst="rect">
            <a:avLst/>
          </a:prstGeom>
          <a:noFill/>
          <a:ln/>
        </p:spPr>
        <p:txBody>
          <a:bodyPr wrap="none" lIns="64008" tIns="32004" rIns="64008" bIns="32004" rtlCol="0" anchor="t"/>
          <a:lstStyle/>
          <a:p>
            <a:pPr>
              <a:lnSpc>
                <a:spcPts val="2862"/>
              </a:lnSpc>
            </a:pPr>
            <a:r>
              <a:rPr lang="en-US" sz="2300" b="1" dirty="0">
                <a:solidFill>
                  <a:srgbClr val="233939"/>
                </a:solidFill>
                <a:latin typeface="Syne" pitchFamily="34" charset="0"/>
                <a:ea typeface="Syne" pitchFamily="34" charset="-122"/>
                <a:cs typeface="Syne" pitchFamily="34" charset="-120"/>
              </a:rPr>
              <a:t>Conclusion and Future Directions</a:t>
            </a:r>
            <a:endParaRPr lang="en-US" sz="2300" dirty="0"/>
          </a:p>
        </p:txBody>
      </p:sp>
      <p:sp>
        <p:nvSpPr>
          <p:cNvPr id="5" name="Text 3"/>
          <p:cNvSpPr/>
          <p:nvPr/>
        </p:nvSpPr>
        <p:spPr>
          <a:xfrm>
            <a:off x="2105174" y="1090513"/>
            <a:ext cx="4933653" cy="886222"/>
          </a:xfrm>
          <a:prstGeom prst="rect">
            <a:avLst/>
          </a:prstGeom>
          <a:noFill/>
          <a:ln/>
        </p:spPr>
        <p:txBody>
          <a:bodyPr wrap="square" lIns="64008" tIns="32004" rIns="64008" bIns="32004" rtlCol="0" anchor="t"/>
          <a:lstStyle/>
          <a:p>
            <a:pPr>
              <a:lnSpc>
                <a:spcPts val="1466"/>
              </a:lnSpc>
            </a:pPr>
            <a:r>
              <a:rPr lang="en-US" sz="900" dirty="0">
                <a:solidFill>
                  <a:srgbClr val="3B4E4E"/>
                </a:solidFill>
                <a:latin typeface="Overpass" pitchFamily="34" charset="0"/>
                <a:ea typeface="Overpass" pitchFamily="34" charset="-122"/>
                <a:cs typeface="Overpass" pitchFamily="34" charset="-120"/>
              </a:rPr>
              <a:t>This study has provided valuable insights into the factors influencing passenger choice to travel again with Indian airlines. By identifying the significant socio-economic and demographic characteristics that impact this decision, airlines can develop targeted strategies to enhance passenger satisfaction, loyalty, and overall experience.</a:t>
            </a:r>
            <a:endParaRPr lang="en-US" sz="900" dirty="0"/>
          </a:p>
        </p:txBody>
      </p:sp>
      <p:sp>
        <p:nvSpPr>
          <p:cNvPr id="6" name="Text 4"/>
          <p:cNvSpPr/>
          <p:nvPr/>
        </p:nvSpPr>
        <p:spPr>
          <a:xfrm>
            <a:off x="2105174" y="2132508"/>
            <a:ext cx="4933653" cy="886222"/>
          </a:xfrm>
          <a:prstGeom prst="rect">
            <a:avLst/>
          </a:prstGeom>
          <a:noFill/>
          <a:ln/>
        </p:spPr>
        <p:txBody>
          <a:bodyPr wrap="square" lIns="64008" tIns="32004" rIns="64008" bIns="32004" rtlCol="0" anchor="t"/>
          <a:lstStyle/>
          <a:p>
            <a:pPr>
              <a:lnSpc>
                <a:spcPts val="1466"/>
              </a:lnSpc>
            </a:pPr>
            <a:endParaRPr lang="en-US" sz="900" dirty="0"/>
          </a:p>
        </p:txBody>
      </p:sp>
      <p:sp>
        <p:nvSpPr>
          <p:cNvPr id="7" name="Shape 5"/>
          <p:cNvSpPr/>
          <p:nvPr/>
        </p:nvSpPr>
        <p:spPr>
          <a:xfrm>
            <a:off x="2128869" y="2259906"/>
            <a:ext cx="2414959" cy="1475184"/>
          </a:xfrm>
          <a:prstGeom prst="roundRect">
            <a:avLst>
              <a:gd name="adj" fmla="val 4225"/>
            </a:avLst>
          </a:prstGeom>
          <a:solidFill>
            <a:srgbClr val="DDEEE6"/>
          </a:solidFill>
          <a:ln w="7620">
            <a:solidFill>
              <a:srgbClr val="C3D4CC"/>
            </a:solidFill>
            <a:prstDash val="solid"/>
          </a:ln>
        </p:spPr>
      </p:sp>
      <p:sp>
        <p:nvSpPr>
          <p:cNvPr id="8" name="Text 6"/>
          <p:cNvSpPr/>
          <p:nvPr/>
        </p:nvSpPr>
        <p:spPr>
          <a:xfrm>
            <a:off x="2213743" y="2359224"/>
            <a:ext cx="1298302" cy="216396"/>
          </a:xfrm>
          <a:prstGeom prst="rect">
            <a:avLst/>
          </a:prstGeom>
          <a:noFill/>
          <a:ln/>
        </p:spPr>
        <p:txBody>
          <a:bodyPr wrap="none" lIns="64008" tIns="32004" rIns="64008" bIns="32004" rtlCol="0" anchor="t"/>
          <a:lstStyle/>
          <a:p>
            <a:pPr>
              <a:lnSpc>
                <a:spcPts val="1432"/>
              </a:lnSpc>
            </a:pPr>
            <a:r>
              <a:rPr lang="en-US" sz="1100" b="1" dirty="0">
                <a:solidFill>
                  <a:srgbClr val="3B4E4E"/>
                </a:solidFill>
                <a:latin typeface="Syne" pitchFamily="34" charset="0"/>
                <a:ea typeface="Syne" pitchFamily="34" charset="-122"/>
                <a:cs typeface="Syne" pitchFamily="34" charset="-120"/>
              </a:rPr>
              <a:t>Personalization</a:t>
            </a:r>
            <a:endParaRPr lang="en-US" sz="1100" dirty="0"/>
          </a:p>
        </p:txBody>
      </p:sp>
      <p:sp>
        <p:nvSpPr>
          <p:cNvPr id="9" name="Text 7"/>
          <p:cNvSpPr/>
          <p:nvPr/>
        </p:nvSpPr>
        <p:spPr>
          <a:xfrm>
            <a:off x="2213744" y="2624137"/>
            <a:ext cx="2197819" cy="886222"/>
          </a:xfrm>
          <a:prstGeom prst="rect">
            <a:avLst/>
          </a:prstGeom>
          <a:noFill/>
          <a:ln/>
        </p:spPr>
        <p:txBody>
          <a:bodyPr wrap="square" lIns="64008" tIns="32004" rIns="64008" bIns="32004" rtlCol="0" anchor="t"/>
          <a:lstStyle/>
          <a:p>
            <a:pPr>
              <a:lnSpc>
                <a:spcPts val="1466"/>
              </a:lnSpc>
            </a:pPr>
            <a:r>
              <a:rPr lang="en-US" sz="900" dirty="0">
                <a:solidFill>
                  <a:srgbClr val="3B4E4E"/>
                </a:solidFill>
                <a:latin typeface="Overpass" pitchFamily="34" charset="0"/>
                <a:ea typeface="Overpass" pitchFamily="34" charset="-122"/>
                <a:cs typeface="Overpass" pitchFamily="34" charset="-120"/>
              </a:rPr>
              <a:t>Tailor services and marketing strategies to specific passenger segments based on their socio-economic and demographic characteristics.</a:t>
            </a:r>
            <a:endParaRPr lang="en-US" sz="900" dirty="0"/>
          </a:p>
        </p:txBody>
      </p:sp>
      <p:sp>
        <p:nvSpPr>
          <p:cNvPr id="10" name="Shape 8"/>
          <p:cNvSpPr/>
          <p:nvPr/>
        </p:nvSpPr>
        <p:spPr>
          <a:xfrm>
            <a:off x="4647562" y="2284959"/>
            <a:ext cx="2414959" cy="1475184"/>
          </a:xfrm>
          <a:prstGeom prst="roundRect">
            <a:avLst>
              <a:gd name="adj" fmla="val 4225"/>
            </a:avLst>
          </a:prstGeom>
          <a:solidFill>
            <a:srgbClr val="DDEEE6"/>
          </a:solidFill>
          <a:ln w="7620">
            <a:solidFill>
              <a:srgbClr val="C3D4CC"/>
            </a:solidFill>
            <a:prstDash val="solid"/>
          </a:ln>
        </p:spPr>
      </p:sp>
      <p:sp>
        <p:nvSpPr>
          <p:cNvPr id="11" name="Text 9"/>
          <p:cNvSpPr/>
          <p:nvPr/>
        </p:nvSpPr>
        <p:spPr>
          <a:xfrm>
            <a:off x="4761400" y="2424504"/>
            <a:ext cx="1862212" cy="216396"/>
          </a:xfrm>
          <a:prstGeom prst="rect">
            <a:avLst/>
          </a:prstGeom>
          <a:noFill/>
          <a:ln/>
        </p:spPr>
        <p:txBody>
          <a:bodyPr wrap="none" lIns="64008" tIns="32004" rIns="64008" bIns="32004" rtlCol="0" anchor="t"/>
          <a:lstStyle/>
          <a:p>
            <a:pPr>
              <a:lnSpc>
                <a:spcPts val="1432"/>
              </a:lnSpc>
            </a:pPr>
            <a:r>
              <a:rPr lang="en-US" sz="1100" b="1" dirty="0">
                <a:solidFill>
                  <a:srgbClr val="3B4E4E"/>
                </a:solidFill>
                <a:latin typeface="Syne" pitchFamily="34" charset="0"/>
                <a:ea typeface="Syne" pitchFamily="34" charset="-122"/>
                <a:cs typeface="Syne" pitchFamily="34" charset="-120"/>
              </a:rPr>
              <a:t>Experience Enhancement</a:t>
            </a:r>
            <a:endParaRPr lang="en-US" sz="1100" dirty="0"/>
          </a:p>
        </p:txBody>
      </p:sp>
      <p:sp>
        <p:nvSpPr>
          <p:cNvPr id="12" name="Text 10"/>
          <p:cNvSpPr/>
          <p:nvPr/>
        </p:nvSpPr>
        <p:spPr>
          <a:xfrm>
            <a:off x="4732438" y="2711766"/>
            <a:ext cx="2197819" cy="886222"/>
          </a:xfrm>
          <a:prstGeom prst="rect">
            <a:avLst/>
          </a:prstGeom>
          <a:noFill/>
          <a:ln/>
        </p:spPr>
        <p:txBody>
          <a:bodyPr wrap="square" lIns="64008" tIns="32004" rIns="64008" bIns="32004" rtlCol="0" anchor="t"/>
          <a:lstStyle/>
          <a:p>
            <a:pPr>
              <a:lnSpc>
                <a:spcPts val="1466"/>
              </a:lnSpc>
            </a:pPr>
            <a:r>
              <a:rPr lang="en-US" sz="900" dirty="0">
                <a:solidFill>
                  <a:srgbClr val="3B4E4E"/>
                </a:solidFill>
                <a:latin typeface="Overpass" pitchFamily="34" charset="0"/>
                <a:ea typeface="Overpass" pitchFamily="34" charset="-122"/>
                <a:cs typeface="Overpass" pitchFamily="34" charset="-120"/>
              </a:rPr>
              <a:t>Improve the overall travel experience for segments with lower likelihood of travelling again, such as economy class passengers and those who travel rarely.</a:t>
            </a:r>
            <a:endParaRPr lang="en-US" sz="900" dirty="0"/>
          </a:p>
        </p:txBody>
      </p:sp>
      <p:sp>
        <p:nvSpPr>
          <p:cNvPr id="13" name="Shape 11"/>
          <p:cNvSpPr/>
          <p:nvPr/>
        </p:nvSpPr>
        <p:spPr>
          <a:xfrm>
            <a:off x="2128869" y="4337531"/>
            <a:ext cx="2414959" cy="1696740"/>
          </a:xfrm>
          <a:prstGeom prst="roundRect">
            <a:avLst>
              <a:gd name="adj" fmla="val 3673"/>
            </a:avLst>
          </a:prstGeom>
          <a:solidFill>
            <a:srgbClr val="DDEEE6"/>
          </a:solidFill>
          <a:ln w="7620">
            <a:solidFill>
              <a:srgbClr val="C3D4CC"/>
            </a:solidFill>
            <a:prstDash val="solid"/>
          </a:ln>
        </p:spPr>
      </p:sp>
      <p:sp>
        <p:nvSpPr>
          <p:cNvPr id="14" name="Text 12"/>
          <p:cNvSpPr/>
          <p:nvPr/>
        </p:nvSpPr>
        <p:spPr>
          <a:xfrm>
            <a:off x="2213744" y="4497984"/>
            <a:ext cx="1298302" cy="216396"/>
          </a:xfrm>
          <a:prstGeom prst="rect">
            <a:avLst/>
          </a:prstGeom>
          <a:noFill/>
          <a:ln/>
        </p:spPr>
        <p:txBody>
          <a:bodyPr wrap="none" lIns="64008" tIns="32004" rIns="64008" bIns="32004" rtlCol="0" anchor="t"/>
          <a:lstStyle/>
          <a:p>
            <a:pPr>
              <a:lnSpc>
                <a:spcPts val="1432"/>
              </a:lnSpc>
            </a:pPr>
            <a:r>
              <a:rPr lang="en-US" sz="1100" b="1" dirty="0">
                <a:solidFill>
                  <a:srgbClr val="3B4E4E"/>
                </a:solidFill>
                <a:latin typeface="Syne" pitchFamily="34" charset="0"/>
                <a:ea typeface="Syne" pitchFamily="34" charset="-122"/>
                <a:cs typeface="Syne" pitchFamily="34" charset="-120"/>
              </a:rPr>
              <a:t>Empowerment</a:t>
            </a:r>
            <a:endParaRPr lang="en-US" sz="1100" dirty="0"/>
          </a:p>
        </p:txBody>
      </p:sp>
      <p:sp>
        <p:nvSpPr>
          <p:cNvPr id="15" name="Text 13"/>
          <p:cNvSpPr/>
          <p:nvPr/>
        </p:nvSpPr>
        <p:spPr>
          <a:xfrm>
            <a:off x="2213744" y="4762932"/>
            <a:ext cx="2197819" cy="1107778"/>
          </a:xfrm>
          <a:prstGeom prst="rect">
            <a:avLst/>
          </a:prstGeom>
          <a:noFill/>
          <a:ln/>
        </p:spPr>
        <p:txBody>
          <a:bodyPr wrap="square" lIns="64008" tIns="32004" rIns="64008" bIns="32004" rtlCol="0" anchor="t"/>
          <a:lstStyle/>
          <a:p>
            <a:pPr>
              <a:lnSpc>
                <a:spcPts val="1466"/>
              </a:lnSpc>
            </a:pPr>
            <a:r>
              <a:rPr lang="en-US" sz="900" dirty="0">
                <a:solidFill>
                  <a:srgbClr val="3B4E4E"/>
                </a:solidFill>
                <a:latin typeface="Overpass" pitchFamily="34" charset="0"/>
                <a:ea typeface="Overpass" pitchFamily="34" charset="-122"/>
                <a:cs typeface="Overpass" pitchFamily="34" charset="-120"/>
              </a:rPr>
              <a:t>Empower passengers by providing them with greater control and choice over their travel experiences, as passengers who decided to travel by themselves were more likely to travel again.</a:t>
            </a:r>
            <a:endParaRPr lang="en-US" sz="900" dirty="0"/>
          </a:p>
        </p:txBody>
      </p:sp>
      <p:sp>
        <p:nvSpPr>
          <p:cNvPr id="16" name="Shape 14"/>
          <p:cNvSpPr/>
          <p:nvPr/>
        </p:nvSpPr>
        <p:spPr>
          <a:xfrm>
            <a:off x="4623942" y="4358289"/>
            <a:ext cx="2414959" cy="1696740"/>
          </a:xfrm>
          <a:prstGeom prst="roundRect">
            <a:avLst>
              <a:gd name="adj" fmla="val 3673"/>
            </a:avLst>
          </a:prstGeom>
          <a:solidFill>
            <a:srgbClr val="DDEEE6"/>
          </a:solidFill>
          <a:ln w="7620">
            <a:solidFill>
              <a:srgbClr val="C3D4CC"/>
            </a:solidFill>
            <a:prstDash val="solid"/>
          </a:ln>
        </p:spPr>
        <p:txBody>
          <a:bodyPr lIns="64008" tIns="32004" rIns="64008" bIns="32004"/>
          <a:lstStyle/>
          <a:p>
            <a:endParaRPr lang="en-IN" dirty="0"/>
          </a:p>
        </p:txBody>
      </p:sp>
      <p:sp>
        <p:nvSpPr>
          <p:cNvPr id="17" name="Text 15"/>
          <p:cNvSpPr/>
          <p:nvPr/>
        </p:nvSpPr>
        <p:spPr>
          <a:xfrm>
            <a:off x="4732438" y="4546536"/>
            <a:ext cx="1822921" cy="216396"/>
          </a:xfrm>
          <a:prstGeom prst="rect">
            <a:avLst/>
          </a:prstGeom>
          <a:noFill/>
          <a:ln/>
        </p:spPr>
        <p:txBody>
          <a:bodyPr wrap="none" lIns="64008" tIns="32004" rIns="64008" bIns="32004" rtlCol="0" anchor="t"/>
          <a:lstStyle/>
          <a:p>
            <a:pPr>
              <a:lnSpc>
                <a:spcPts val="1432"/>
              </a:lnSpc>
            </a:pPr>
            <a:r>
              <a:rPr lang="en-US" sz="1100" b="1" dirty="0">
                <a:solidFill>
                  <a:srgbClr val="3B4E4E"/>
                </a:solidFill>
                <a:latin typeface="Syne" pitchFamily="34" charset="0"/>
                <a:ea typeface="Syne" pitchFamily="34" charset="-122"/>
                <a:cs typeface="Syne" pitchFamily="34" charset="-120"/>
              </a:rPr>
              <a:t>Continuous Improvement</a:t>
            </a:r>
            <a:endParaRPr lang="en-US" sz="1100" dirty="0"/>
          </a:p>
        </p:txBody>
      </p:sp>
      <p:sp>
        <p:nvSpPr>
          <p:cNvPr id="18" name="Text 16"/>
          <p:cNvSpPr/>
          <p:nvPr/>
        </p:nvSpPr>
        <p:spPr>
          <a:xfrm>
            <a:off x="4732437" y="4798155"/>
            <a:ext cx="2197819" cy="886222"/>
          </a:xfrm>
          <a:prstGeom prst="rect">
            <a:avLst/>
          </a:prstGeom>
          <a:noFill/>
          <a:ln/>
        </p:spPr>
        <p:txBody>
          <a:bodyPr wrap="square" lIns="64008" tIns="32004" rIns="64008" bIns="32004" rtlCol="0" anchor="t"/>
          <a:lstStyle/>
          <a:p>
            <a:pPr>
              <a:lnSpc>
                <a:spcPts val="1466"/>
              </a:lnSpc>
            </a:pPr>
            <a:r>
              <a:rPr lang="en-US" sz="900" dirty="0">
                <a:solidFill>
                  <a:srgbClr val="3B4E4E"/>
                </a:solidFill>
                <a:latin typeface="Overpass" pitchFamily="34" charset="0"/>
                <a:ea typeface="Overpass" pitchFamily="34" charset="-122"/>
                <a:cs typeface="Overpass" pitchFamily="34" charset="-120"/>
              </a:rPr>
              <a:t>Continuously monitor and adapt strategies based on changing passenger preferences and behavior through ongoing research and analysis.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143500"/>
          </a:xfrm>
          <a:prstGeom prst="rect">
            <a:avLst/>
          </a:prstGeom>
          <a:solidFill>
            <a:srgbClr val="F9F4BE"/>
          </a:solidFill>
          <a:ln/>
        </p:spPr>
      </p:sp>
      <p:sp>
        <p:nvSpPr>
          <p:cNvPr id="3" name="Shape 1"/>
          <p:cNvSpPr/>
          <p:nvPr/>
        </p:nvSpPr>
        <p:spPr>
          <a:xfrm>
            <a:off x="-180528" y="44624"/>
            <a:ext cx="9721080" cy="6813376"/>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5715000" y="857250"/>
            <a:ext cx="3429000" cy="5143500"/>
          </a:xfrm>
          <a:prstGeom prst="rect">
            <a:avLst/>
          </a:prstGeom>
        </p:spPr>
      </p:pic>
      <p:sp>
        <p:nvSpPr>
          <p:cNvPr id="5" name="Text 2"/>
          <p:cNvSpPr/>
          <p:nvPr/>
        </p:nvSpPr>
        <p:spPr>
          <a:xfrm>
            <a:off x="520750" y="1560538"/>
            <a:ext cx="4673501" cy="1796653"/>
          </a:xfrm>
          <a:prstGeom prst="rect">
            <a:avLst/>
          </a:prstGeom>
          <a:noFill/>
          <a:ln/>
        </p:spPr>
        <p:txBody>
          <a:bodyPr wrap="square" rtlCol="0" anchor="t"/>
          <a:lstStyle/>
          <a:p>
            <a:pPr>
              <a:lnSpc>
                <a:spcPts val="4716"/>
              </a:lnSpc>
            </a:pPr>
            <a:r>
              <a:rPr lang="en-US" sz="3773" b="1" dirty="0">
                <a:solidFill>
                  <a:srgbClr val="233939"/>
                </a:solidFill>
                <a:latin typeface="Syne" pitchFamily="34" charset="0"/>
                <a:ea typeface="Syne" pitchFamily="34" charset="-122"/>
                <a:cs typeface="Syne" pitchFamily="34" charset="-120"/>
              </a:rPr>
              <a:t>Sentiment Analysis of Airline Passengers</a:t>
            </a:r>
            <a:endParaRPr lang="en-US" sz="3773" dirty="0"/>
          </a:p>
        </p:txBody>
      </p:sp>
      <p:sp>
        <p:nvSpPr>
          <p:cNvPr id="6" name="Text 3"/>
          <p:cNvSpPr/>
          <p:nvPr/>
        </p:nvSpPr>
        <p:spPr>
          <a:xfrm>
            <a:off x="520750" y="3565476"/>
            <a:ext cx="4673501" cy="1332756"/>
          </a:xfrm>
          <a:prstGeom prst="rect">
            <a:avLst/>
          </a:prstGeom>
          <a:noFill/>
          <a:ln/>
        </p:spPr>
        <p:txBody>
          <a:bodyPr wrap="square" rtlCol="0" anchor="t"/>
          <a:lstStyle/>
          <a:p>
            <a:pPr>
              <a:lnSpc>
                <a:spcPts val="1749"/>
              </a:lnSpc>
            </a:pPr>
            <a:r>
              <a:rPr lang="en-US" sz="1094" dirty="0">
                <a:solidFill>
                  <a:srgbClr val="3B4E4E"/>
                </a:solidFill>
                <a:latin typeface="Overpass" pitchFamily="34" charset="0"/>
                <a:ea typeface="Overpass" pitchFamily="34" charset="-122"/>
                <a:cs typeface="Overpass" pitchFamily="34" charset="-120"/>
              </a:rPr>
              <a:t>In an effort to understand the overall emotion and satisfaction of passengers travelling with Indian Airlines, a study was conducted that included an open-ended question asking for "Any additional comments or suggestions". This allowed respondents to freely share their travel experiences. The responses to this question were then analyzed using sentiment analysis techniques to gauge the overall sentiment and tone.</a:t>
            </a:r>
            <a:endParaRPr lang="en-US" sz="1094" dirty="0"/>
          </a:p>
        </p:txBody>
      </p:sp>
      <p:sp>
        <p:nvSpPr>
          <p:cNvPr id="7" name="Shape 4"/>
          <p:cNvSpPr/>
          <p:nvPr/>
        </p:nvSpPr>
        <p:spPr>
          <a:xfrm>
            <a:off x="520750" y="5064845"/>
            <a:ext cx="222126" cy="222126"/>
          </a:xfrm>
          <a:prstGeom prst="roundRect">
            <a:avLst>
              <a:gd name="adj" fmla="val 25726039"/>
            </a:avLst>
          </a:prstGeom>
          <a:noFill/>
          <a:ln w="7620">
            <a:solidFill>
              <a:srgbClr val="FFFFFF"/>
            </a:solidFill>
            <a:prstDash val="solid"/>
          </a:ln>
        </p:spPr>
      </p:sp>
      <p:sp>
        <p:nvSpPr>
          <p:cNvPr id="9" name="Text 5"/>
          <p:cNvSpPr/>
          <p:nvPr/>
        </p:nvSpPr>
        <p:spPr>
          <a:xfrm>
            <a:off x="812304" y="5054426"/>
            <a:ext cx="1231851" cy="243036"/>
          </a:xfrm>
          <a:prstGeom prst="rect">
            <a:avLst/>
          </a:prstGeom>
          <a:noFill/>
          <a:ln/>
        </p:spPr>
        <p:txBody>
          <a:bodyPr wrap="none" rtlCol="0" anchor="t"/>
          <a:lstStyle/>
          <a:p>
            <a:pPr>
              <a:lnSpc>
                <a:spcPts val="1914"/>
              </a:lnSpc>
            </a:pPr>
            <a:endParaRPr lang="en-US" sz="1367"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6" y="917774"/>
            <a:ext cx="3621435"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cs typeface="Syne" pitchFamily="34" charset="-120"/>
              </a:rPr>
              <a:t>Sentiment Analysis</a:t>
            </a:r>
            <a:endParaRPr lang="en-US" sz="3100" dirty="0"/>
          </a:p>
        </p:txBody>
      </p:sp>
      <p:sp>
        <p:nvSpPr>
          <p:cNvPr id="5" name="Shape 3"/>
          <p:cNvSpPr/>
          <p:nvPr/>
        </p:nvSpPr>
        <p:spPr>
          <a:xfrm>
            <a:off x="4558159" y="1866702"/>
            <a:ext cx="27756" cy="4073426"/>
          </a:xfrm>
          <a:prstGeom prst="roundRect">
            <a:avLst>
              <a:gd name="adj" fmla="val 225151"/>
            </a:avLst>
          </a:prstGeom>
          <a:solidFill>
            <a:srgbClr val="C3D4CC"/>
          </a:solidFill>
          <a:ln/>
        </p:spPr>
      </p:sp>
      <p:sp>
        <p:nvSpPr>
          <p:cNvPr id="6" name="Shape 4"/>
          <p:cNvSpPr/>
          <p:nvPr/>
        </p:nvSpPr>
        <p:spPr>
          <a:xfrm>
            <a:off x="3929770" y="2201119"/>
            <a:ext cx="485998" cy="37008"/>
          </a:xfrm>
          <a:prstGeom prst="roundRect">
            <a:avLst>
              <a:gd name="adj" fmla="val 225151"/>
            </a:avLst>
          </a:prstGeom>
          <a:solidFill>
            <a:srgbClr val="C3D4CC"/>
          </a:solidFill>
          <a:ln/>
        </p:spPr>
      </p:sp>
      <p:sp>
        <p:nvSpPr>
          <p:cNvPr id="7" name="Shape 5"/>
          <p:cNvSpPr/>
          <p:nvPr/>
        </p:nvSpPr>
        <p:spPr>
          <a:xfrm>
            <a:off x="4415768" y="2011363"/>
            <a:ext cx="312464" cy="416619"/>
          </a:xfrm>
          <a:prstGeom prst="roundRect">
            <a:avLst>
              <a:gd name="adj" fmla="val 20000"/>
            </a:avLst>
          </a:prstGeom>
          <a:solidFill>
            <a:srgbClr val="DDEEE6"/>
          </a:solidFill>
          <a:ln w="7620">
            <a:solidFill>
              <a:srgbClr val="C3D4CC"/>
            </a:solidFill>
            <a:prstDash val="solid"/>
          </a:ln>
        </p:spPr>
      </p:sp>
      <p:sp>
        <p:nvSpPr>
          <p:cNvPr id="8" name="Text 6"/>
          <p:cNvSpPr/>
          <p:nvPr/>
        </p:nvSpPr>
        <p:spPr>
          <a:xfrm>
            <a:off x="4531333" y="2046089"/>
            <a:ext cx="81260"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1</a:t>
            </a:r>
            <a:endParaRPr lang="en-US" dirty="0"/>
          </a:p>
        </p:txBody>
      </p:sp>
      <p:sp>
        <p:nvSpPr>
          <p:cNvPr id="9" name="Text 7"/>
          <p:cNvSpPr/>
          <p:nvPr/>
        </p:nvSpPr>
        <p:spPr>
          <a:xfrm>
            <a:off x="2072283" y="2051844"/>
            <a:ext cx="1735931" cy="289322"/>
          </a:xfrm>
          <a:prstGeom prst="rect">
            <a:avLst/>
          </a:prstGeom>
          <a:noFill/>
          <a:ln/>
        </p:spPr>
        <p:txBody>
          <a:bodyPr wrap="none" lIns="64008" tIns="32004" rIns="64008" bIns="32004" rtlCol="0" anchor="t"/>
          <a:lstStyle/>
          <a:p>
            <a:pPr algn="r">
              <a:lnSpc>
                <a:spcPts val="1914"/>
              </a:lnSpc>
            </a:pPr>
            <a:r>
              <a:rPr lang="en-US" sz="1500" b="1" dirty="0">
                <a:solidFill>
                  <a:srgbClr val="3B4E4E"/>
                </a:solidFill>
                <a:latin typeface="Syne" pitchFamily="34" charset="0"/>
                <a:ea typeface="Syne" pitchFamily="34" charset="-122"/>
                <a:cs typeface="Syne" pitchFamily="34" charset="-120"/>
              </a:rPr>
              <a:t>Data Collection</a:t>
            </a:r>
            <a:endParaRPr lang="en-US" sz="1500" dirty="0"/>
          </a:p>
        </p:txBody>
      </p:sp>
      <p:sp>
        <p:nvSpPr>
          <p:cNvPr id="10" name="Text 8"/>
          <p:cNvSpPr/>
          <p:nvPr/>
        </p:nvSpPr>
        <p:spPr>
          <a:xfrm>
            <a:off x="1273746" y="2452192"/>
            <a:ext cx="2534469" cy="592336"/>
          </a:xfrm>
          <a:prstGeom prst="rect">
            <a:avLst/>
          </a:prstGeom>
          <a:noFill/>
          <a:ln/>
        </p:spPr>
        <p:txBody>
          <a:bodyPr wrap="square" lIns="64008" tIns="32004" rIns="64008" bIns="32004" rtlCol="0" anchor="t"/>
          <a:lstStyle/>
          <a:p>
            <a:pPr algn="r">
              <a:lnSpc>
                <a:spcPts val="1959"/>
              </a:lnSpc>
            </a:pPr>
            <a:r>
              <a:rPr lang="en-US" sz="1200" dirty="0">
                <a:solidFill>
                  <a:srgbClr val="3B4E4E"/>
                </a:solidFill>
                <a:latin typeface="Overpass" pitchFamily="34" charset="0"/>
                <a:ea typeface="Overpass" pitchFamily="34" charset="-122"/>
                <a:cs typeface="Overpass" pitchFamily="34" charset="-120"/>
              </a:rPr>
              <a:t>Collect textual data like customer reviews, social media posts, etc.</a:t>
            </a:r>
            <a:endParaRPr lang="en-US" sz="1200" dirty="0"/>
          </a:p>
        </p:txBody>
      </p:sp>
      <p:sp>
        <p:nvSpPr>
          <p:cNvPr id="11" name="Shape 9"/>
          <p:cNvSpPr/>
          <p:nvPr/>
        </p:nvSpPr>
        <p:spPr>
          <a:xfrm>
            <a:off x="4728233" y="3126829"/>
            <a:ext cx="485998" cy="37008"/>
          </a:xfrm>
          <a:prstGeom prst="roundRect">
            <a:avLst>
              <a:gd name="adj" fmla="val 225151"/>
            </a:avLst>
          </a:prstGeom>
          <a:solidFill>
            <a:srgbClr val="C3D4CC"/>
          </a:solidFill>
          <a:ln/>
        </p:spPr>
      </p:sp>
      <p:sp>
        <p:nvSpPr>
          <p:cNvPr id="12" name="Shape 10"/>
          <p:cNvSpPr/>
          <p:nvPr/>
        </p:nvSpPr>
        <p:spPr>
          <a:xfrm>
            <a:off x="4415768" y="2937074"/>
            <a:ext cx="312464" cy="416619"/>
          </a:xfrm>
          <a:prstGeom prst="roundRect">
            <a:avLst>
              <a:gd name="adj" fmla="val 20000"/>
            </a:avLst>
          </a:prstGeom>
          <a:solidFill>
            <a:srgbClr val="DDEEE6"/>
          </a:solidFill>
          <a:ln w="7620">
            <a:solidFill>
              <a:srgbClr val="C3D4CC"/>
            </a:solidFill>
            <a:prstDash val="solid"/>
          </a:ln>
        </p:spPr>
      </p:sp>
      <p:sp>
        <p:nvSpPr>
          <p:cNvPr id="13" name="Text 11"/>
          <p:cNvSpPr/>
          <p:nvPr/>
        </p:nvSpPr>
        <p:spPr>
          <a:xfrm>
            <a:off x="4507000" y="2971800"/>
            <a:ext cx="130001"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2</a:t>
            </a:r>
            <a:endParaRPr lang="en-US" dirty="0"/>
          </a:p>
        </p:txBody>
      </p:sp>
      <p:sp>
        <p:nvSpPr>
          <p:cNvPr id="14" name="Text 12"/>
          <p:cNvSpPr/>
          <p:nvPr/>
        </p:nvSpPr>
        <p:spPr>
          <a:xfrm>
            <a:off x="5335786" y="2977555"/>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Pre-processing</a:t>
            </a:r>
            <a:endParaRPr lang="en-US" sz="1500" dirty="0"/>
          </a:p>
        </p:txBody>
      </p:sp>
      <p:sp>
        <p:nvSpPr>
          <p:cNvPr id="15" name="Text 13"/>
          <p:cNvSpPr/>
          <p:nvPr/>
        </p:nvSpPr>
        <p:spPr>
          <a:xfrm>
            <a:off x="5335786" y="3377903"/>
            <a:ext cx="2534469"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Clean and standardize data by removing irrelevant info, tokenizing, and stemming.</a:t>
            </a:r>
            <a:endParaRPr lang="en-US" sz="1200" dirty="0"/>
          </a:p>
        </p:txBody>
      </p:sp>
      <p:sp>
        <p:nvSpPr>
          <p:cNvPr id="16" name="Shape 14"/>
          <p:cNvSpPr/>
          <p:nvPr/>
        </p:nvSpPr>
        <p:spPr>
          <a:xfrm>
            <a:off x="3929770" y="3959969"/>
            <a:ext cx="485998" cy="37008"/>
          </a:xfrm>
          <a:prstGeom prst="roundRect">
            <a:avLst>
              <a:gd name="adj" fmla="val 225151"/>
            </a:avLst>
          </a:prstGeom>
          <a:solidFill>
            <a:srgbClr val="C3D4CC"/>
          </a:solidFill>
          <a:ln/>
        </p:spPr>
      </p:sp>
      <p:sp>
        <p:nvSpPr>
          <p:cNvPr id="17" name="Shape 15"/>
          <p:cNvSpPr/>
          <p:nvPr/>
        </p:nvSpPr>
        <p:spPr>
          <a:xfrm>
            <a:off x="4415768" y="3770214"/>
            <a:ext cx="312464" cy="416619"/>
          </a:xfrm>
          <a:prstGeom prst="roundRect">
            <a:avLst>
              <a:gd name="adj" fmla="val 20000"/>
            </a:avLst>
          </a:prstGeom>
          <a:solidFill>
            <a:srgbClr val="DDEEE6"/>
          </a:solidFill>
          <a:ln w="7620">
            <a:solidFill>
              <a:srgbClr val="C3D4CC"/>
            </a:solidFill>
            <a:prstDash val="solid"/>
          </a:ln>
        </p:spPr>
      </p:sp>
      <p:sp>
        <p:nvSpPr>
          <p:cNvPr id="18" name="Text 16"/>
          <p:cNvSpPr/>
          <p:nvPr/>
        </p:nvSpPr>
        <p:spPr>
          <a:xfrm>
            <a:off x="4505214" y="3804940"/>
            <a:ext cx="133573"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3</a:t>
            </a:r>
            <a:endParaRPr lang="en-US" dirty="0"/>
          </a:p>
        </p:txBody>
      </p:sp>
      <p:sp>
        <p:nvSpPr>
          <p:cNvPr id="19" name="Text 17"/>
          <p:cNvSpPr/>
          <p:nvPr/>
        </p:nvSpPr>
        <p:spPr>
          <a:xfrm>
            <a:off x="2072283" y="3810694"/>
            <a:ext cx="1735931" cy="289322"/>
          </a:xfrm>
          <a:prstGeom prst="rect">
            <a:avLst/>
          </a:prstGeom>
          <a:noFill/>
          <a:ln/>
        </p:spPr>
        <p:txBody>
          <a:bodyPr wrap="none" lIns="64008" tIns="32004" rIns="64008" bIns="32004" rtlCol="0" anchor="t"/>
          <a:lstStyle/>
          <a:p>
            <a:pPr algn="r">
              <a:lnSpc>
                <a:spcPts val="1914"/>
              </a:lnSpc>
            </a:pPr>
            <a:r>
              <a:rPr lang="en-US" sz="1500" b="1" dirty="0">
                <a:solidFill>
                  <a:srgbClr val="3B4E4E"/>
                </a:solidFill>
                <a:latin typeface="Syne" pitchFamily="34" charset="0"/>
                <a:ea typeface="Syne" pitchFamily="34" charset="-122"/>
                <a:cs typeface="Syne" pitchFamily="34" charset="-120"/>
              </a:rPr>
              <a:t>Analysis</a:t>
            </a:r>
            <a:endParaRPr lang="en-US" sz="1500" dirty="0"/>
          </a:p>
        </p:txBody>
      </p:sp>
      <p:sp>
        <p:nvSpPr>
          <p:cNvPr id="20" name="Text 18"/>
          <p:cNvSpPr/>
          <p:nvPr/>
        </p:nvSpPr>
        <p:spPr>
          <a:xfrm>
            <a:off x="1273746" y="4211043"/>
            <a:ext cx="2534469" cy="592336"/>
          </a:xfrm>
          <a:prstGeom prst="rect">
            <a:avLst/>
          </a:prstGeom>
          <a:noFill/>
          <a:ln/>
        </p:spPr>
        <p:txBody>
          <a:bodyPr wrap="square" lIns="64008" tIns="32004" rIns="64008" bIns="32004" rtlCol="0" anchor="t"/>
          <a:lstStyle/>
          <a:p>
            <a:pPr algn="r">
              <a:lnSpc>
                <a:spcPts val="1959"/>
              </a:lnSpc>
            </a:pPr>
            <a:r>
              <a:rPr lang="en-US" sz="1200" dirty="0">
                <a:solidFill>
                  <a:srgbClr val="3B4E4E"/>
                </a:solidFill>
                <a:latin typeface="Overpass" pitchFamily="34" charset="0"/>
                <a:ea typeface="Overpass" pitchFamily="34" charset="-122"/>
                <a:cs typeface="Overpass" pitchFamily="34" charset="-120"/>
              </a:rPr>
              <a:t>Convert text using techniques like bag-of-words, train models on labeled data.</a:t>
            </a:r>
            <a:endParaRPr lang="en-US" sz="1200" dirty="0"/>
          </a:p>
        </p:txBody>
      </p:sp>
      <p:sp>
        <p:nvSpPr>
          <p:cNvPr id="21" name="Shape 19"/>
          <p:cNvSpPr/>
          <p:nvPr/>
        </p:nvSpPr>
        <p:spPr>
          <a:xfrm>
            <a:off x="4728233" y="4793209"/>
            <a:ext cx="485998" cy="37008"/>
          </a:xfrm>
          <a:prstGeom prst="roundRect">
            <a:avLst>
              <a:gd name="adj" fmla="val 225151"/>
            </a:avLst>
          </a:prstGeom>
          <a:solidFill>
            <a:srgbClr val="C3D4CC"/>
          </a:solidFill>
          <a:ln/>
        </p:spPr>
      </p:sp>
      <p:sp>
        <p:nvSpPr>
          <p:cNvPr id="22" name="Shape 20"/>
          <p:cNvSpPr/>
          <p:nvPr/>
        </p:nvSpPr>
        <p:spPr>
          <a:xfrm>
            <a:off x="4415768" y="4603453"/>
            <a:ext cx="312464" cy="416619"/>
          </a:xfrm>
          <a:prstGeom prst="roundRect">
            <a:avLst>
              <a:gd name="adj" fmla="val 20000"/>
            </a:avLst>
          </a:prstGeom>
          <a:solidFill>
            <a:srgbClr val="DDEEE6"/>
          </a:solidFill>
          <a:ln w="7620">
            <a:solidFill>
              <a:srgbClr val="C3D4CC"/>
            </a:solidFill>
            <a:prstDash val="solid"/>
          </a:ln>
        </p:spPr>
      </p:sp>
      <p:sp>
        <p:nvSpPr>
          <p:cNvPr id="23" name="Text 21"/>
          <p:cNvSpPr/>
          <p:nvPr/>
        </p:nvSpPr>
        <p:spPr>
          <a:xfrm>
            <a:off x="4497921" y="4638179"/>
            <a:ext cx="148158" cy="347068"/>
          </a:xfrm>
          <a:prstGeom prst="rect">
            <a:avLst/>
          </a:prstGeom>
          <a:noFill/>
          <a:ln/>
        </p:spPr>
        <p:txBody>
          <a:bodyPr wrap="none" lIns="64008" tIns="32004" rIns="64008" bIns="32004" rtlCol="0" anchor="t"/>
          <a:lstStyle/>
          <a:p>
            <a:pPr algn="ctr">
              <a:lnSpc>
                <a:spcPts val="2297"/>
              </a:lnSpc>
            </a:pPr>
            <a:r>
              <a:rPr lang="en-US" b="1" dirty="0">
                <a:solidFill>
                  <a:srgbClr val="3B4E4E"/>
                </a:solidFill>
                <a:latin typeface="Syne" pitchFamily="34" charset="0"/>
                <a:ea typeface="Syne" pitchFamily="34" charset="-122"/>
                <a:cs typeface="Syne" pitchFamily="34" charset="-120"/>
              </a:rPr>
              <a:t>4</a:t>
            </a:r>
            <a:endParaRPr lang="en-US" dirty="0"/>
          </a:p>
        </p:txBody>
      </p:sp>
      <p:sp>
        <p:nvSpPr>
          <p:cNvPr id="24" name="Text 22"/>
          <p:cNvSpPr/>
          <p:nvPr/>
        </p:nvSpPr>
        <p:spPr>
          <a:xfrm>
            <a:off x="5335786" y="4643933"/>
            <a:ext cx="1735931" cy="289322"/>
          </a:xfrm>
          <a:prstGeom prst="rect">
            <a:avLst/>
          </a:prstGeom>
          <a:noFill/>
          <a:ln/>
        </p:spPr>
        <p:txBody>
          <a:bodyPr wrap="none" lIns="64008" tIns="32004" rIns="64008" bIns="32004" rtlCol="0" anchor="t"/>
          <a:lstStyle/>
          <a:p>
            <a:pPr>
              <a:lnSpc>
                <a:spcPts val="1914"/>
              </a:lnSpc>
            </a:pPr>
            <a:r>
              <a:rPr lang="en-US" sz="1500" b="1" dirty="0">
                <a:solidFill>
                  <a:srgbClr val="3B4E4E"/>
                </a:solidFill>
                <a:latin typeface="Syne" pitchFamily="34" charset="0"/>
                <a:ea typeface="Syne" pitchFamily="34" charset="-122"/>
                <a:cs typeface="Syne" pitchFamily="34" charset="-120"/>
              </a:rPr>
              <a:t>Prediction</a:t>
            </a:r>
            <a:endParaRPr lang="en-US" sz="1500" dirty="0"/>
          </a:p>
        </p:txBody>
      </p:sp>
      <p:sp>
        <p:nvSpPr>
          <p:cNvPr id="25" name="Text 23"/>
          <p:cNvSpPr/>
          <p:nvPr/>
        </p:nvSpPr>
        <p:spPr>
          <a:xfrm>
            <a:off x="5335786" y="5044282"/>
            <a:ext cx="2534469" cy="592336"/>
          </a:xfrm>
          <a:prstGeom prst="rect">
            <a:avLst/>
          </a:prstGeom>
          <a:noFill/>
          <a:ln/>
        </p:spPr>
        <p:txBody>
          <a:bodyPr wrap="square" lIns="64008" tIns="32004" rIns="64008" bIns="32004" rtlCol="0" anchor="t"/>
          <a:lstStyle/>
          <a:p>
            <a:pPr>
              <a:lnSpc>
                <a:spcPts val="1959"/>
              </a:lnSpc>
            </a:pPr>
            <a:r>
              <a:rPr lang="en-US" sz="1200" dirty="0">
                <a:solidFill>
                  <a:srgbClr val="3B4E4E"/>
                </a:solidFill>
                <a:latin typeface="Overpass" pitchFamily="34" charset="0"/>
                <a:ea typeface="Overpass" pitchFamily="34" charset="-122"/>
                <a:cs typeface="Overpass" pitchFamily="34" charset="-120"/>
              </a:rPr>
              <a:t>Model predicts sentiment (positive, negative, neutral) on new data.</a:t>
            </a:r>
            <a:endParaRPr lang="en-US" sz="1200" dirty="0"/>
          </a:p>
        </p:txBody>
      </p:sp>
    </p:spTree>
    <p:extLst>
      <p:ext uri="{BB962C8B-B14F-4D97-AF65-F5344CB8AC3E}">
        <p14:creationId xmlns:p14="http://schemas.microsoft.com/office/powerpoint/2010/main" val="16406349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1435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pic>
        <p:nvPicPr>
          <p:cNvPr id="4" name="Image 0" descr="preencoded.png"/>
          <p:cNvPicPr>
            <a:picLocks noChangeAspect="1"/>
          </p:cNvPicPr>
          <p:nvPr/>
        </p:nvPicPr>
        <p:blipFill>
          <a:blip r:embed="rId3"/>
          <a:stretch>
            <a:fillRect/>
          </a:stretch>
        </p:blipFill>
        <p:spPr>
          <a:xfrm>
            <a:off x="0" y="857250"/>
            <a:ext cx="9144000" cy="1572816"/>
          </a:xfrm>
          <a:prstGeom prst="rect">
            <a:avLst/>
          </a:prstGeom>
        </p:spPr>
      </p:pic>
      <p:sp>
        <p:nvSpPr>
          <p:cNvPr id="5" name="Text 2"/>
          <p:cNvSpPr/>
          <p:nvPr/>
        </p:nvSpPr>
        <p:spPr>
          <a:xfrm>
            <a:off x="1583606" y="2776017"/>
            <a:ext cx="3145631" cy="393129"/>
          </a:xfrm>
          <a:prstGeom prst="rect">
            <a:avLst/>
          </a:prstGeom>
          <a:noFill/>
          <a:ln/>
        </p:spPr>
        <p:txBody>
          <a:bodyPr wrap="none" rtlCol="0" anchor="t"/>
          <a:lstStyle/>
          <a:p>
            <a:pPr>
              <a:lnSpc>
                <a:spcPts val="3096"/>
              </a:lnSpc>
            </a:pPr>
            <a:r>
              <a:rPr lang="en-US" sz="2477" b="1" dirty="0">
                <a:solidFill>
                  <a:srgbClr val="233939"/>
                </a:solidFill>
                <a:latin typeface="Syne" pitchFamily="34" charset="0"/>
                <a:ea typeface="Syne" pitchFamily="34" charset="-122"/>
                <a:cs typeface="Syne" pitchFamily="34" charset="-120"/>
              </a:rPr>
              <a:t>Results</a:t>
            </a:r>
            <a:endParaRPr lang="en-US" sz="2477" dirty="0"/>
          </a:p>
        </p:txBody>
      </p:sp>
      <p:pic>
        <p:nvPicPr>
          <p:cNvPr id="6" name="Image 1" descr="preencoded.png"/>
          <p:cNvPicPr>
            <a:picLocks noChangeAspect="1"/>
          </p:cNvPicPr>
          <p:nvPr/>
        </p:nvPicPr>
        <p:blipFill>
          <a:blip r:embed="rId4"/>
          <a:stretch>
            <a:fillRect/>
          </a:stretch>
        </p:blipFill>
        <p:spPr>
          <a:xfrm>
            <a:off x="1583606" y="3357860"/>
            <a:ext cx="2988320" cy="503263"/>
          </a:xfrm>
          <a:prstGeom prst="rect">
            <a:avLst/>
          </a:prstGeom>
        </p:spPr>
      </p:pic>
      <p:sp>
        <p:nvSpPr>
          <p:cNvPr id="7" name="Text 3"/>
          <p:cNvSpPr/>
          <p:nvPr/>
        </p:nvSpPr>
        <p:spPr>
          <a:xfrm>
            <a:off x="1709366" y="4049837"/>
            <a:ext cx="1572816" cy="196602"/>
          </a:xfrm>
          <a:prstGeom prst="rect">
            <a:avLst/>
          </a:prstGeom>
          <a:noFill/>
          <a:ln/>
        </p:spPr>
        <p:txBody>
          <a:bodyPr wrap="none" rtlCol="0" anchor="t"/>
          <a:lstStyle/>
          <a:p>
            <a:pPr>
              <a:lnSpc>
                <a:spcPts val="1548"/>
              </a:lnSpc>
            </a:pPr>
            <a:r>
              <a:rPr lang="en-US" sz="1239" b="1" dirty="0">
                <a:solidFill>
                  <a:srgbClr val="3B4E4E"/>
                </a:solidFill>
                <a:latin typeface="Syne" pitchFamily="34" charset="0"/>
                <a:ea typeface="Syne" pitchFamily="34" charset="-122"/>
                <a:cs typeface="Syne" pitchFamily="34" charset="-120"/>
              </a:rPr>
              <a:t>Sentiment Score</a:t>
            </a:r>
            <a:endParaRPr lang="en-US" sz="1239" dirty="0"/>
          </a:p>
        </p:txBody>
      </p:sp>
      <p:sp>
        <p:nvSpPr>
          <p:cNvPr id="8" name="Text 4"/>
          <p:cNvSpPr/>
          <p:nvPr/>
        </p:nvSpPr>
        <p:spPr>
          <a:xfrm>
            <a:off x="1709366" y="4321894"/>
            <a:ext cx="2736801" cy="805160"/>
          </a:xfrm>
          <a:prstGeom prst="rect">
            <a:avLst/>
          </a:prstGeom>
          <a:noFill/>
          <a:ln/>
        </p:spPr>
        <p:txBody>
          <a:bodyPr wrap="square" rtlCol="0" anchor="t"/>
          <a:lstStyle/>
          <a:p>
            <a:pPr>
              <a:lnSpc>
                <a:spcPts val="1585"/>
              </a:lnSpc>
            </a:pPr>
            <a:r>
              <a:rPr lang="en-US" sz="991" dirty="0">
                <a:solidFill>
                  <a:srgbClr val="3B4E4E"/>
                </a:solidFill>
                <a:latin typeface="Overpass" pitchFamily="34" charset="0"/>
                <a:ea typeface="Overpass" pitchFamily="34" charset="-122"/>
                <a:cs typeface="Overpass" pitchFamily="34" charset="-120"/>
              </a:rPr>
              <a:t>The sentiment analysis of the additional comments provided by passengers yielded a sentiment score of 39.8 on a scale ranging from -100 to +100.</a:t>
            </a:r>
            <a:endParaRPr lang="en-US" sz="991" dirty="0"/>
          </a:p>
        </p:txBody>
      </p:sp>
      <p:pic>
        <p:nvPicPr>
          <p:cNvPr id="9" name="Image 2" descr="preencoded.png"/>
          <p:cNvPicPr>
            <a:picLocks noChangeAspect="1"/>
          </p:cNvPicPr>
          <p:nvPr/>
        </p:nvPicPr>
        <p:blipFill>
          <a:blip r:embed="rId5"/>
          <a:stretch>
            <a:fillRect/>
          </a:stretch>
        </p:blipFill>
        <p:spPr>
          <a:xfrm>
            <a:off x="4571926" y="3357860"/>
            <a:ext cx="2988394" cy="503263"/>
          </a:xfrm>
          <a:prstGeom prst="rect">
            <a:avLst/>
          </a:prstGeom>
        </p:spPr>
      </p:pic>
      <p:sp>
        <p:nvSpPr>
          <p:cNvPr id="10" name="Text 5"/>
          <p:cNvSpPr/>
          <p:nvPr/>
        </p:nvSpPr>
        <p:spPr>
          <a:xfrm>
            <a:off x="4697686" y="4049837"/>
            <a:ext cx="1572816" cy="196602"/>
          </a:xfrm>
          <a:prstGeom prst="rect">
            <a:avLst/>
          </a:prstGeom>
          <a:noFill/>
          <a:ln/>
        </p:spPr>
        <p:txBody>
          <a:bodyPr wrap="none" rtlCol="0" anchor="t"/>
          <a:lstStyle/>
          <a:p>
            <a:pPr>
              <a:lnSpc>
                <a:spcPts val="1548"/>
              </a:lnSpc>
            </a:pPr>
            <a:r>
              <a:rPr lang="en-US" sz="1239" b="1" dirty="0">
                <a:solidFill>
                  <a:srgbClr val="3B4E4E"/>
                </a:solidFill>
                <a:latin typeface="Syne" pitchFamily="34" charset="0"/>
                <a:ea typeface="Syne" pitchFamily="34" charset="-122"/>
                <a:cs typeface="Syne" pitchFamily="34" charset="-120"/>
              </a:rPr>
              <a:t>Interpretation</a:t>
            </a:r>
            <a:endParaRPr lang="en-US" sz="1239" dirty="0"/>
          </a:p>
        </p:txBody>
      </p:sp>
      <p:sp>
        <p:nvSpPr>
          <p:cNvPr id="11" name="Text 6"/>
          <p:cNvSpPr/>
          <p:nvPr/>
        </p:nvSpPr>
        <p:spPr>
          <a:xfrm>
            <a:off x="4697686" y="4321894"/>
            <a:ext cx="2736875" cy="1207740"/>
          </a:xfrm>
          <a:prstGeom prst="rect">
            <a:avLst/>
          </a:prstGeom>
          <a:noFill/>
          <a:ln/>
        </p:spPr>
        <p:txBody>
          <a:bodyPr wrap="square" rtlCol="0" anchor="t"/>
          <a:lstStyle/>
          <a:p>
            <a:pPr>
              <a:lnSpc>
                <a:spcPts val="1585"/>
              </a:lnSpc>
            </a:pPr>
            <a:r>
              <a:rPr lang="en-US" sz="991" dirty="0">
                <a:solidFill>
                  <a:srgbClr val="3B4E4E"/>
                </a:solidFill>
                <a:latin typeface="Overpass" pitchFamily="34" charset="0"/>
                <a:ea typeface="Overpass" pitchFamily="34" charset="-122"/>
                <a:cs typeface="Overpass" pitchFamily="34" charset="-120"/>
              </a:rPr>
              <a:t>A score of -100 indicates a very negative or serious tone, while a score of +100 indicates a very positive or enthusiastic tone. Therefore, a score of 39.8 suggests that the overall sentiment or tone of the comments is somewhat positive or enthusiastic.</a:t>
            </a:r>
            <a:endParaRPr lang="en-US" sz="99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143500"/>
          </a:xfrm>
          <a:prstGeom prst="rect">
            <a:avLst/>
          </a:prstGeom>
          <a:solidFill>
            <a:srgbClr val="F9F4BE"/>
          </a:solidFill>
          <a:ln/>
        </p:spPr>
      </p:sp>
      <p:sp>
        <p:nvSpPr>
          <p:cNvPr id="3" name="Shape 1"/>
          <p:cNvSpPr/>
          <p:nvPr/>
        </p:nvSpPr>
        <p:spPr>
          <a:xfrm>
            <a:off x="0" y="0"/>
            <a:ext cx="9144000" cy="6858000"/>
          </a:xfrm>
          <a:prstGeom prst="rect">
            <a:avLst/>
          </a:prstGeom>
          <a:solidFill>
            <a:srgbClr val="FFFDE6"/>
          </a:solidFill>
          <a:ln/>
        </p:spPr>
      </p:sp>
      <p:sp>
        <p:nvSpPr>
          <p:cNvPr id="4" name="Text 2"/>
          <p:cNvSpPr/>
          <p:nvPr/>
        </p:nvSpPr>
        <p:spPr>
          <a:xfrm>
            <a:off x="1273745" y="1828800"/>
            <a:ext cx="3471863" cy="433983"/>
          </a:xfrm>
          <a:prstGeom prst="rect">
            <a:avLst/>
          </a:prstGeom>
          <a:noFill/>
          <a:ln/>
        </p:spPr>
        <p:txBody>
          <a:bodyPr wrap="none" rtlCol="0" anchor="t"/>
          <a:lstStyle/>
          <a:p>
            <a:pPr>
              <a:lnSpc>
                <a:spcPts val="3417"/>
              </a:lnSpc>
            </a:pPr>
            <a:r>
              <a:rPr lang="en-US" sz="2734" b="1" dirty="0">
                <a:solidFill>
                  <a:srgbClr val="233939"/>
                </a:solidFill>
                <a:latin typeface="Syne" pitchFamily="34" charset="0"/>
                <a:ea typeface="Syne" pitchFamily="34" charset="-122"/>
                <a:cs typeface="Syne" pitchFamily="34" charset="-120"/>
              </a:rPr>
              <a:t>Conclusion</a:t>
            </a:r>
            <a:endParaRPr lang="en-US" sz="2734" dirty="0"/>
          </a:p>
        </p:txBody>
      </p:sp>
      <p:pic>
        <p:nvPicPr>
          <p:cNvPr id="5" name="Image 0" descr="preencoded.png"/>
          <p:cNvPicPr>
            <a:picLocks noChangeAspect="1"/>
          </p:cNvPicPr>
          <p:nvPr/>
        </p:nvPicPr>
        <p:blipFill>
          <a:blip r:embed="rId3"/>
          <a:stretch>
            <a:fillRect/>
          </a:stretch>
        </p:blipFill>
        <p:spPr>
          <a:xfrm>
            <a:off x="1273746" y="2540497"/>
            <a:ext cx="277713" cy="277713"/>
          </a:xfrm>
          <a:prstGeom prst="rect">
            <a:avLst/>
          </a:prstGeom>
        </p:spPr>
      </p:pic>
      <p:sp>
        <p:nvSpPr>
          <p:cNvPr id="6" name="Text 3"/>
          <p:cNvSpPr/>
          <p:nvPr/>
        </p:nvSpPr>
        <p:spPr>
          <a:xfrm>
            <a:off x="1273746" y="2957066"/>
            <a:ext cx="1867272" cy="216991"/>
          </a:xfrm>
          <a:prstGeom prst="rect">
            <a:avLst/>
          </a:prstGeom>
          <a:noFill/>
          <a:ln/>
        </p:spPr>
        <p:txBody>
          <a:bodyPr wrap="none" rtlCol="0" anchor="t"/>
          <a:lstStyle/>
          <a:p>
            <a:pPr>
              <a:lnSpc>
                <a:spcPts val="1709"/>
              </a:lnSpc>
            </a:pPr>
            <a:r>
              <a:rPr lang="en-US" sz="1367" b="1" dirty="0">
                <a:solidFill>
                  <a:srgbClr val="3B4E4E"/>
                </a:solidFill>
                <a:latin typeface="Syne" pitchFamily="34" charset="0"/>
                <a:ea typeface="Syne" pitchFamily="34" charset="-122"/>
                <a:cs typeface="Syne" pitchFamily="34" charset="-120"/>
              </a:rPr>
              <a:t>Positive Experience</a:t>
            </a:r>
            <a:endParaRPr lang="en-US" sz="1367" dirty="0"/>
          </a:p>
        </p:txBody>
      </p:sp>
      <p:sp>
        <p:nvSpPr>
          <p:cNvPr id="7" name="Text 4"/>
          <p:cNvSpPr/>
          <p:nvPr/>
        </p:nvSpPr>
        <p:spPr>
          <a:xfrm>
            <a:off x="1273746" y="3257327"/>
            <a:ext cx="2059930" cy="1554882"/>
          </a:xfrm>
          <a:prstGeom prst="rect">
            <a:avLst/>
          </a:prstGeom>
          <a:noFill/>
          <a:ln/>
        </p:spPr>
        <p:txBody>
          <a:bodyPr wrap="square" rtlCol="0" anchor="t"/>
          <a:lstStyle/>
          <a:p>
            <a:pPr>
              <a:lnSpc>
                <a:spcPts val="1749"/>
              </a:lnSpc>
            </a:pPr>
            <a:r>
              <a:rPr lang="en-US" sz="1094" dirty="0">
                <a:solidFill>
                  <a:srgbClr val="3B4E4E"/>
                </a:solidFill>
                <a:latin typeface="Overpass" pitchFamily="34" charset="0"/>
                <a:ea typeface="Overpass" pitchFamily="34" charset="-122"/>
                <a:cs typeface="Overpass" pitchFamily="34" charset="-120"/>
              </a:rPr>
              <a:t>The sentiment analysis results indicate that the overall experience of passengers travelling with Indian Airlines is positive, with a sentiment score of 39.8 on a scale of -100 to +100.</a:t>
            </a:r>
            <a:endParaRPr lang="en-US" sz="1094" dirty="0"/>
          </a:p>
        </p:txBody>
      </p:sp>
      <p:pic>
        <p:nvPicPr>
          <p:cNvPr id="8" name="Image 1" descr="preencoded.png"/>
          <p:cNvPicPr>
            <a:picLocks noChangeAspect="1"/>
          </p:cNvPicPr>
          <p:nvPr/>
        </p:nvPicPr>
        <p:blipFill>
          <a:blip r:embed="rId4"/>
          <a:stretch>
            <a:fillRect/>
          </a:stretch>
        </p:blipFill>
        <p:spPr>
          <a:xfrm>
            <a:off x="3541961" y="2540497"/>
            <a:ext cx="277713" cy="277713"/>
          </a:xfrm>
          <a:prstGeom prst="rect">
            <a:avLst/>
          </a:prstGeom>
        </p:spPr>
      </p:pic>
      <p:sp>
        <p:nvSpPr>
          <p:cNvPr id="9" name="Text 5"/>
          <p:cNvSpPr/>
          <p:nvPr/>
        </p:nvSpPr>
        <p:spPr>
          <a:xfrm>
            <a:off x="3541961" y="2957067"/>
            <a:ext cx="2060004" cy="433983"/>
          </a:xfrm>
          <a:prstGeom prst="rect">
            <a:avLst/>
          </a:prstGeom>
          <a:noFill/>
          <a:ln/>
        </p:spPr>
        <p:txBody>
          <a:bodyPr wrap="square" rtlCol="0" anchor="t"/>
          <a:lstStyle/>
          <a:p>
            <a:pPr>
              <a:lnSpc>
                <a:spcPts val="1709"/>
              </a:lnSpc>
            </a:pPr>
            <a:r>
              <a:rPr lang="en-US" sz="1367" b="1" dirty="0">
                <a:solidFill>
                  <a:srgbClr val="3B4E4E"/>
                </a:solidFill>
                <a:latin typeface="Syne" pitchFamily="34" charset="0"/>
                <a:ea typeface="Syne" pitchFamily="34" charset="-122"/>
                <a:cs typeface="Syne" pitchFamily="34" charset="-120"/>
              </a:rPr>
              <a:t>Continuous Improvement</a:t>
            </a:r>
            <a:endParaRPr lang="en-US" sz="1367" dirty="0"/>
          </a:p>
        </p:txBody>
      </p:sp>
      <p:sp>
        <p:nvSpPr>
          <p:cNvPr id="10" name="Text 6"/>
          <p:cNvSpPr/>
          <p:nvPr/>
        </p:nvSpPr>
        <p:spPr>
          <a:xfrm>
            <a:off x="3541961" y="3474318"/>
            <a:ext cx="2060004" cy="1554882"/>
          </a:xfrm>
          <a:prstGeom prst="rect">
            <a:avLst/>
          </a:prstGeom>
          <a:noFill/>
          <a:ln/>
        </p:spPr>
        <p:txBody>
          <a:bodyPr wrap="square" rtlCol="0" anchor="t"/>
          <a:lstStyle/>
          <a:p>
            <a:pPr>
              <a:lnSpc>
                <a:spcPts val="1749"/>
              </a:lnSpc>
            </a:pPr>
            <a:r>
              <a:rPr lang="en-US" sz="1094" dirty="0">
                <a:solidFill>
                  <a:srgbClr val="3B4E4E"/>
                </a:solidFill>
                <a:latin typeface="Overpass" pitchFamily="34" charset="0"/>
                <a:ea typeface="Overpass" pitchFamily="34" charset="-122"/>
                <a:cs typeface="Overpass" pitchFamily="34" charset="-120"/>
              </a:rPr>
              <a:t>However, the airline should continue to analyze and address specific feedback from passengers to further improve their services and maintain a high level of customer satisfaction.</a:t>
            </a:r>
            <a:endParaRPr lang="en-US" sz="1094" dirty="0"/>
          </a:p>
        </p:txBody>
      </p:sp>
      <p:pic>
        <p:nvPicPr>
          <p:cNvPr id="11" name="Image 2" descr="preencoded.png"/>
          <p:cNvPicPr>
            <a:picLocks noChangeAspect="1"/>
          </p:cNvPicPr>
          <p:nvPr/>
        </p:nvPicPr>
        <p:blipFill>
          <a:blip r:embed="rId5"/>
          <a:stretch>
            <a:fillRect/>
          </a:stretch>
        </p:blipFill>
        <p:spPr>
          <a:xfrm>
            <a:off x="5810250" y="2540497"/>
            <a:ext cx="277713" cy="277713"/>
          </a:xfrm>
          <a:prstGeom prst="rect">
            <a:avLst/>
          </a:prstGeom>
        </p:spPr>
      </p:pic>
      <p:sp>
        <p:nvSpPr>
          <p:cNvPr id="12" name="Text 7"/>
          <p:cNvSpPr/>
          <p:nvPr/>
        </p:nvSpPr>
        <p:spPr>
          <a:xfrm>
            <a:off x="5810251" y="2957067"/>
            <a:ext cx="2060004" cy="433983"/>
          </a:xfrm>
          <a:prstGeom prst="rect">
            <a:avLst/>
          </a:prstGeom>
          <a:noFill/>
          <a:ln/>
        </p:spPr>
        <p:txBody>
          <a:bodyPr wrap="square" rtlCol="0" anchor="t"/>
          <a:lstStyle/>
          <a:p>
            <a:pPr>
              <a:lnSpc>
                <a:spcPts val="1709"/>
              </a:lnSpc>
            </a:pPr>
            <a:r>
              <a:rPr lang="en-US" sz="1367" b="1" dirty="0">
                <a:solidFill>
                  <a:srgbClr val="3B4E4E"/>
                </a:solidFill>
                <a:latin typeface="Syne" pitchFamily="34" charset="0"/>
                <a:ea typeface="Syne" pitchFamily="34" charset="-122"/>
                <a:cs typeface="Syne" pitchFamily="34" charset="-120"/>
              </a:rPr>
              <a:t>Competitive Advantage</a:t>
            </a:r>
            <a:endParaRPr lang="en-US" sz="1367" dirty="0"/>
          </a:p>
        </p:txBody>
      </p:sp>
      <p:sp>
        <p:nvSpPr>
          <p:cNvPr id="13" name="Text 8"/>
          <p:cNvSpPr/>
          <p:nvPr/>
        </p:nvSpPr>
        <p:spPr>
          <a:xfrm>
            <a:off x="5810251" y="3474318"/>
            <a:ext cx="2060004" cy="1554882"/>
          </a:xfrm>
          <a:prstGeom prst="rect">
            <a:avLst/>
          </a:prstGeom>
          <a:noFill/>
          <a:ln/>
        </p:spPr>
        <p:txBody>
          <a:bodyPr wrap="square" rtlCol="0" anchor="t"/>
          <a:lstStyle/>
          <a:p>
            <a:pPr>
              <a:lnSpc>
                <a:spcPts val="1749"/>
              </a:lnSpc>
            </a:pPr>
            <a:r>
              <a:rPr lang="en-US" sz="1094" dirty="0">
                <a:solidFill>
                  <a:srgbClr val="3B4E4E"/>
                </a:solidFill>
                <a:latin typeface="Overpass" pitchFamily="34" charset="0"/>
                <a:ea typeface="Overpass" pitchFamily="34" charset="-122"/>
                <a:cs typeface="Overpass" pitchFamily="34" charset="-120"/>
              </a:rPr>
              <a:t>By consistently delivering a positive travel experience and addressing customer concerns, Indian Airlines can gain a competitive advantage in the airline industry and foster customer loyalty.</a:t>
            </a:r>
            <a:endParaRPr lang="en-US" sz="1094"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xmlns="" id="{C25E5A3F-F3A7-4153-8A78-0BD723AC5FAE}"/>
              </a:ext>
            </a:extLst>
          </p:cNvPr>
          <p:cNvSpPr/>
          <p:nvPr/>
        </p:nvSpPr>
        <p:spPr>
          <a:xfrm>
            <a:off x="-22696" y="0"/>
            <a:ext cx="9144000" cy="6858000"/>
          </a:xfrm>
          <a:prstGeom prst="rect">
            <a:avLst/>
          </a:prstGeom>
          <a:solidFill>
            <a:srgbClr val="FFFDE6"/>
          </a:solidFill>
          <a:ln/>
        </p:spPr>
        <p:txBody>
          <a:bodyPr/>
          <a:lstStyle/>
          <a:p>
            <a:endParaRPr lang="en-IN" dirty="0"/>
          </a:p>
        </p:txBody>
      </p:sp>
      <p:sp>
        <p:nvSpPr>
          <p:cNvPr id="2" name="Text 2">
            <a:extLst>
              <a:ext uri="{FF2B5EF4-FFF2-40B4-BE49-F238E27FC236}">
                <a16:creationId xmlns:a16="http://schemas.microsoft.com/office/drawing/2014/main" xmlns="" id="{C27D0589-68CA-421C-A4A8-9D0698889ABC}"/>
              </a:ext>
            </a:extLst>
          </p:cNvPr>
          <p:cNvSpPr/>
          <p:nvPr/>
        </p:nvSpPr>
        <p:spPr>
          <a:xfrm>
            <a:off x="611560" y="764704"/>
            <a:ext cx="4430613" cy="578644"/>
          </a:xfrm>
          <a:prstGeom prst="rect">
            <a:avLst/>
          </a:prstGeom>
          <a:noFill/>
          <a:ln/>
        </p:spPr>
        <p:txBody>
          <a:bodyPr wrap="none" lIns="64008" tIns="32004" rIns="64008" bIns="32004" rtlCol="0" anchor="t"/>
          <a:lstStyle/>
          <a:p>
            <a:pPr>
              <a:lnSpc>
                <a:spcPts val="3828"/>
              </a:lnSpc>
            </a:pPr>
            <a:endParaRPr lang="en-US" sz="3100" dirty="0"/>
          </a:p>
        </p:txBody>
      </p:sp>
      <p:graphicFrame>
        <p:nvGraphicFramePr>
          <p:cNvPr id="5" name="Diagram 4"/>
          <p:cNvGraphicFramePr/>
          <p:nvPr>
            <p:extLst>
              <p:ext uri="{D42A27DB-BD31-4B8C-83A1-F6EECF244321}">
                <p14:modId xmlns:p14="http://schemas.microsoft.com/office/powerpoint/2010/main" val="1073167596"/>
              </p:ext>
            </p:extLst>
          </p:nvPr>
        </p:nvGraphicFramePr>
        <p:xfrm>
          <a:off x="620068" y="404664"/>
          <a:ext cx="8150048" cy="5832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1115616" y="1054026"/>
            <a:ext cx="2880320"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246901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xmlns="" id="{C25E5A3F-F3A7-4153-8A78-0BD723AC5FAE}"/>
              </a:ext>
            </a:extLst>
          </p:cNvPr>
          <p:cNvSpPr/>
          <p:nvPr/>
        </p:nvSpPr>
        <p:spPr>
          <a:xfrm>
            <a:off x="0" y="0"/>
            <a:ext cx="9144000" cy="6858000"/>
          </a:xfrm>
          <a:prstGeom prst="rect">
            <a:avLst/>
          </a:prstGeom>
          <a:solidFill>
            <a:srgbClr val="FFFDE6"/>
          </a:solidFill>
          <a:ln/>
        </p:spPr>
        <p:txBody>
          <a:bodyPr/>
          <a:lstStyle/>
          <a:p>
            <a:endParaRPr lang="en-IN" dirty="0"/>
          </a:p>
        </p:txBody>
      </p:sp>
      <p:sp>
        <p:nvSpPr>
          <p:cNvPr id="2" name="Text 2">
            <a:extLst>
              <a:ext uri="{FF2B5EF4-FFF2-40B4-BE49-F238E27FC236}">
                <a16:creationId xmlns:a16="http://schemas.microsoft.com/office/drawing/2014/main" xmlns="" id="{C27D0589-68CA-421C-A4A8-9D0698889ABC}"/>
              </a:ext>
            </a:extLst>
          </p:cNvPr>
          <p:cNvSpPr/>
          <p:nvPr/>
        </p:nvSpPr>
        <p:spPr>
          <a:xfrm>
            <a:off x="611560" y="764704"/>
            <a:ext cx="4430613" cy="578644"/>
          </a:xfrm>
          <a:prstGeom prst="rect">
            <a:avLst/>
          </a:prstGeom>
          <a:noFill/>
          <a:ln/>
        </p:spPr>
        <p:txBody>
          <a:bodyPr wrap="none" lIns="64008" tIns="32004" rIns="64008" bIns="32004" rtlCol="0" anchor="t"/>
          <a:lstStyle/>
          <a:p>
            <a:pPr>
              <a:lnSpc>
                <a:spcPts val="3828"/>
              </a:lnSpc>
            </a:pPr>
            <a:r>
              <a:rPr lang="en-US" sz="3100" b="1" dirty="0">
                <a:solidFill>
                  <a:srgbClr val="233939"/>
                </a:solidFill>
                <a:latin typeface="Syne" pitchFamily="34" charset="0"/>
                <a:ea typeface="Syne" pitchFamily="34" charset="-122"/>
              </a:rPr>
              <a:t>Bibliography</a:t>
            </a:r>
            <a:endParaRPr lang="en-US" sz="3100" dirty="0"/>
          </a:p>
        </p:txBody>
      </p:sp>
      <p:sp>
        <p:nvSpPr>
          <p:cNvPr id="23" name="TextBox 22">
            <a:extLst>
              <a:ext uri="{FF2B5EF4-FFF2-40B4-BE49-F238E27FC236}">
                <a16:creationId xmlns:a16="http://schemas.microsoft.com/office/drawing/2014/main" xmlns="" id="{944D3404-1BFF-4ED3-B82C-F2E4E71541D8}"/>
              </a:ext>
            </a:extLst>
          </p:cNvPr>
          <p:cNvSpPr txBox="1"/>
          <p:nvPr/>
        </p:nvSpPr>
        <p:spPr>
          <a:xfrm flipH="1">
            <a:off x="526407" y="1484784"/>
            <a:ext cx="8091185" cy="5047536"/>
          </a:xfrm>
          <a:prstGeom prst="rect">
            <a:avLst/>
          </a:prstGeom>
          <a:noFill/>
        </p:spPr>
        <p:txBody>
          <a:bodyPr wrap="square" rtlCol="0">
            <a:spAutoFit/>
          </a:bodyPr>
          <a:lstStyle/>
          <a:p>
            <a:pPr marL="342900" indent="-342900">
              <a:buAutoNum type="arabicPeriod"/>
            </a:pPr>
            <a:r>
              <a:rPr lang="en-US" sz="1400" dirty="0">
                <a:latin typeface="Overpass"/>
                <a:ea typeface="Overpass"/>
              </a:rPr>
              <a:t>Sandeep </a:t>
            </a:r>
            <a:r>
              <a:rPr lang="en-US" sz="1400" dirty="0" err="1">
                <a:latin typeface="Overpass"/>
                <a:ea typeface="Overpass"/>
              </a:rPr>
              <a:t>Walia</a:t>
            </a:r>
            <a:r>
              <a:rPr lang="en-US" sz="1400" dirty="0">
                <a:latin typeface="Overpass"/>
                <a:ea typeface="Overpass"/>
              </a:rPr>
              <a:t>, </a:t>
            </a:r>
            <a:r>
              <a:rPr lang="en-US" sz="1400" dirty="0" err="1">
                <a:latin typeface="Overpass"/>
                <a:ea typeface="Overpass"/>
              </a:rPr>
              <a:t>Dharminder</a:t>
            </a:r>
            <a:r>
              <a:rPr lang="en-US" sz="1400" dirty="0">
                <a:latin typeface="Overpass"/>
                <a:ea typeface="Overpass"/>
              </a:rPr>
              <a:t> Sharma &amp; Amit Mathur (2021). The Impact of Service Quality on Passenger Satisfaction and Loyalty in the Indian Aviation Industry. </a:t>
            </a:r>
            <a:r>
              <a:rPr lang="en-US" sz="1400" i="1" dirty="0">
                <a:latin typeface="Overpass"/>
                <a:ea typeface="Overpass"/>
              </a:rPr>
              <a:t>International Journal of Hospitality &amp; Tourism Systems </a:t>
            </a:r>
          </a:p>
          <a:p>
            <a:endParaRPr lang="en-US" sz="1400" dirty="0">
              <a:latin typeface="Overpass"/>
              <a:ea typeface="Overpass"/>
            </a:endParaRPr>
          </a:p>
          <a:p>
            <a:r>
              <a:rPr lang="en-US" sz="1400" dirty="0">
                <a:latin typeface="Overpass"/>
                <a:ea typeface="Overpass"/>
              </a:rPr>
              <a:t>2. Waqas </a:t>
            </a:r>
            <a:r>
              <a:rPr lang="en-US" sz="1400" dirty="0" err="1">
                <a:latin typeface="Overpass"/>
                <a:ea typeface="Overpass"/>
              </a:rPr>
              <a:t>Niazi</a:t>
            </a:r>
            <a:r>
              <a:rPr lang="en-US" sz="1400" dirty="0">
                <a:latin typeface="Overpass"/>
                <a:ea typeface="Overpass"/>
              </a:rPr>
              <a:t>, Jamal A. Farooqui (2020). Quality of airline services in India: A customers’ perspective. </a:t>
            </a:r>
            <a:r>
              <a:rPr lang="en-US" sz="1400" i="1" dirty="0">
                <a:latin typeface="Overpass"/>
                <a:ea typeface="Overpass"/>
              </a:rPr>
              <a:t>PIMT Journal of Research, Volume-12, No.-2 </a:t>
            </a:r>
          </a:p>
          <a:p>
            <a:endParaRPr lang="en-US" sz="1400" dirty="0">
              <a:latin typeface="Overpass"/>
              <a:ea typeface="Overpass"/>
            </a:endParaRPr>
          </a:p>
          <a:p>
            <a:r>
              <a:rPr lang="en-US" sz="1400" b="1" dirty="0">
                <a:latin typeface="Overpass"/>
                <a:ea typeface="Overpass"/>
              </a:rPr>
              <a:t>3. </a:t>
            </a:r>
            <a:r>
              <a:rPr lang="en-US" sz="1400" dirty="0">
                <a:latin typeface="Overpass"/>
                <a:ea typeface="Overpass"/>
              </a:rPr>
              <a:t>Colin C.H. Law, </a:t>
            </a:r>
            <a:r>
              <a:rPr lang="en-US" sz="1400" dirty="0" err="1">
                <a:latin typeface="Overpass"/>
                <a:ea typeface="Overpass"/>
              </a:rPr>
              <a:t>Yahua</a:t>
            </a:r>
            <a:r>
              <a:rPr lang="en-US" sz="1400" dirty="0">
                <a:latin typeface="Overpass"/>
                <a:ea typeface="Overpass"/>
              </a:rPr>
              <a:t> Zhang &amp; Jeff </a:t>
            </a:r>
            <a:r>
              <a:rPr lang="en-US" sz="1400" dirty="0" err="1">
                <a:latin typeface="Overpass"/>
                <a:ea typeface="Overpass"/>
              </a:rPr>
              <a:t>Gow</a:t>
            </a:r>
            <a:r>
              <a:rPr lang="en-US" sz="1400" dirty="0">
                <a:latin typeface="Overpass"/>
                <a:ea typeface="Overpass"/>
              </a:rPr>
              <a:t> (2022). Airline service quality, customer satisfaction, and repurchase Intention: Laotian air passengers’ perspective. </a:t>
            </a:r>
            <a:r>
              <a:rPr lang="en-US" sz="1400" i="1" dirty="0">
                <a:latin typeface="Overpass"/>
                <a:ea typeface="Overpass"/>
              </a:rPr>
              <a:t>Case Studies on Transport Policy, Volume-10, Issue-2 </a:t>
            </a:r>
          </a:p>
          <a:p>
            <a:endParaRPr lang="en-US" sz="1400" i="1" dirty="0">
              <a:latin typeface="Overpass"/>
              <a:ea typeface="Overpass"/>
            </a:endParaRPr>
          </a:p>
          <a:p>
            <a:r>
              <a:rPr lang="en-US" sz="1400" dirty="0">
                <a:latin typeface="Overpass"/>
                <a:ea typeface="Overpass"/>
              </a:rPr>
              <a:t>4. </a:t>
            </a:r>
            <a:r>
              <a:rPr lang="en-US" sz="1400" dirty="0" err="1">
                <a:latin typeface="Overpass"/>
                <a:ea typeface="Overpass"/>
              </a:rPr>
              <a:t>Bhandare</a:t>
            </a:r>
            <a:r>
              <a:rPr lang="en-US" sz="1400" dirty="0">
                <a:latin typeface="Overpass"/>
                <a:ea typeface="Overpass"/>
              </a:rPr>
              <a:t>, Bharat C (2006). Air transport: A comparative study of Air India with other international airlines. Savitribai Phule Pune University.</a:t>
            </a:r>
          </a:p>
          <a:p>
            <a:endParaRPr lang="en-US" sz="1400" dirty="0">
              <a:latin typeface="Overpass"/>
              <a:ea typeface="Overpass"/>
            </a:endParaRPr>
          </a:p>
          <a:p>
            <a:r>
              <a:rPr lang="en-US" sz="1400" dirty="0">
                <a:latin typeface="Overpass"/>
                <a:ea typeface="Overpass"/>
              </a:rPr>
              <a:t>5. Bharti Seth (2023). Analysis Study of The Indian Airline Sector Using Data Envelopment Analysis. Indira Gandhi Delhi Technical University for Women</a:t>
            </a:r>
          </a:p>
          <a:p>
            <a:endParaRPr lang="en-US" sz="1400" dirty="0">
              <a:latin typeface="Overpass"/>
              <a:ea typeface="Overpass"/>
            </a:endParaRPr>
          </a:p>
          <a:p>
            <a:r>
              <a:rPr lang="en-US" sz="1400" dirty="0">
                <a:latin typeface="Overpass"/>
                <a:ea typeface="Overpass"/>
              </a:rPr>
              <a:t>6. Mayur </a:t>
            </a:r>
            <a:r>
              <a:rPr lang="en-US" sz="1400" dirty="0" err="1">
                <a:latin typeface="Overpass"/>
                <a:ea typeface="Overpass"/>
              </a:rPr>
              <a:t>Wankhade</a:t>
            </a:r>
            <a:r>
              <a:rPr lang="en-US" sz="1400" dirty="0">
                <a:latin typeface="Overpass"/>
                <a:ea typeface="Overpass"/>
              </a:rPr>
              <a:t>, </a:t>
            </a:r>
            <a:r>
              <a:rPr lang="en-US" sz="1400" dirty="0" err="1">
                <a:latin typeface="Overpass"/>
                <a:ea typeface="Overpass"/>
              </a:rPr>
              <a:t>Annavarapu</a:t>
            </a:r>
            <a:r>
              <a:rPr lang="en-US" sz="1400" dirty="0">
                <a:latin typeface="Overpass"/>
                <a:ea typeface="Overpass"/>
              </a:rPr>
              <a:t> Chandra </a:t>
            </a:r>
            <a:r>
              <a:rPr lang="en-US" sz="1400" dirty="0" err="1">
                <a:latin typeface="Overpass"/>
                <a:ea typeface="Overpass"/>
              </a:rPr>
              <a:t>Sekhara</a:t>
            </a:r>
            <a:r>
              <a:rPr lang="en-US" sz="1400" dirty="0">
                <a:latin typeface="Overpass"/>
                <a:ea typeface="Overpass"/>
              </a:rPr>
              <a:t> Rao &amp; Chaitanya Kulkarni (2022). A survey on sentiment analysis methods, applications, and challenges.</a:t>
            </a:r>
          </a:p>
          <a:p>
            <a:endParaRPr lang="en-US" sz="1400" dirty="0">
              <a:latin typeface="Overpass"/>
              <a:ea typeface="Overpass"/>
            </a:endParaRPr>
          </a:p>
          <a:p>
            <a:r>
              <a:rPr lang="en-US" sz="1400" dirty="0">
                <a:latin typeface="Overpass"/>
                <a:ea typeface="Overpass"/>
              </a:rPr>
              <a:t>7. </a:t>
            </a:r>
            <a:r>
              <a:rPr lang="en-US" sz="1400" dirty="0" err="1">
                <a:latin typeface="Overpass"/>
                <a:ea typeface="Overpass"/>
              </a:rPr>
              <a:t>Rangsan</a:t>
            </a:r>
            <a:r>
              <a:rPr lang="en-US" sz="1400" dirty="0">
                <a:latin typeface="Overpass"/>
                <a:ea typeface="Overpass"/>
              </a:rPr>
              <a:t> </a:t>
            </a:r>
            <a:r>
              <a:rPr lang="en-US" sz="1400" dirty="0" err="1">
                <a:latin typeface="Overpass"/>
                <a:ea typeface="Overpass"/>
              </a:rPr>
              <a:t>Nochai</a:t>
            </a:r>
            <a:r>
              <a:rPr lang="en-US" sz="1400" dirty="0">
                <a:latin typeface="Overpass"/>
                <a:ea typeface="Overpass"/>
              </a:rPr>
              <a:t> &amp; </a:t>
            </a:r>
            <a:r>
              <a:rPr lang="en-US" sz="1400" dirty="0" err="1">
                <a:latin typeface="Overpass"/>
                <a:ea typeface="Overpass"/>
              </a:rPr>
              <a:t>Titida</a:t>
            </a:r>
            <a:r>
              <a:rPr lang="en-US" sz="1400" dirty="0">
                <a:latin typeface="Overpass"/>
                <a:ea typeface="Overpass"/>
              </a:rPr>
              <a:t> </a:t>
            </a:r>
            <a:r>
              <a:rPr lang="en-US" sz="1400" dirty="0" err="1">
                <a:latin typeface="Overpass"/>
                <a:ea typeface="Overpass"/>
              </a:rPr>
              <a:t>Nochai</a:t>
            </a:r>
            <a:r>
              <a:rPr lang="en-US" sz="1400" dirty="0">
                <a:latin typeface="Overpass"/>
                <a:ea typeface="Overpass"/>
              </a:rPr>
              <a:t> (2018). Applying Logistic Regression Analysis to Determine the Service Quality Factors Affecting on Consumer Satisfaction Toward Domestic Low-Cost Airlines in Thailand. The International Academic Forum</a:t>
            </a:r>
            <a:endParaRPr lang="en-IN" sz="1400" dirty="0">
              <a:latin typeface="Overpass"/>
              <a:ea typeface="Overpass"/>
            </a:endParaRPr>
          </a:p>
        </p:txBody>
      </p:sp>
    </p:spTree>
    <p:extLst>
      <p:ext uri="{BB962C8B-B14F-4D97-AF65-F5344CB8AC3E}">
        <p14:creationId xmlns:p14="http://schemas.microsoft.com/office/powerpoint/2010/main" val="4206616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156</TotalTime>
  <Words>4714</Words>
  <Application>Microsoft Office PowerPoint</Application>
  <PresentationFormat>On-screen Show (4:3)</PresentationFormat>
  <Paragraphs>530</Paragraphs>
  <Slides>55</Slides>
  <Notes>51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Calibri</vt:lpstr>
      <vt:lpstr>Consolas</vt:lpstr>
      <vt:lpstr>Garamond</vt:lpstr>
      <vt:lpstr>Mangal</vt:lpstr>
      <vt:lpstr>Overpass</vt:lpstr>
      <vt:lpstr>Syne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puja</dc:creator>
  <cp:lastModifiedBy>CG-STATS-PC24</cp:lastModifiedBy>
  <cp:revision>53</cp:revision>
  <dcterms:created xsi:type="dcterms:W3CDTF">2024-04-12T19:09:51Z</dcterms:created>
  <dcterms:modified xsi:type="dcterms:W3CDTF">2024-04-13T04:20:46Z</dcterms:modified>
</cp:coreProperties>
</file>